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1370012" y="577453"/>
            <a:ext cx="7315201" cy="12513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5103812" y="1828800"/>
            <a:ext cx="3581401" cy="3314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6294578" y="4643111"/>
            <a:ext cx="258623" cy="248304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-1" y="0"/>
            <a:ext cx="164594" cy="5143500"/>
          </a:xfrm>
          <a:prstGeom prst="rect">
            <a:avLst/>
          </a:prstGeom>
          <a:solidFill>
            <a:srgbClr val="0066C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D1F3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" name="Text 2"/>
          <p:cNvSpPr txBox="1"/>
          <p:nvPr/>
        </p:nvSpPr>
        <p:spPr>
          <a:xfrm>
            <a:off x="320039" y="378767"/>
            <a:ext cx="3657603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F5A623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NTT DATA</a:t>
            </a:r>
          </a:p>
        </p:txBody>
      </p:sp>
      <p:sp>
        <p:nvSpPr>
          <p:cNvPr id="23" name="Text 3"/>
          <p:cNvSpPr txBox="1"/>
          <p:nvPr/>
        </p:nvSpPr>
        <p:spPr>
          <a:xfrm>
            <a:off x="320039" y="731519"/>
            <a:ext cx="6400803" cy="11324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4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GenAI AML Risk</a:t>
            </a:r>
          </a:p>
          <a:p>
            <a:pPr>
              <a:defRPr b="1" sz="4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Detection Platform</a:t>
            </a:r>
          </a:p>
        </p:txBody>
      </p:sp>
      <p:sp>
        <p:nvSpPr>
          <p:cNvPr id="24" name="Text 4"/>
          <p:cNvSpPr txBox="1"/>
          <p:nvPr/>
        </p:nvSpPr>
        <p:spPr>
          <a:xfrm>
            <a:off x="320039" y="2516046"/>
            <a:ext cx="6400803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100">
                <a:solidFill>
                  <a:srgbClr val="0099A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MCP Orchestration  ·  RAG Pipeline  ·  Multi-Agent System  ·  FastAPI REST Layer  ·  Lakehouse Architecture</a:t>
            </a:r>
          </a:p>
        </p:txBody>
      </p:sp>
      <p:sp>
        <p:nvSpPr>
          <p:cNvPr id="25" name="Shape 5"/>
          <p:cNvSpPr/>
          <p:nvPr/>
        </p:nvSpPr>
        <p:spPr>
          <a:xfrm>
            <a:off x="320040" y="2971800"/>
            <a:ext cx="1920240" cy="292610"/>
          </a:xfrm>
          <a:prstGeom prst="roundRect">
            <a:avLst>
              <a:gd name="adj" fmla="val 25000"/>
            </a:avLst>
          </a:prstGeom>
          <a:solidFill>
            <a:srgbClr val="1A3A6B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" name="Text 6"/>
          <p:cNvSpPr txBox="1"/>
          <p:nvPr/>
        </p:nvSpPr>
        <p:spPr>
          <a:xfrm>
            <a:off x="320040" y="3054604"/>
            <a:ext cx="19202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BFSI Domain</a:t>
            </a:r>
          </a:p>
        </p:txBody>
      </p:sp>
      <p:sp>
        <p:nvSpPr>
          <p:cNvPr id="27" name="Shape 7"/>
          <p:cNvSpPr/>
          <p:nvPr/>
        </p:nvSpPr>
        <p:spPr>
          <a:xfrm>
            <a:off x="2404872" y="2971800"/>
            <a:ext cx="1920240" cy="292610"/>
          </a:xfrm>
          <a:prstGeom prst="roundRect">
            <a:avLst>
              <a:gd name="adj" fmla="val 25000"/>
            </a:avLst>
          </a:prstGeom>
          <a:solidFill>
            <a:srgbClr val="1A3A6B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" name="Text 8"/>
          <p:cNvSpPr txBox="1"/>
          <p:nvPr/>
        </p:nvSpPr>
        <p:spPr>
          <a:xfrm>
            <a:off x="2404872" y="3054604"/>
            <a:ext cx="19202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Enterprise Architecture</a:t>
            </a:r>
          </a:p>
        </p:txBody>
      </p:sp>
      <p:sp>
        <p:nvSpPr>
          <p:cNvPr id="29" name="Shape 9"/>
          <p:cNvSpPr/>
          <p:nvPr/>
        </p:nvSpPr>
        <p:spPr>
          <a:xfrm>
            <a:off x="4489703" y="2971800"/>
            <a:ext cx="1920242" cy="292610"/>
          </a:xfrm>
          <a:prstGeom prst="roundRect">
            <a:avLst>
              <a:gd name="adj" fmla="val 25000"/>
            </a:avLst>
          </a:prstGeom>
          <a:solidFill>
            <a:srgbClr val="1A3A6B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" name="Text 10"/>
          <p:cNvSpPr txBox="1"/>
          <p:nvPr/>
        </p:nvSpPr>
        <p:spPr>
          <a:xfrm>
            <a:off x="4489703" y="3054604"/>
            <a:ext cx="19202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Databricks + Azure</a:t>
            </a:r>
          </a:p>
        </p:txBody>
      </p:sp>
      <p:sp>
        <p:nvSpPr>
          <p:cNvPr id="31" name="Shape 11"/>
          <p:cNvSpPr/>
          <p:nvPr/>
        </p:nvSpPr>
        <p:spPr>
          <a:xfrm>
            <a:off x="320040" y="3383279"/>
            <a:ext cx="1920240" cy="292610"/>
          </a:xfrm>
          <a:prstGeom prst="roundRect">
            <a:avLst>
              <a:gd name="adj" fmla="val 25000"/>
            </a:avLst>
          </a:prstGeom>
          <a:solidFill>
            <a:srgbClr val="1A3A6B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" name="Text 12"/>
          <p:cNvSpPr txBox="1"/>
          <p:nvPr/>
        </p:nvSpPr>
        <p:spPr>
          <a:xfrm>
            <a:off x="320040" y="3466083"/>
            <a:ext cx="19202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Production Ready</a:t>
            </a:r>
          </a:p>
        </p:txBody>
      </p:sp>
      <p:sp>
        <p:nvSpPr>
          <p:cNvPr id="33" name="Shape 13"/>
          <p:cNvSpPr/>
          <p:nvPr/>
        </p:nvSpPr>
        <p:spPr>
          <a:xfrm>
            <a:off x="2404872" y="3383279"/>
            <a:ext cx="1920240" cy="292610"/>
          </a:xfrm>
          <a:prstGeom prst="roundRect">
            <a:avLst>
              <a:gd name="adj" fmla="val 25000"/>
            </a:avLst>
          </a:prstGeom>
          <a:solidFill>
            <a:srgbClr val="1A3A6B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" name="Text 14"/>
          <p:cNvSpPr txBox="1"/>
          <p:nvPr/>
        </p:nvSpPr>
        <p:spPr>
          <a:xfrm>
            <a:off x="2404872" y="3466083"/>
            <a:ext cx="19202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LLMOps Enabled</a:t>
            </a:r>
          </a:p>
        </p:txBody>
      </p:sp>
      <p:sp>
        <p:nvSpPr>
          <p:cNvPr id="35" name="Shape 15"/>
          <p:cNvSpPr/>
          <p:nvPr/>
        </p:nvSpPr>
        <p:spPr>
          <a:xfrm>
            <a:off x="4489703" y="3383279"/>
            <a:ext cx="1920242" cy="292610"/>
          </a:xfrm>
          <a:prstGeom prst="roundRect">
            <a:avLst>
              <a:gd name="adj" fmla="val 25000"/>
            </a:avLst>
          </a:prstGeom>
          <a:solidFill>
            <a:srgbClr val="1A3A6B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" name="Text 16"/>
          <p:cNvSpPr txBox="1"/>
          <p:nvPr/>
        </p:nvSpPr>
        <p:spPr>
          <a:xfrm>
            <a:off x="4489703" y="3466083"/>
            <a:ext cx="19202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FastAPI + REST</a:t>
            </a:r>
          </a:p>
        </p:txBody>
      </p:sp>
      <p:sp>
        <p:nvSpPr>
          <p:cNvPr id="37" name="Text 17"/>
          <p:cNvSpPr txBox="1"/>
          <p:nvPr/>
        </p:nvSpPr>
        <p:spPr>
          <a:xfrm>
            <a:off x="320038" y="4123733"/>
            <a:ext cx="6217923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8899BB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End-to-end enterprise Anti-Money Laundering platform: Databricks Lakehouse · RAG policy retrieval · MCP multi-agent orchestration · FastAPI REST layer · LLMOps observability — designed for regulated BFSI environments.</a:t>
            </a:r>
          </a:p>
        </p:txBody>
      </p:sp>
      <p:sp>
        <p:nvSpPr>
          <p:cNvPr id="38" name="Text 18"/>
          <p:cNvSpPr txBox="1"/>
          <p:nvPr/>
        </p:nvSpPr>
        <p:spPr>
          <a:xfrm>
            <a:off x="320039" y="4828538"/>
            <a:ext cx="640080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8899BB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Technical Capability Workshop  |  Data &amp; AI Practice  ·  NTT DATA  ·  May 2026</a:t>
            </a:r>
          </a:p>
        </p:txBody>
      </p:sp>
      <p:sp>
        <p:nvSpPr>
          <p:cNvPr id="39" name="Text 19"/>
          <p:cNvSpPr txBox="1"/>
          <p:nvPr/>
        </p:nvSpPr>
        <p:spPr>
          <a:xfrm>
            <a:off x="6949440" y="4828538"/>
            <a:ext cx="201168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800">
                <a:solidFill>
                  <a:srgbClr val="8899BB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CONFIDENTIAL  |  NTT DATA SERVICES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0"/>
          <p:cNvSpPr/>
          <p:nvPr/>
        </p:nvSpPr>
        <p:spPr>
          <a:xfrm>
            <a:off x="0" y="-1"/>
            <a:ext cx="9144000" cy="658370"/>
          </a:xfrm>
          <a:prstGeom prst="rect">
            <a:avLst/>
          </a:prstGeom>
          <a:solidFill>
            <a:srgbClr val="0A1628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" name="Text 1"/>
          <p:cNvSpPr txBox="1"/>
          <p:nvPr/>
        </p:nvSpPr>
        <p:spPr>
          <a:xfrm>
            <a:off x="274319" y="204813"/>
            <a:ext cx="6217923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Agenda</a:t>
            </a:r>
          </a:p>
        </p:txBody>
      </p:sp>
      <p:sp>
        <p:nvSpPr>
          <p:cNvPr id="43" name="Text 2"/>
          <p:cNvSpPr txBox="1"/>
          <p:nvPr/>
        </p:nvSpPr>
        <p:spPr>
          <a:xfrm>
            <a:off x="6492240" y="260647"/>
            <a:ext cx="251460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F5A623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Workshop Structure &amp; Presentation Flow</a:t>
            </a:r>
          </a:p>
        </p:txBody>
      </p:sp>
      <p:sp>
        <p:nvSpPr>
          <p:cNvPr id="44" name="Shape 3"/>
          <p:cNvSpPr/>
          <p:nvPr/>
        </p:nvSpPr>
        <p:spPr>
          <a:xfrm>
            <a:off x="182880" y="786382"/>
            <a:ext cx="2834640" cy="96012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88900" dist="25400" dir="8100000">
              <a:srgbClr val="000000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" name="Shape 4"/>
          <p:cNvSpPr/>
          <p:nvPr/>
        </p:nvSpPr>
        <p:spPr>
          <a:xfrm>
            <a:off x="182879" y="786382"/>
            <a:ext cx="347474" cy="960123"/>
          </a:xfrm>
          <a:prstGeom prst="rect">
            <a:avLst/>
          </a:prstGeom>
          <a:solidFill>
            <a:srgbClr val="0066C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" name="Text 5"/>
          <p:cNvSpPr txBox="1"/>
          <p:nvPr/>
        </p:nvSpPr>
        <p:spPr>
          <a:xfrm>
            <a:off x="182879" y="1171764"/>
            <a:ext cx="347474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47" name="Text 6"/>
          <p:cNvSpPr txBox="1"/>
          <p:nvPr/>
        </p:nvSpPr>
        <p:spPr>
          <a:xfrm>
            <a:off x="594358" y="964735"/>
            <a:ext cx="2359156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0A162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Objective &amp; Problem Statement</a:t>
            </a:r>
          </a:p>
        </p:txBody>
      </p:sp>
      <p:sp>
        <p:nvSpPr>
          <p:cNvPr id="48" name="Text 7"/>
          <p:cNvSpPr txBox="1"/>
          <p:nvPr/>
        </p:nvSpPr>
        <p:spPr>
          <a:xfrm>
            <a:off x="594358" y="1399538"/>
            <a:ext cx="235915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Why AML matters in BFSI; workshop goals</a:t>
            </a:r>
          </a:p>
        </p:txBody>
      </p:sp>
      <p:sp>
        <p:nvSpPr>
          <p:cNvPr id="49" name="Shape 8"/>
          <p:cNvSpPr/>
          <p:nvPr/>
        </p:nvSpPr>
        <p:spPr>
          <a:xfrm>
            <a:off x="3172966" y="786382"/>
            <a:ext cx="2834643" cy="96012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88900" dist="25400" dir="8100000">
              <a:srgbClr val="000000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" name="Shape 9"/>
          <p:cNvSpPr/>
          <p:nvPr/>
        </p:nvSpPr>
        <p:spPr>
          <a:xfrm>
            <a:off x="3172966" y="786382"/>
            <a:ext cx="347474" cy="960123"/>
          </a:xfrm>
          <a:prstGeom prst="rect">
            <a:avLst/>
          </a:prstGeom>
          <a:solidFill>
            <a:srgbClr val="0066C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" name="Text 10"/>
          <p:cNvSpPr txBox="1"/>
          <p:nvPr/>
        </p:nvSpPr>
        <p:spPr>
          <a:xfrm>
            <a:off x="3172966" y="1171764"/>
            <a:ext cx="347474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52" name="Text 11"/>
          <p:cNvSpPr txBox="1"/>
          <p:nvPr/>
        </p:nvSpPr>
        <p:spPr>
          <a:xfrm>
            <a:off x="3584447" y="964735"/>
            <a:ext cx="2359154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0A162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High Level Design (HLD)</a:t>
            </a:r>
          </a:p>
        </p:txBody>
      </p:sp>
      <p:sp>
        <p:nvSpPr>
          <p:cNvPr id="53" name="Text 12"/>
          <p:cNvSpPr txBox="1"/>
          <p:nvPr/>
        </p:nvSpPr>
        <p:spPr>
          <a:xfrm>
            <a:off x="3584447" y="1399538"/>
            <a:ext cx="235915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System components, data flows, architectural decisions</a:t>
            </a:r>
          </a:p>
        </p:txBody>
      </p:sp>
      <p:sp>
        <p:nvSpPr>
          <p:cNvPr id="54" name="Shape 13"/>
          <p:cNvSpPr/>
          <p:nvPr/>
        </p:nvSpPr>
        <p:spPr>
          <a:xfrm>
            <a:off x="6163054" y="786382"/>
            <a:ext cx="2834642" cy="96012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88900" dist="25400" dir="8100000">
              <a:srgbClr val="000000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5" name="Shape 14"/>
          <p:cNvSpPr/>
          <p:nvPr/>
        </p:nvSpPr>
        <p:spPr>
          <a:xfrm>
            <a:off x="6163054" y="786382"/>
            <a:ext cx="347474" cy="960123"/>
          </a:xfrm>
          <a:prstGeom prst="rect">
            <a:avLst/>
          </a:prstGeom>
          <a:solidFill>
            <a:srgbClr val="0066C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6" name="Text 15"/>
          <p:cNvSpPr txBox="1"/>
          <p:nvPr/>
        </p:nvSpPr>
        <p:spPr>
          <a:xfrm>
            <a:off x="6163054" y="1171764"/>
            <a:ext cx="347474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57" name="Text 16"/>
          <p:cNvSpPr txBox="1"/>
          <p:nvPr/>
        </p:nvSpPr>
        <p:spPr>
          <a:xfrm>
            <a:off x="6574535" y="964735"/>
            <a:ext cx="2359155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0A162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LLD — Lakehouse Data Pipeline</a:t>
            </a:r>
          </a:p>
        </p:txBody>
      </p:sp>
      <p:sp>
        <p:nvSpPr>
          <p:cNvPr id="58" name="Text 17"/>
          <p:cNvSpPr txBox="1"/>
          <p:nvPr/>
        </p:nvSpPr>
        <p:spPr>
          <a:xfrm>
            <a:off x="6574535" y="1347251"/>
            <a:ext cx="2359155" cy="231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Bronze→Silver→Gold: local tools vs enterprise components</a:t>
            </a:r>
          </a:p>
        </p:txBody>
      </p:sp>
      <p:sp>
        <p:nvSpPr>
          <p:cNvPr id="59" name="Shape 18"/>
          <p:cNvSpPr/>
          <p:nvPr/>
        </p:nvSpPr>
        <p:spPr>
          <a:xfrm>
            <a:off x="182880" y="1837944"/>
            <a:ext cx="2834640" cy="96012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88900" dist="25400" dir="8100000">
              <a:srgbClr val="000000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0" name="Shape 19"/>
          <p:cNvSpPr/>
          <p:nvPr/>
        </p:nvSpPr>
        <p:spPr>
          <a:xfrm>
            <a:off x="182879" y="1837944"/>
            <a:ext cx="347474" cy="960121"/>
          </a:xfrm>
          <a:prstGeom prst="rect">
            <a:avLst/>
          </a:prstGeom>
          <a:solidFill>
            <a:srgbClr val="0066C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1" name="Text 20"/>
          <p:cNvSpPr txBox="1"/>
          <p:nvPr/>
        </p:nvSpPr>
        <p:spPr>
          <a:xfrm>
            <a:off x="182879" y="2223323"/>
            <a:ext cx="347474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62" name="Text 21"/>
          <p:cNvSpPr txBox="1"/>
          <p:nvPr/>
        </p:nvSpPr>
        <p:spPr>
          <a:xfrm>
            <a:off x="594358" y="2016295"/>
            <a:ext cx="2359156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0A162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LLD — RAG Pipeline</a:t>
            </a:r>
          </a:p>
        </p:txBody>
      </p:sp>
      <p:sp>
        <p:nvSpPr>
          <p:cNvPr id="63" name="Text 22"/>
          <p:cNvSpPr txBox="1"/>
          <p:nvPr/>
        </p:nvSpPr>
        <p:spPr>
          <a:xfrm>
            <a:off x="594358" y="2451099"/>
            <a:ext cx="235915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FAISS vs Databricks Vector Search; offline &amp; online flow</a:t>
            </a:r>
          </a:p>
        </p:txBody>
      </p:sp>
      <p:sp>
        <p:nvSpPr>
          <p:cNvPr id="64" name="Shape 23"/>
          <p:cNvSpPr/>
          <p:nvPr/>
        </p:nvSpPr>
        <p:spPr>
          <a:xfrm>
            <a:off x="3172966" y="1837944"/>
            <a:ext cx="2834643" cy="96012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88900" dist="25400" dir="8100000">
              <a:srgbClr val="000000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5" name="Shape 24"/>
          <p:cNvSpPr/>
          <p:nvPr/>
        </p:nvSpPr>
        <p:spPr>
          <a:xfrm>
            <a:off x="3172966" y="1837944"/>
            <a:ext cx="347474" cy="960121"/>
          </a:xfrm>
          <a:prstGeom prst="rect">
            <a:avLst/>
          </a:prstGeom>
          <a:solidFill>
            <a:srgbClr val="0066C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6" name="Text 25"/>
          <p:cNvSpPr txBox="1"/>
          <p:nvPr/>
        </p:nvSpPr>
        <p:spPr>
          <a:xfrm>
            <a:off x="3172966" y="2223323"/>
            <a:ext cx="347474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67" name="Text 26"/>
          <p:cNvSpPr txBox="1"/>
          <p:nvPr/>
        </p:nvSpPr>
        <p:spPr>
          <a:xfrm>
            <a:off x="3584447" y="2016295"/>
            <a:ext cx="2359154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0A162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LLD — Multi-Agent MCP</a:t>
            </a:r>
          </a:p>
        </p:txBody>
      </p:sp>
      <p:sp>
        <p:nvSpPr>
          <p:cNvPr id="68" name="Text 27"/>
          <p:cNvSpPr txBox="1"/>
          <p:nvPr/>
        </p:nvSpPr>
        <p:spPr>
          <a:xfrm>
            <a:off x="3584447" y="2451099"/>
            <a:ext cx="235915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Custom agents vs LangGraph; orchestration architecture</a:t>
            </a:r>
          </a:p>
        </p:txBody>
      </p:sp>
      <p:sp>
        <p:nvSpPr>
          <p:cNvPr id="69" name="Shape 28"/>
          <p:cNvSpPr/>
          <p:nvPr/>
        </p:nvSpPr>
        <p:spPr>
          <a:xfrm>
            <a:off x="6163054" y="1837944"/>
            <a:ext cx="2834642" cy="96012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88900" dist="25400" dir="8100000">
              <a:srgbClr val="000000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0" name="Shape 29"/>
          <p:cNvSpPr/>
          <p:nvPr/>
        </p:nvSpPr>
        <p:spPr>
          <a:xfrm>
            <a:off x="6163054" y="1837944"/>
            <a:ext cx="347474" cy="960121"/>
          </a:xfrm>
          <a:prstGeom prst="rect">
            <a:avLst/>
          </a:prstGeom>
          <a:solidFill>
            <a:srgbClr val="0066C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1" name="Text 30"/>
          <p:cNvSpPr txBox="1"/>
          <p:nvPr/>
        </p:nvSpPr>
        <p:spPr>
          <a:xfrm>
            <a:off x="6163054" y="2223323"/>
            <a:ext cx="347474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72" name="Text 31"/>
          <p:cNvSpPr txBox="1"/>
          <p:nvPr/>
        </p:nvSpPr>
        <p:spPr>
          <a:xfrm>
            <a:off x="6574535" y="2016295"/>
            <a:ext cx="2359155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0A162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Local vs Enterprise Architecture</a:t>
            </a:r>
          </a:p>
        </p:txBody>
      </p:sp>
      <p:sp>
        <p:nvSpPr>
          <p:cNvPr id="73" name="Text 32"/>
          <p:cNvSpPr txBox="1"/>
          <p:nvPr/>
        </p:nvSpPr>
        <p:spPr>
          <a:xfrm>
            <a:off x="6574535" y="2398810"/>
            <a:ext cx="2359155" cy="231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Full module-by-module comparison with Databricks components</a:t>
            </a:r>
          </a:p>
        </p:txBody>
      </p:sp>
      <p:sp>
        <p:nvSpPr>
          <p:cNvPr id="74" name="Shape 33"/>
          <p:cNvSpPr/>
          <p:nvPr/>
        </p:nvSpPr>
        <p:spPr>
          <a:xfrm>
            <a:off x="182880" y="2889504"/>
            <a:ext cx="2834640" cy="96012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88900" dist="25400" dir="8100000">
              <a:srgbClr val="000000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5" name="Shape 34"/>
          <p:cNvSpPr/>
          <p:nvPr/>
        </p:nvSpPr>
        <p:spPr>
          <a:xfrm>
            <a:off x="182879" y="2889504"/>
            <a:ext cx="347474" cy="960122"/>
          </a:xfrm>
          <a:prstGeom prst="rect">
            <a:avLst/>
          </a:prstGeom>
          <a:solidFill>
            <a:srgbClr val="0066C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6" name="Text 35"/>
          <p:cNvSpPr txBox="1"/>
          <p:nvPr/>
        </p:nvSpPr>
        <p:spPr>
          <a:xfrm>
            <a:off x="182879" y="3274883"/>
            <a:ext cx="347474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07</a:t>
            </a:r>
          </a:p>
        </p:txBody>
      </p:sp>
      <p:sp>
        <p:nvSpPr>
          <p:cNvPr id="77" name="Text 36"/>
          <p:cNvSpPr txBox="1"/>
          <p:nvPr/>
        </p:nvSpPr>
        <p:spPr>
          <a:xfrm>
            <a:off x="594358" y="3067855"/>
            <a:ext cx="2359156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0A162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FastAPI REST Layer</a:t>
            </a:r>
          </a:p>
        </p:txBody>
      </p:sp>
      <p:sp>
        <p:nvSpPr>
          <p:cNvPr id="78" name="Text 37"/>
          <p:cNvSpPr txBox="1"/>
          <p:nvPr/>
        </p:nvSpPr>
        <p:spPr>
          <a:xfrm>
            <a:off x="594358" y="3502659"/>
            <a:ext cx="235915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API endpoints, routes, JSON response schema</a:t>
            </a:r>
          </a:p>
        </p:txBody>
      </p:sp>
      <p:sp>
        <p:nvSpPr>
          <p:cNvPr id="79" name="Shape 38"/>
          <p:cNvSpPr/>
          <p:nvPr/>
        </p:nvSpPr>
        <p:spPr>
          <a:xfrm>
            <a:off x="3172966" y="2889504"/>
            <a:ext cx="2834643" cy="96012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88900" dist="25400" dir="8100000">
              <a:srgbClr val="000000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0" name="Shape 39"/>
          <p:cNvSpPr/>
          <p:nvPr/>
        </p:nvSpPr>
        <p:spPr>
          <a:xfrm>
            <a:off x="3172966" y="2889504"/>
            <a:ext cx="347474" cy="960122"/>
          </a:xfrm>
          <a:prstGeom prst="rect">
            <a:avLst/>
          </a:prstGeom>
          <a:solidFill>
            <a:srgbClr val="0066C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1" name="Text 40"/>
          <p:cNvSpPr txBox="1"/>
          <p:nvPr/>
        </p:nvSpPr>
        <p:spPr>
          <a:xfrm>
            <a:off x="3172966" y="3274883"/>
            <a:ext cx="347474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08</a:t>
            </a:r>
          </a:p>
        </p:txBody>
      </p:sp>
      <p:sp>
        <p:nvSpPr>
          <p:cNvPr id="82" name="Text 41"/>
          <p:cNvSpPr txBox="1"/>
          <p:nvPr/>
        </p:nvSpPr>
        <p:spPr>
          <a:xfrm>
            <a:off x="3584447" y="3067855"/>
            <a:ext cx="2359154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0A162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Input / Output Walkthrough</a:t>
            </a:r>
          </a:p>
        </p:txBody>
      </p:sp>
      <p:sp>
        <p:nvSpPr>
          <p:cNvPr id="83" name="Text 42"/>
          <p:cNvSpPr txBox="1"/>
          <p:nvPr/>
        </p:nvSpPr>
        <p:spPr>
          <a:xfrm>
            <a:off x="3584447" y="3450371"/>
            <a:ext cx="2359154" cy="231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Live transaction inputs &amp; system outputs with actual results</a:t>
            </a:r>
          </a:p>
        </p:txBody>
      </p:sp>
      <p:sp>
        <p:nvSpPr>
          <p:cNvPr id="84" name="Shape 43"/>
          <p:cNvSpPr/>
          <p:nvPr/>
        </p:nvSpPr>
        <p:spPr>
          <a:xfrm>
            <a:off x="6163054" y="2889504"/>
            <a:ext cx="2834642" cy="96012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88900" dist="25400" dir="8100000">
              <a:srgbClr val="000000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5" name="Shape 44"/>
          <p:cNvSpPr/>
          <p:nvPr/>
        </p:nvSpPr>
        <p:spPr>
          <a:xfrm>
            <a:off x="6163054" y="2889504"/>
            <a:ext cx="347474" cy="960122"/>
          </a:xfrm>
          <a:prstGeom prst="rect">
            <a:avLst/>
          </a:prstGeom>
          <a:solidFill>
            <a:srgbClr val="0066C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6" name="Text 45"/>
          <p:cNvSpPr txBox="1"/>
          <p:nvPr/>
        </p:nvSpPr>
        <p:spPr>
          <a:xfrm>
            <a:off x="6163054" y="3274883"/>
            <a:ext cx="347474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09</a:t>
            </a:r>
          </a:p>
        </p:txBody>
      </p:sp>
      <p:sp>
        <p:nvSpPr>
          <p:cNvPr id="87" name="Text 46"/>
          <p:cNvSpPr txBox="1"/>
          <p:nvPr/>
        </p:nvSpPr>
        <p:spPr>
          <a:xfrm>
            <a:off x="6574535" y="3067855"/>
            <a:ext cx="2359155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0A162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Security &amp; Governance</a:t>
            </a:r>
          </a:p>
        </p:txBody>
      </p:sp>
      <p:sp>
        <p:nvSpPr>
          <p:cNvPr id="88" name="Text 47"/>
          <p:cNvSpPr txBox="1"/>
          <p:nvPr/>
        </p:nvSpPr>
        <p:spPr>
          <a:xfrm>
            <a:off x="6574535" y="3502659"/>
            <a:ext cx="235915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RBAC, prompt injection defense, audit trail, data masking</a:t>
            </a:r>
          </a:p>
        </p:txBody>
      </p:sp>
      <p:sp>
        <p:nvSpPr>
          <p:cNvPr id="89" name="Shape 48"/>
          <p:cNvSpPr/>
          <p:nvPr/>
        </p:nvSpPr>
        <p:spPr>
          <a:xfrm>
            <a:off x="182880" y="3941064"/>
            <a:ext cx="2834640" cy="96012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88900" dist="25400" dir="8100000">
              <a:srgbClr val="000000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0" name="Shape 49"/>
          <p:cNvSpPr/>
          <p:nvPr/>
        </p:nvSpPr>
        <p:spPr>
          <a:xfrm>
            <a:off x="182879" y="3941064"/>
            <a:ext cx="347474" cy="960122"/>
          </a:xfrm>
          <a:prstGeom prst="rect">
            <a:avLst/>
          </a:prstGeom>
          <a:solidFill>
            <a:srgbClr val="0066C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1" name="Text 50"/>
          <p:cNvSpPr txBox="1"/>
          <p:nvPr/>
        </p:nvSpPr>
        <p:spPr>
          <a:xfrm>
            <a:off x="182879" y="4326444"/>
            <a:ext cx="347474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92" name="Text 51"/>
          <p:cNvSpPr txBox="1"/>
          <p:nvPr/>
        </p:nvSpPr>
        <p:spPr>
          <a:xfrm>
            <a:off x="594358" y="4119415"/>
            <a:ext cx="2359156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0A162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LLMOps &amp; Observability</a:t>
            </a:r>
          </a:p>
        </p:txBody>
      </p:sp>
      <p:sp>
        <p:nvSpPr>
          <p:cNvPr id="93" name="Text 52"/>
          <p:cNvSpPr txBox="1"/>
          <p:nvPr/>
        </p:nvSpPr>
        <p:spPr>
          <a:xfrm>
            <a:off x="594358" y="4554220"/>
            <a:ext cx="235915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Latency tracking, quality metrics, CI/CD</a:t>
            </a:r>
          </a:p>
        </p:txBody>
      </p:sp>
      <p:sp>
        <p:nvSpPr>
          <p:cNvPr id="94" name="Shape 53"/>
          <p:cNvSpPr/>
          <p:nvPr/>
        </p:nvSpPr>
        <p:spPr>
          <a:xfrm>
            <a:off x="3172966" y="3941064"/>
            <a:ext cx="2834643" cy="96012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88900" dist="25400" dir="8100000">
              <a:srgbClr val="000000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5" name="Shape 54"/>
          <p:cNvSpPr/>
          <p:nvPr/>
        </p:nvSpPr>
        <p:spPr>
          <a:xfrm>
            <a:off x="3172966" y="3941064"/>
            <a:ext cx="347474" cy="960122"/>
          </a:xfrm>
          <a:prstGeom prst="rect">
            <a:avLst/>
          </a:prstGeom>
          <a:solidFill>
            <a:srgbClr val="0066C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6" name="Text 55"/>
          <p:cNvSpPr txBox="1"/>
          <p:nvPr/>
        </p:nvSpPr>
        <p:spPr>
          <a:xfrm>
            <a:off x="3172966" y="4326444"/>
            <a:ext cx="347474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97" name="Text 56"/>
          <p:cNvSpPr txBox="1"/>
          <p:nvPr/>
        </p:nvSpPr>
        <p:spPr>
          <a:xfrm>
            <a:off x="3584447" y="4119415"/>
            <a:ext cx="2359154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0A162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Workshop Tracks Overview</a:t>
            </a:r>
          </a:p>
        </p:txBody>
      </p:sp>
      <p:sp>
        <p:nvSpPr>
          <p:cNvPr id="98" name="Text 57"/>
          <p:cNvSpPr txBox="1"/>
          <p:nvPr/>
        </p:nvSpPr>
        <p:spPr>
          <a:xfrm>
            <a:off x="3584447" y="4554220"/>
            <a:ext cx="235915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7 technical tracks, roadmap &amp; architecture decisions</a:t>
            </a:r>
          </a:p>
        </p:txBody>
      </p:sp>
      <p:sp>
        <p:nvSpPr>
          <p:cNvPr id="99" name="Shape 58"/>
          <p:cNvSpPr/>
          <p:nvPr/>
        </p:nvSpPr>
        <p:spPr>
          <a:xfrm>
            <a:off x="6163054" y="3941064"/>
            <a:ext cx="2834642" cy="96012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88900" dist="25400" dir="8100000">
              <a:srgbClr val="000000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0" name="Shape 59"/>
          <p:cNvSpPr/>
          <p:nvPr/>
        </p:nvSpPr>
        <p:spPr>
          <a:xfrm>
            <a:off x="6163054" y="3941064"/>
            <a:ext cx="347474" cy="960122"/>
          </a:xfrm>
          <a:prstGeom prst="rect">
            <a:avLst/>
          </a:prstGeom>
          <a:solidFill>
            <a:srgbClr val="0066C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1" name="Text 60"/>
          <p:cNvSpPr txBox="1"/>
          <p:nvPr/>
        </p:nvSpPr>
        <p:spPr>
          <a:xfrm>
            <a:off x="6163054" y="4326444"/>
            <a:ext cx="347474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102" name="Text 61"/>
          <p:cNvSpPr txBox="1"/>
          <p:nvPr/>
        </p:nvSpPr>
        <p:spPr>
          <a:xfrm>
            <a:off x="6574535" y="4119415"/>
            <a:ext cx="2359155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0A162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RCA &amp; Troubleshooting</a:t>
            </a:r>
          </a:p>
        </p:txBody>
      </p:sp>
      <p:sp>
        <p:nvSpPr>
          <p:cNvPr id="103" name="Text 62"/>
          <p:cNvSpPr txBox="1"/>
          <p:nvPr/>
        </p:nvSpPr>
        <p:spPr>
          <a:xfrm>
            <a:off x="6574535" y="4554220"/>
            <a:ext cx="235915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Root cause analysis framework with documented cases</a:t>
            </a:r>
          </a:p>
        </p:txBody>
      </p:sp>
      <p:sp>
        <p:nvSpPr>
          <p:cNvPr id="104" name="Text 63"/>
          <p:cNvSpPr txBox="1"/>
          <p:nvPr/>
        </p:nvSpPr>
        <p:spPr>
          <a:xfrm>
            <a:off x="0" y="4999988"/>
            <a:ext cx="91440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8899BB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CONFIDENTIAL  |  NTT DATA  |  GenAI AML Risk Workshop 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0"/>
          <p:cNvSpPr/>
          <p:nvPr/>
        </p:nvSpPr>
        <p:spPr>
          <a:xfrm>
            <a:off x="0" y="-1"/>
            <a:ext cx="9144000" cy="658370"/>
          </a:xfrm>
          <a:prstGeom prst="rect">
            <a:avLst/>
          </a:prstGeom>
          <a:solidFill>
            <a:srgbClr val="0A1628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7" name="Text 1"/>
          <p:cNvSpPr txBox="1"/>
          <p:nvPr/>
        </p:nvSpPr>
        <p:spPr>
          <a:xfrm>
            <a:off x="274319" y="204813"/>
            <a:ext cx="6217923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Objective &amp; Problem Statement</a:t>
            </a:r>
          </a:p>
        </p:txBody>
      </p:sp>
      <p:sp>
        <p:nvSpPr>
          <p:cNvPr id="108" name="Text 2"/>
          <p:cNvSpPr txBox="1"/>
          <p:nvPr/>
        </p:nvSpPr>
        <p:spPr>
          <a:xfrm>
            <a:off x="6492240" y="260647"/>
            <a:ext cx="251460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F5A623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Enterprise AML in BFSI — The Challenge</a:t>
            </a:r>
          </a:p>
        </p:txBody>
      </p:sp>
      <p:sp>
        <p:nvSpPr>
          <p:cNvPr id="109" name="Shape 3"/>
          <p:cNvSpPr/>
          <p:nvPr/>
        </p:nvSpPr>
        <p:spPr>
          <a:xfrm>
            <a:off x="228600" y="777240"/>
            <a:ext cx="4114800" cy="365762"/>
          </a:xfrm>
          <a:prstGeom prst="rect">
            <a:avLst/>
          </a:prstGeom>
          <a:solidFill>
            <a:srgbClr val="CC3333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0" name="Text 4"/>
          <p:cNvSpPr txBox="1"/>
          <p:nvPr/>
        </p:nvSpPr>
        <p:spPr>
          <a:xfrm>
            <a:off x="228600" y="881686"/>
            <a:ext cx="411480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THE PROBLEM</a:t>
            </a:r>
          </a:p>
        </p:txBody>
      </p:sp>
      <p:sp>
        <p:nvSpPr>
          <p:cNvPr id="111" name="Shape 5"/>
          <p:cNvSpPr/>
          <p:nvPr/>
        </p:nvSpPr>
        <p:spPr>
          <a:xfrm>
            <a:off x="228600" y="1207008"/>
            <a:ext cx="4114800" cy="42062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88900" dist="25400" dir="8100000">
              <a:srgbClr val="000000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2" name="Text 6"/>
          <p:cNvSpPr txBox="1"/>
          <p:nvPr/>
        </p:nvSpPr>
        <p:spPr>
          <a:xfrm>
            <a:off x="292606" y="1348784"/>
            <a:ext cx="3977644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✗  Financial institutions process millions of transactions daily</a:t>
            </a:r>
          </a:p>
        </p:txBody>
      </p:sp>
      <p:sp>
        <p:nvSpPr>
          <p:cNvPr id="113" name="Shape 7"/>
          <p:cNvSpPr/>
          <p:nvPr/>
        </p:nvSpPr>
        <p:spPr>
          <a:xfrm>
            <a:off x="228600" y="1682494"/>
            <a:ext cx="4114800" cy="420626"/>
          </a:xfrm>
          <a:prstGeom prst="rect">
            <a:avLst/>
          </a:prstGeom>
          <a:solidFill>
            <a:srgbClr val="F8EAEA"/>
          </a:solidFill>
          <a:ln w="12700">
            <a:miter lim="400000"/>
          </a:ln>
          <a:effectLst>
            <a:outerShdw sx="100000" sy="100000" kx="0" ky="0" algn="b" rotWithShape="0" blurRad="88900" dist="25400" dir="8100000">
              <a:srgbClr val="000000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4" name="Text 8"/>
          <p:cNvSpPr txBox="1"/>
          <p:nvPr/>
        </p:nvSpPr>
        <p:spPr>
          <a:xfrm>
            <a:off x="292606" y="1824271"/>
            <a:ext cx="3977644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✗  Manual AML review is slow, inconsistent, and error-prone</a:t>
            </a:r>
          </a:p>
        </p:txBody>
      </p:sp>
      <p:sp>
        <p:nvSpPr>
          <p:cNvPr id="115" name="Shape 9"/>
          <p:cNvSpPr/>
          <p:nvPr/>
        </p:nvSpPr>
        <p:spPr>
          <a:xfrm>
            <a:off x="228600" y="2157983"/>
            <a:ext cx="4114800" cy="42062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88900" dist="25400" dir="8100000">
              <a:srgbClr val="000000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6" name="Text 10"/>
          <p:cNvSpPr txBox="1"/>
          <p:nvPr/>
        </p:nvSpPr>
        <p:spPr>
          <a:xfrm>
            <a:off x="292606" y="2299760"/>
            <a:ext cx="3977644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✗  Regulatory fines for non-compliance: $1B+ globally per year</a:t>
            </a:r>
          </a:p>
        </p:txBody>
      </p:sp>
      <p:sp>
        <p:nvSpPr>
          <p:cNvPr id="117" name="Shape 11"/>
          <p:cNvSpPr/>
          <p:nvPr/>
        </p:nvSpPr>
        <p:spPr>
          <a:xfrm>
            <a:off x="228600" y="2633472"/>
            <a:ext cx="4114800" cy="420625"/>
          </a:xfrm>
          <a:prstGeom prst="rect">
            <a:avLst/>
          </a:prstGeom>
          <a:solidFill>
            <a:srgbClr val="F8EAEA"/>
          </a:solidFill>
          <a:ln w="12700">
            <a:miter lim="400000"/>
          </a:ln>
          <a:effectLst>
            <a:outerShdw sx="100000" sy="100000" kx="0" ky="0" algn="b" rotWithShape="0" blurRad="88900" dist="25400" dir="8100000">
              <a:srgbClr val="000000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8" name="Text 12"/>
          <p:cNvSpPr txBox="1"/>
          <p:nvPr/>
        </p:nvSpPr>
        <p:spPr>
          <a:xfrm>
            <a:off x="292606" y="2775248"/>
            <a:ext cx="3977644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✗  Rule-based systems miss complex, evolving fraud patterns</a:t>
            </a:r>
          </a:p>
        </p:txBody>
      </p:sp>
      <p:sp>
        <p:nvSpPr>
          <p:cNvPr id="119" name="Shape 13"/>
          <p:cNvSpPr/>
          <p:nvPr/>
        </p:nvSpPr>
        <p:spPr>
          <a:xfrm>
            <a:off x="228600" y="3108960"/>
            <a:ext cx="4114800" cy="42062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88900" dist="25400" dir="8100000">
              <a:srgbClr val="000000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0" name="Text 14"/>
          <p:cNvSpPr txBox="1"/>
          <p:nvPr/>
        </p:nvSpPr>
        <p:spPr>
          <a:xfrm>
            <a:off x="292606" y="3250736"/>
            <a:ext cx="3977644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✗  Lack of explainability in AI decisions creates audit risk</a:t>
            </a:r>
          </a:p>
        </p:txBody>
      </p:sp>
      <p:sp>
        <p:nvSpPr>
          <p:cNvPr id="121" name="Shape 15"/>
          <p:cNvSpPr/>
          <p:nvPr/>
        </p:nvSpPr>
        <p:spPr>
          <a:xfrm>
            <a:off x="228600" y="3584447"/>
            <a:ext cx="4114800" cy="420626"/>
          </a:xfrm>
          <a:prstGeom prst="rect">
            <a:avLst/>
          </a:prstGeom>
          <a:solidFill>
            <a:srgbClr val="F8EAEA"/>
          </a:solidFill>
          <a:ln w="12700">
            <a:miter lim="400000"/>
          </a:ln>
          <a:effectLst>
            <a:outerShdw sx="100000" sy="100000" kx="0" ky="0" algn="b" rotWithShape="0" blurRad="88900" dist="25400" dir="8100000">
              <a:srgbClr val="000000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2" name="Text 16"/>
          <p:cNvSpPr txBox="1"/>
          <p:nvPr/>
        </p:nvSpPr>
        <p:spPr>
          <a:xfrm>
            <a:off x="292606" y="3726224"/>
            <a:ext cx="3977644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✗  Siloed data across core banking, cards, and payments</a:t>
            </a:r>
          </a:p>
        </p:txBody>
      </p:sp>
      <p:sp>
        <p:nvSpPr>
          <p:cNvPr id="123" name="Shape 17"/>
          <p:cNvSpPr/>
          <p:nvPr/>
        </p:nvSpPr>
        <p:spPr>
          <a:xfrm>
            <a:off x="228600" y="4059935"/>
            <a:ext cx="4114800" cy="42062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88900" dist="25400" dir="8100000">
              <a:srgbClr val="000000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4" name="Text 18"/>
          <p:cNvSpPr txBox="1"/>
          <p:nvPr/>
        </p:nvSpPr>
        <p:spPr>
          <a:xfrm>
            <a:off x="292606" y="4201712"/>
            <a:ext cx="3977644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✗  No unified observability across AI and data pipelines</a:t>
            </a:r>
          </a:p>
        </p:txBody>
      </p:sp>
      <p:sp>
        <p:nvSpPr>
          <p:cNvPr id="125" name="Shape 19"/>
          <p:cNvSpPr/>
          <p:nvPr/>
        </p:nvSpPr>
        <p:spPr>
          <a:xfrm>
            <a:off x="4800600" y="777240"/>
            <a:ext cx="4114800" cy="365762"/>
          </a:xfrm>
          <a:prstGeom prst="rect">
            <a:avLst/>
          </a:prstGeom>
          <a:solidFill>
            <a:srgbClr val="00AA66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6" name="Text 20"/>
          <p:cNvSpPr txBox="1"/>
          <p:nvPr/>
        </p:nvSpPr>
        <p:spPr>
          <a:xfrm>
            <a:off x="4800600" y="881686"/>
            <a:ext cx="411480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OUR SOLUTION</a:t>
            </a:r>
          </a:p>
        </p:txBody>
      </p:sp>
      <p:sp>
        <p:nvSpPr>
          <p:cNvPr id="127" name="Shape 21"/>
          <p:cNvSpPr/>
          <p:nvPr/>
        </p:nvSpPr>
        <p:spPr>
          <a:xfrm>
            <a:off x="4800600" y="1207008"/>
            <a:ext cx="4114800" cy="42062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88900" dist="25400" dir="8100000">
              <a:srgbClr val="000000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8" name="Text 22"/>
          <p:cNvSpPr txBox="1"/>
          <p:nvPr/>
        </p:nvSpPr>
        <p:spPr>
          <a:xfrm>
            <a:off x="4864608" y="1338639"/>
            <a:ext cx="3977642" cy="157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✓  Lakehouse: unified Bronze→Silver→Gold data platform</a:t>
            </a:r>
          </a:p>
        </p:txBody>
      </p:sp>
      <p:sp>
        <p:nvSpPr>
          <p:cNvPr id="129" name="Shape 23"/>
          <p:cNvSpPr/>
          <p:nvPr/>
        </p:nvSpPr>
        <p:spPr>
          <a:xfrm>
            <a:off x="4800600" y="1682494"/>
            <a:ext cx="4114800" cy="420626"/>
          </a:xfrm>
          <a:prstGeom prst="rect">
            <a:avLst/>
          </a:prstGeom>
          <a:solidFill>
            <a:srgbClr val="E8F5EE"/>
          </a:solidFill>
          <a:ln w="12700">
            <a:miter lim="400000"/>
          </a:ln>
          <a:effectLst>
            <a:outerShdw sx="100000" sy="100000" kx="0" ky="0" algn="b" rotWithShape="0" blurRad="88900" dist="25400" dir="8100000">
              <a:srgbClr val="000000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30" name="Text 24"/>
          <p:cNvSpPr txBox="1"/>
          <p:nvPr/>
        </p:nvSpPr>
        <p:spPr>
          <a:xfrm>
            <a:off x="4864608" y="1814127"/>
            <a:ext cx="3977642" cy="157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✓  RAG pipeline retrieves relevant AML policies in real-time</a:t>
            </a:r>
          </a:p>
        </p:txBody>
      </p:sp>
      <p:sp>
        <p:nvSpPr>
          <p:cNvPr id="131" name="Shape 25"/>
          <p:cNvSpPr/>
          <p:nvPr/>
        </p:nvSpPr>
        <p:spPr>
          <a:xfrm>
            <a:off x="4800600" y="2157983"/>
            <a:ext cx="4114800" cy="42062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88900" dist="25400" dir="8100000">
              <a:srgbClr val="000000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32" name="Text 26"/>
          <p:cNvSpPr txBox="1"/>
          <p:nvPr/>
        </p:nvSpPr>
        <p:spPr>
          <a:xfrm>
            <a:off x="4864608" y="2289615"/>
            <a:ext cx="3977642" cy="157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✓  Multi-agent: Retriever, Reasoner, Validator, Router agents</a:t>
            </a:r>
          </a:p>
        </p:txBody>
      </p:sp>
      <p:sp>
        <p:nvSpPr>
          <p:cNvPr id="133" name="Shape 27"/>
          <p:cNvSpPr/>
          <p:nvPr/>
        </p:nvSpPr>
        <p:spPr>
          <a:xfrm>
            <a:off x="4800600" y="2633472"/>
            <a:ext cx="4114800" cy="420625"/>
          </a:xfrm>
          <a:prstGeom prst="rect">
            <a:avLst/>
          </a:prstGeom>
          <a:solidFill>
            <a:srgbClr val="E8F5EE"/>
          </a:solidFill>
          <a:ln w="12700">
            <a:miter lim="400000"/>
          </a:ln>
          <a:effectLst>
            <a:outerShdw sx="100000" sy="100000" kx="0" ky="0" algn="b" rotWithShape="0" blurRad="88900" dist="25400" dir="8100000">
              <a:srgbClr val="000000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34" name="Text 28"/>
          <p:cNvSpPr txBox="1"/>
          <p:nvPr/>
        </p:nvSpPr>
        <p:spPr>
          <a:xfrm>
            <a:off x="4864608" y="2765102"/>
            <a:ext cx="3977642" cy="157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✓  MCP orchestration with shared context propagation</a:t>
            </a:r>
          </a:p>
        </p:txBody>
      </p:sp>
      <p:sp>
        <p:nvSpPr>
          <p:cNvPr id="135" name="Shape 29"/>
          <p:cNvSpPr/>
          <p:nvPr/>
        </p:nvSpPr>
        <p:spPr>
          <a:xfrm>
            <a:off x="4800600" y="3108960"/>
            <a:ext cx="4114800" cy="42062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88900" dist="25400" dir="8100000">
              <a:srgbClr val="000000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36" name="Text 30"/>
          <p:cNvSpPr txBox="1"/>
          <p:nvPr/>
        </p:nvSpPr>
        <p:spPr>
          <a:xfrm>
            <a:off x="4864608" y="3240590"/>
            <a:ext cx="3977642" cy="157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✓  FastAPI REST layer exposing 8 production endpoints</a:t>
            </a:r>
          </a:p>
        </p:txBody>
      </p:sp>
      <p:sp>
        <p:nvSpPr>
          <p:cNvPr id="137" name="Shape 31"/>
          <p:cNvSpPr/>
          <p:nvPr/>
        </p:nvSpPr>
        <p:spPr>
          <a:xfrm>
            <a:off x="4800600" y="3584447"/>
            <a:ext cx="4114800" cy="420626"/>
          </a:xfrm>
          <a:prstGeom prst="rect">
            <a:avLst/>
          </a:prstGeom>
          <a:solidFill>
            <a:srgbClr val="E8F5EE"/>
          </a:solidFill>
          <a:ln w="12700">
            <a:miter lim="400000"/>
          </a:ln>
          <a:effectLst>
            <a:outerShdw sx="100000" sy="100000" kx="0" ky="0" algn="b" rotWithShape="0" blurRad="88900" dist="25400" dir="8100000">
              <a:srgbClr val="000000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38" name="Text 32"/>
          <p:cNvSpPr txBox="1"/>
          <p:nvPr/>
        </p:nvSpPr>
        <p:spPr>
          <a:xfrm>
            <a:off x="4864608" y="3716078"/>
            <a:ext cx="3977642" cy="157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✓  Full audit trail + explainable risk scoring</a:t>
            </a:r>
          </a:p>
        </p:txBody>
      </p:sp>
      <p:sp>
        <p:nvSpPr>
          <p:cNvPr id="139" name="Shape 33"/>
          <p:cNvSpPr/>
          <p:nvPr/>
        </p:nvSpPr>
        <p:spPr>
          <a:xfrm>
            <a:off x="4800600" y="4059935"/>
            <a:ext cx="4114800" cy="42062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88900" dist="25400" dir="8100000">
              <a:srgbClr val="000000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40" name="Text 34"/>
          <p:cNvSpPr txBox="1"/>
          <p:nvPr/>
        </p:nvSpPr>
        <p:spPr>
          <a:xfrm>
            <a:off x="4864608" y="4191567"/>
            <a:ext cx="3977642" cy="157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✓  RBAC + prompt injection defense + LLMOps observability</a:t>
            </a:r>
          </a:p>
        </p:txBody>
      </p:sp>
      <p:sp>
        <p:nvSpPr>
          <p:cNvPr id="141" name="Text 35"/>
          <p:cNvSpPr txBox="1"/>
          <p:nvPr/>
        </p:nvSpPr>
        <p:spPr>
          <a:xfrm>
            <a:off x="0" y="4999988"/>
            <a:ext cx="91440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8899BB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CONFIDENTIAL  |  NTT DATA  |  GenAI AML Risk Workshop 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Shape 0"/>
          <p:cNvSpPr/>
          <p:nvPr/>
        </p:nvSpPr>
        <p:spPr>
          <a:xfrm>
            <a:off x="0" y="-1"/>
            <a:ext cx="9144000" cy="658370"/>
          </a:xfrm>
          <a:prstGeom prst="rect">
            <a:avLst/>
          </a:prstGeom>
          <a:solidFill>
            <a:srgbClr val="0A1628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44" name="Text 1"/>
          <p:cNvSpPr txBox="1"/>
          <p:nvPr/>
        </p:nvSpPr>
        <p:spPr>
          <a:xfrm>
            <a:off x="274319" y="204813"/>
            <a:ext cx="6217923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High Level Design (HLD)</a:t>
            </a:r>
          </a:p>
        </p:txBody>
      </p:sp>
      <p:sp>
        <p:nvSpPr>
          <p:cNvPr id="145" name="Text 2"/>
          <p:cNvSpPr txBox="1"/>
          <p:nvPr/>
        </p:nvSpPr>
        <p:spPr>
          <a:xfrm>
            <a:off x="6492240" y="260647"/>
            <a:ext cx="251460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F5A623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System Architecture — Component Overview</a:t>
            </a:r>
          </a:p>
        </p:txBody>
      </p:sp>
      <p:sp>
        <p:nvSpPr>
          <p:cNvPr id="146" name="Shape 3"/>
          <p:cNvSpPr/>
          <p:nvPr/>
        </p:nvSpPr>
        <p:spPr>
          <a:xfrm>
            <a:off x="228600" y="777240"/>
            <a:ext cx="8686800" cy="56693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88900" dist="25400" dir="8100000">
              <a:srgbClr val="000000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47" name="Shape 4"/>
          <p:cNvSpPr/>
          <p:nvPr/>
        </p:nvSpPr>
        <p:spPr>
          <a:xfrm>
            <a:off x="228600" y="777240"/>
            <a:ext cx="2377440" cy="566930"/>
          </a:xfrm>
          <a:prstGeom prst="rect">
            <a:avLst/>
          </a:prstGeom>
          <a:solidFill>
            <a:srgbClr val="0099A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48" name="Text 5"/>
          <p:cNvSpPr txBox="1"/>
          <p:nvPr/>
        </p:nvSpPr>
        <p:spPr>
          <a:xfrm>
            <a:off x="228600" y="992168"/>
            <a:ext cx="2377440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EXPERIENCE LAYER</a:t>
            </a:r>
          </a:p>
        </p:txBody>
      </p:sp>
      <p:sp>
        <p:nvSpPr>
          <p:cNvPr id="149" name="Text 6"/>
          <p:cNvSpPr txBox="1"/>
          <p:nvPr/>
        </p:nvSpPr>
        <p:spPr>
          <a:xfrm>
            <a:off x="2743198" y="992168"/>
            <a:ext cx="6080764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FastAPI REST API  ·  /transactions  ·  /flags  ·  /summary  ·  /dashboard  ·  Power BI</a:t>
            </a:r>
          </a:p>
        </p:txBody>
      </p:sp>
      <p:sp>
        <p:nvSpPr>
          <p:cNvPr id="150" name="Text 7"/>
          <p:cNvSpPr txBox="1"/>
          <p:nvPr/>
        </p:nvSpPr>
        <p:spPr>
          <a:xfrm>
            <a:off x="4297679" y="1321352"/>
            <a:ext cx="457202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0066CC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↓</a:t>
            </a:r>
          </a:p>
        </p:txBody>
      </p:sp>
      <p:sp>
        <p:nvSpPr>
          <p:cNvPr id="151" name="Shape 8"/>
          <p:cNvSpPr/>
          <p:nvPr/>
        </p:nvSpPr>
        <p:spPr>
          <a:xfrm>
            <a:off x="228600" y="1444752"/>
            <a:ext cx="8686800" cy="56693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88900" dist="25400" dir="8100000">
              <a:srgbClr val="000000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2" name="Shape 9"/>
          <p:cNvSpPr/>
          <p:nvPr/>
        </p:nvSpPr>
        <p:spPr>
          <a:xfrm>
            <a:off x="228600" y="1444752"/>
            <a:ext cx="2377440" cy="566930"/>
          </a:xfrm>
          <a:prstGeom prst="rect">
            <a:avLst/>
          </a:prstGeom>
          <a:solidFill>
            <a:srgbClr val="0066C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3" name="Text 10"/>
          <p:cNvSpPr txBox="1"/>
          <p:nvPr/>
        </p:nvSpPr>
        <p:spPr>
          <a:xfrm>
            <a:off x="228600" y="1659680"/>
            <a:ext cx="2377440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SECURITY &amp; GOVERNANCE</a:t>
            </a:r>
          </a:p>
        </p:txBody>
      </p:sp>
      <p:sp>
        <p:nvSpPr>
          <p:cNvPr id="154" name="Text 11"/>
          <p:cNvSpPr txBox="1"/>
          <p:nvPr/>
        </p:nvSpPr>
        <p:spPr>
          <a:xfrm>
            <a:off x="2743198" y="1659680"/>
            <a:ext cx="6080764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Prompt Injection Guard  ·  RBAC (analyst/compliance/admin)  ·  Data Masking  ·  Audit Trail</a:t>
            </a:r>
          </a:p>
        </p:txBody>
      </p:sp>
      <p:sp>
        <p:nvSpPr>
          <p:cNvPr id="155" name="Text 12"/>
          <p:cNvSpPr txBox="1"/>
          <p:nvPr/>
        </p:nvSpPr>
        <p:spPr>
          <a:xfrm>
            <a:off x="4297679" y="1988864"/>
            <a:ext cx="457202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0066CC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↓</a:t>
            </a:r>
          </a:p>
        </p:txBody>
      </p:sp>
      <p:sp>
        <p:nvSpPr>
          <p:cNvPr id="156" name="Shape 13"/>
          <p:cNvSpPr/>
          <p:nvPr/>
        </p:nvSpPr>
        <p:spPr>
          <a:xfrm>
            <a:off x="228600" y="2112264"/>
            <a:ext cx="8686800" cy="56693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88900" dist="25400" dir="8100000">
              <a:srgbClr val="000000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7" name="Shape 14"/>
          <p:cNvSpPr/>
          <p:nvPr/>
        </p:nvSpPr>
        <p:spPr>
          <a:xfrm>
            <a:off x="228600" y="2112264"/>
            <a:ext cx="2377440" cy="566930"/>
          </a:xfrm>
          <a:prstGeom prst="rect">
            <a:avLst/>
          </a:prstGeom>
          <a:solidFill>
            <a:srgbClr val="6633BB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8" name="Text 15"/>
          <p:cNvSpPr txBox="1"/>
          <p:nvPr/>
        </p:nvSpPr>
        <p:spPr>
          <a:xfrm>
            <a:off x="228600" y="2327192"/>
            <a:ext cx="2377440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GenAI ORCHESTRATION</a:t>
            </a:r>
          </a:p>
        </p:txBody>
      </p:sp>
      <p:sp>
        <p:nvSpPr>
          <p:cNvPr id="159" name="Text 16"/>
          <p:cNvSpPr txBox="1"/>
          <p:nvPr/>
        </p:nvSpPr>
        <p:spPr>
          <a:xfrm>
            <a:off x="2743198" y="2327192"/>
            <a:ext cx="6080764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MCPRiskOrchestrator  ·  AgentRouter  ·  RetrieverAgent  ·  ReasonerAgent  ·  ValidatorAgent</a:t>
            </a:r>
          </a:p>
        </p:txBody>
      </p:sp>
      <p:sp>
        <p:nvSpPr>
          <p:cNvPr id="160" name="Text 17"/>
          <p:cNvSpPr txBox="1"/>
          <p:nvPr/>
        </p:nvSpPr>
        <p:spPr>
          <a:xfrm>
            <a:off x="4297679" y="2656376"/>
            <a:ext cx="457202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0066CC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↓</a:t>
            </a:r>
          </a:p>
        </p:txBody>
      </p:sp>
      <p:sp>
        <p:nvSpPr>
          <p:cNvPr id="161" name="Shape 18"/>
          <p:cNvSpPr/>
          <p:nvPr/>
        </p:nvSpPr>
        <p:spPr>
          <a:xfrm>
            <a:off x="228600" y="2779776"/>
            <a:ext cx="8686800" cy="56693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88900" dist="25400" dir="8100000">
              <a:srgbClr val="000000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2" name="Shape 19"/>
          <p:cNvSpPr/>
          <p:nvPr/>
        </p:nvSpPr>
        <p:spPr>
          <a:xfrm>
            <a:off x="228600" y="2779776"/>
            <a:ext cx="2377440" cy="566930"/>
          </a:xfrm>
          <a:prstGeom prst="rect">
            <a:avLst/>
          </a:prstGeom>
          <a:solidFill>
            <a:srgbClr val="1A3A6B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3" name="Text 20"/>
          <p:cNvSpPr txBox="1"/>
          <p:nvPr/>
        </p:nvSpPr>
        <p:spPr>
          <a:xfrm>
            <a:off x="228600" y="2994704"/>
            <a:ext cx="2377440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KNOWLEDGE &amp; RAG</a:t>
            </a:r>
          </a:p>
        </p:txBody>
      </p:sp>
      <p:sp>
        <p:nvSpPr>
          <p:cNvPr id="164" name="Text 21"/>
          <p:cNvSpPr txBox="1"/>
          <p:nvPr/>
        </p:nvSpPr>
        <p:spPr>
          <a:xfrm>
            <a:off x="2743198" y="2994704"/>
            <a:ext cx="6080764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AML Policy Corpus  ·  SentenceTransformer MiniLM-L6-v2  ·  FAISS IndexFlatL2 (384-dim)</a:t>
            </a:r>
          </a:p>
        </p:txBody>
      </p:sp>
      <p:sp>
        <p:nvSpPr>
          <p:cNvPr id="165" name="Text 22"/>
          <p:cNvSpPr txBox="1"/>
          <p:nvPr/>
        </p:nvSpPr>
        <p:spPr>
          <a:xfrm>
            <a:off x="4297679" y="3323887"/>
            <a:ext cx="45720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0066CC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↓</a:t>
            </a:r>
          </a:p>
        </p:txBody>
      </p:sp>
      <p:sp>
        <p:nvSpPr>
          <p:cNvPr id="166" name="Shape 23"/>
          <p:cNvSpPr/>
          <p:nvPr/>
        </p:nvSpPr>
        <p:spPr>
          <a:xfrm>
            <a:off x="228600" y="3447288"/>
            <a:ext cx="8686800" cy="56693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88900" dist="25400" dir="8100000">
              <a:srgbClr val="000000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7" name="Shape 24"/>
          <p:cNvSpPr/>
          <p:nvPr/>
        </p:nvSpPr>
        <p:spPr>
          <a:xfrm>
            <a:off x="228600" y="3447288"/>
            <a:ext cx="2377440" cy="566930"/>
          </a:xfrm>
          <a:prstGeom prst="rect">
            <a:avLst/>
          </a:prstGeom>
          <a:solidFill>
            <a:srgbClr val="116644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8" name="Text 25"/>
          <p:cNvSpPr txBox="1"/>
          <p:nvPr/>
        </p:nvSpPr>
        <p:spPr>
          <a:xfrm>
            <a:off x="228600" y="3662215"/>
            <a:ext cx="237744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LAKEHOUSE DATA LAYER</a:t>
            </a:r>
          </a:p>
        </p:txBody>
      </p:sp>
      <p:sp>
        <p:nvSpPr>
          <p:cNvPr id="169" name="Text 26"/>
          <p:cNvSpPr txBox="1"/>
          <p:nvPr/>
        </p:nvSpPr>
        <p:spPr>
          <a:xfrm>
            <a:off x="2743198" y="3662215"/>
            <a:ext cx="6080764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Bronze (Raw Ingestion)  ·  Silver (Cleaned + PII Masked)  ·  Gold (Risk Scored + Categorised)</a:t>
            </a:r>
          </a:p>
        </p:txBody>
      </p:sp>
      <p:sp>
        <p:nvSpPr>
          <p:cNvPr id="170" name="Text 27"/>
          <p:cNvSpPr txBox="1"/>
          <p:nvPr/>
        </p:nvSpPr>
        <p:spPr>
          <a:xfrm>
            <a:off x="4297679" y="3991400"/>
            <a:ext cx="457202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0066CC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↓</a:t>
            </a:r>
          </a:p>
        </p:txBody>
      </p:sp>
      <p:sp>
        <p:nvSpPr>
          <p:cNvPr id="171" name="Shape 28"/>
          <p:cNvSpPr/>
          <p:nvPr/>
        </p:nvSpPr>
        <p:spPr>
          <a:xfrm>
            <a:off x="228600" y="4114800"/>
            <a:ext cx="8686800" cy="56692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88900" dist="25400" dir="8100000">
              <a:srgbClr val="000000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2" name="Shape 29"/>
          <p:cNvSpPr/>
          <p:nvPr/>
        </p:nvSpPr>
        <p:spPr>
          <a:xfrm>
            <a:off x="228600" y="4114800"/>
            <a:ext cx="2377440" cy="566928"/>
          </a:xfrm>
          <a:prstGeom prst="rect">
            <a:avLst/>
          </a:prstGeom>
          <a:solidFill>
            <a:srgbClr val="885522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3" name="Text 30"/>
          <p:cNvSpPr txBox="1"/>
          <p:nvPr/>
        </p:nvSpPr>
        <p:spPr>
          <a:xfrm>
            <a:off x="228600" y="4329727"/>
            <a:ext cx="237744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LLMOps &amp; OBSERVABILITY</a:t>
            </a:r>
          </a:p>
        </p:txBody>
      </p:sp>
      <p:sp>
        <p:nvSpPr>
          <p:cNvPr id="174" name="Text 31"/>
          <p:cNvSpPr txBox="1"/>
          <p:nvPr/>
        </p:nvSpPr>
        <p:spPr>
          <a:xfrm>
            <a:off x="2743198" y="4329727"/>
            <a:ext cx="6080764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LLMOpsTracker  ·  AILineageTracker  ·  Latency Metrics  ·  Audit Log  ·  FastAPI /metrics</a:t>
            </a:r>
          </a:p>
        </p:txBody>
      </p:sp>
      <p:sp>
        <p:nvSpPr>
          <p:cNvPr id="175" name="Text 32"/>
          <p:cNvSpPr txBox="1"/>
          <p:nvPr/>
        </p:nvSpPr>
        <p:spPr>
          <a:xfrm>
            <a:off x="228598" y="4863131"/>
            <a:ext cx="2103124" cy="1309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◆ Scalability: Stateless agents, horizontal scaling</a:t>
            </a:r>
          </a:p>
        </p:txBody>
      </p:sp>
      <p:sp>
        <p:nvSpPr>
          <p:cNvPr id="176" name="Text 33"/>
          <p:cNvSpPr txBox="1"/>
          <p:nvPr/>
        </p:nvSpPr>
        <p:spPr>
          <a:xfrm>
            <a:off x="2441448" y="4799631"/>
            <a:ext cx="2103122" cy="2579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◆ Resilience: Error handling + fallback at each layer</a:t>
            </a:r>
          </a:p>
        </p:txBody>
      </p:sp>
      <p:sp>
        <p:nvSpPr>
          <p:cNvPr id="177" name="Text 34"/>
          <p:cNvSpPr txBox="1"/>
          <p:nvPr/>
        </p:nvSpPr>
        <p:spPr>
          <a:xfrm>
            <a:off x="4654296" y="4863131"/>
            <a:ext cx="2103122" cy="1309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◆ Security: Defense-in-depth with layered controls</a:t>
            </a:r>
          </a:p>
        </p:txBody>
      </p:sp>
      <p:sp>
        <p:nvSpPr>
          <p:cNvPr id="178" name="Text 35"/>
          <p:cNvSpPr txBox="1"/>
          <p:nvPr/>
        </p:nvSpPr>
        <p:spPr>
          <a:xfrm>
            <a:off x="6867142" y="4863131"/>
            <a:ext cx="2103122" cy="1309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◆ Observability: End-to-end traceability &amp; metrics</a:t>
            </a:r>
          </a:p>
        </p:txBody>
      </p:sp>
      <p:sp>
        <p:nvSpPr>
          <p:cNvPr id="179" name="Text 36"/>
          <p:cNvSpPr txBox="1"/>
          <p:nvPr/>
        </p:nvSpPr>
        <p:spPr>
          <a:xfrm>
            <a:off x="0" y="4999988"/>
            <a:ext cx="91440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8899BB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CONFIDENTIAL  |  NTT DATA  |  GenAI AML Risk Workshop 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Shape 0"/>
          <p:cNvSpPr/>
          <p:nvPr/>
        </p:nvSpPr>
        <p:spPr>
          <a:xfrm>
            <a:off x="0" y="-1"/>
            <a:ext cx="9144000" cy="658370"/>
          </a:xfrm>
          <a:prstGeom prst="rect">
            <a:avLst/>
          </a:prstGeom>
          <a:solidFill>
            <a:srgbClr val="0A1628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2" name="Text 1"/>
          <p:cNvSpPr txBox="1"/>
          <p:nvPr/>
        </p:nvSpPr>
        <p:spPr>
          <a:xfrm>
            <a:off x="274319" y="204813"/>
            <a:ext cx="6217923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LLD — Lakehouse Data Pipeline</a:t>
            </a:r>
          </a:p>
        </p:txBody>
      </p:sp>
      <p:sp>
        <p:nvSpPr>
          <p:cNvPr id="183" name="Text 2"/>
          <p:cNvSpPr txBox="1"/>
          <p:nvPr/>
        </p:nvSpPr>
        <p:spPr>
          <a:xfrm>
            <a:off x="6492240" y="178097"/>
            <a:ext cx="2514602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F5A623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Bronze → Silver → Gold  ·  Local Tools vs Enterprise Components</a:t>
            </a:r>
          </a:p>
        </p:txBody>
      </p:sp>
      <p:sp>
        <p:nvSpPr>
          <p:cNvPr id="184" name="Shape 3"/>
          <p:cNvSpPr/>
          <p:nvPr/>
        </p:nvSpPr>
        <p:spPr>
          <a:xfrm>
            <a:off x="0" y="658367"/>
            <a:ext cx="9144000" cy="201171"/>
          </a:xfrm>
          <a:prstGeom prst="rect">
            <a:avLst/>
          </a:prstGeom>
          <a:solidFill>
            <a:srgbClr val="1E2E44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5" name="Shape 4"/>
          <p:cNvSpPr/>
          <p:nvPr/>
        </p:nvSpPr>
        <p:spPr>
          <a:xfrm>
            <a:off x="5394959" y="704087"/>
            <a:ext cx="128018" cy="109730"/>
          </a:xfrm>
          <a:prstGeom prst="rect">
            <a:avLst/>
          </a:prstGeom>
          <a:solidFill>
            <a:srgbClr val="E8251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6" name="Text 5"/>
          <p:cNvSpPr txBox="1"/>
          <p:nvPr/>
        </p:nvSpPr>
        <p:spPr>
          <a:xfrm>
            <a:off x="5559552" y="700023"/>
            <a:ext cx="16916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= Databricks native service</a:t>
            </a:r>
          </a:p>
        </p:txBody>
      </p:sp>
      <p:sp>
        <p:nvSpPr>
          <p:cNvPr id="187" name="Shape 6"/>
          <p:cNvSpPr/>
          <p:nvPr/>
        </p:nvSpPr>
        <p:spPr>
          <a:xfrm>
            <a:off x="7315200" y="704087"/>
            <a:ext cx="128016" cy="109730"/>
          </a:xfrm>
          <a:prstGeom prst="rect">
            <a:avLst/>
          </a:prstGeom>
          <a:solidFill>
            <a:srgbClr val="0078D4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8" name="Text 7"/>
          <p:cNvSpPr txBox="1"/>
          <p:nvPr/>
        </p:nvSpPr>
        <p:spPr>
          <a:xfrm>
            <a:off x="7479792" y="700023"/>
            <a:ext cx="157277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= Azure managed service</a:t>
            </a:r>
          </a:p>
        </p:txBody>
      </p:sp>
      <p:sp>
        <p:nvSpPr>
          <p:cNvPr id="189" name="Text 8"/>
          <p:cNvSpPr txBox="1"/>
          <p:nvPr/>
        </p:nvSpPr>
        <p:spPr>
          <a:xfrm>
            <a:off x="3840479" y="700023"/>
            <a:ext cx="15087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800">
                <a:solidFill>
                  <a:srgbClr val="AABBCC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Enterprise colour coding:</a:t>
            </a:r>
          </a:p>
        </p:txBody>
      </p:sp>
      <p:sp>
        <p:nvSpPr>
          <p:cNvPr id="190" name="Shape 9"/>
          <p:cNvSpPr/>
          <p:nvPr/>
        </p:nvSpPr>
        <p:spPr>
          <a:xfrm>
            <a:off x="182880" y="886966"/>
            <a:ext cx="1298448" cy="310898"/>
          </a:xfrm>
          <a:prstGeom prst="rect">
            <a:avLst/>
          </a:prstGeom>
          <a:solidFill>
            <a:srgbClr val="0A1628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91" name="Text 10"/>
          <p:cNvSpPr txBox="1"/>
          <p:nvPr/>
        </p:nvSpPr>
        <p:spPr>
          <a:xfrm>
            <a:off x="182880" y="978914"/>
            <a:ext cx="129844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LAYER</a:t>
            </a:r>
          </a:p>
        </p:txBody>
      </p:sp>
      <p:sp>
        <p:nvSpPr>
          <p:cNvPr id="192" name="Shape 11"/>
          <p:cNvSpPr/>
          <p:nvPr/>
        </p:nvSpPr>
        <p:spPr>
          <a:xfrm>
            <a:off x="1554479" y="886966"/>
            <a:ext cx="3474722" cy="310898"/>
          </a:xfrm>
          <a:prstGeom prst="rect">
            <a:avLst/>
          </a:prstGeom>
          <a:solidFill>
            <a:srgbClr val="334466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93" name="Text 12"/>
          <p:cNvSpPr txBox="1"/>
          <p:nvPr/>
        </p:nvSpPr>
        <p:spPr>
          <a:xfrm>
            <a:off x="1554479" y="978914"/>
            <a:ext cx="34747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WHAT WE DO (Local / Current)</a:t>
            </a:r>
          </a:p>
        </p:txBody>
      </p:sp>
      <p:sp>
        <p:nvSpPr>
          <p:cNvPr id="194" name="Shape 13"/>
          <p:cNvSpPr/>
          <p:nvPr/>
        </p:nvSpPr>
        <p:spPr>
          <a:xfrm>
            <a:off x="5102352" y="886966"/>
            <a:ext cx="3858770" cy="310898"/>
          </a:xfrm>
          <a:prstGeom prst="rect">
            <a:avLst/>
          </a:prstGeom>
          <a:solidFill>
            <a:srgbClr val="E8251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95" name="Text 14"/>
          <p:cNvSpPr txBox="1"/>
          <p:nvPr/>
        </p:nvSpPr>
        <p:spPr>
          <a:xfrm>
            <a:off x="5102352" y="978914"/>
            <a:ext cx="385877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ENTERPRISE REPLACEMENT (Databricks Full License)</a:t>
            </a:r>
          </a:p>
        </p:txBody>
      </p:sp>
      <p:sp>
        <p:nvSpPr>
          <p:cNvPr id="196" name="Shape 15"/>
          <p:cNvSpPr/>
          <p:nvPr/>
        </p:nvSpPr>
        <p:spPr>
          <a:xfrm>
            <a:off x="182880" y="1133854"/>
            <a:ext cx="1298448" cy="841251"/>
          </a:xfrm>
          <a:prstGeom prst="rect">
            <a:avLst/>
          </a:prstGeom>
          <a:solidFill>
            <a:srgbClr val="8B4513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97" name="Text 16"/>
          <p:cNvSpPr txBox="1"/>
          <p:nvPr/>
        </p:nvSpPr>
        <p:spPr>
          <a:xfrm>
            <a:off x="182880" y="1403393"/>
            <a:ext cx="1298448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BRONZE</a:t>
            </a:r>
          </a:p>
          <a:p>
            <a:pPr algn="ctr">
              <a:defRPr b="1"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Ingestion</a:t>
            </a:r>
          </a:p>
        </p:txBody>
      </p:sp>
      <p:sp>
        <p:nvSpPr>
          <p:cNvPr id="198" name="Shape 17"/>
          <p:cNvSpPr/>
          <p:nvPr/>
        </p:nvSpPr>
        <p:spPr>
          <a:xfrm>
            <a:off x="1554479" y="1133854"/>
            <a:ext cx="3474722" cy="84125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99" name="Text 18"/>
          <p:cNvSpPr txBox="1"/>
          <p:nvPr/>
        </p:nvSpPr>
        <p:spPr>
          <a:xfrm>
            <a:off x="1627632" y="1198372"/>
            <a:ext cx="332841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spark.createDataFrame() from Python list</a:t>
            </a:r>
          </a:p>
        </p:txBody>
      </p:sp>
      <p:sp>
        <p:nvSpPr>
          <p:cNvPr id="200" name="Text 19"/>
          <p:cNvSpPr txBox="1"/>
          <p:nvPr/>
        </p:nvSpPr>
        <p:spPr>
          <a:xfrm>
            <a:off x="1627632" y="1390394"/>
            <a:ext cx="332841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Hardcoded 5 transactions</a:t>
            </a:r>
          </a:p>
        </p:txBody>
      </p:sp>
      <p:sp>
        <p:nvSpPr>
          <p:cNvPr id="201" name="Text 20"/>
          <p:cNvSpPr txBox="1"/>
          <p:nvPr/>
        </p:nvSpPr>
        <p:spPr>
          <a:xfrm>
            <a:off x="1627632" y="1582419"/>
            <a:ext cx="332841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Schema: txn_id, customer_id, amount, country</a:t>
            </a:r>
          </a:p>
        </p:txBody>
      </p:sp>
      <p:sp>
        <p:nvSpPr>
          <p:cNvPr id="202" name="Text 21"/>
          <p:cNvSpPr txBox="1"/>
          <p:nvPr/>
        </p:nvSpPr>
        <p:spPr>
          <a:xfrm>
            <a:off x="1627632" y="1774444"/>
            <a:ext cx="332841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Append-only, runs once in notebook</a:t>
            </a:r>
          </a:p>
        </p:txBody>
      </p:sp>
      <p:sp>
        <p:nvSpPr>
          <p:cNvPr id="203" name="Shape 22"/>
          <p:cNvSpPr/>
          <p:nvPr/>
        </p:nvSpPr>
        <p:spPr>
          <a:xfrm>
            <a:off x="5102352" y="1133854"/>
            <a:ext cx="3858770" cy="84125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04" name="Shape 23"/>
          <p:cNvSpPr/>
          <p:nvPr/>
        </p:nvSpPr>
        <p:spPr>
          <a:xfrm>
            <a:off x="5102352" y="1133854"/>
            <a:ext cx="54866" cy="841251"/>
          </a:xfrm>
          <a:prstGeom prst="rect">
            <a:avLst/>
          </a:prstGeom>
          <a:solidFill>
            <a:srgbClr val="0078D4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05" name="Text 24"/>
          <p:cNvSpPr txBox="1"/>
          <p:nvPr/>
        </p:nvSpPr>
        <p:spPr>
          <a:xfrm>
            <a:off x="5212079" y="1198372"/>
            <a:ext cx="369417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0078D4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Azure Event Hub / Kafka → Auto Loader (cloudFiles)</a:t>
            </a:r>
          </a:p>
        </p:txBody>
      </p:sp>
      <p:sp>
        <p:nvSpPr>
          <p:cNvPr id="206" name="Text 25"/>
          <p:cNvSpPr txBox="1"/>
          <p:nvPr/>
        </p:nvSpPr>
        <p:spPr>
          <a:xfrm>
            <a:off x="5212079" y="1390394"/>
            <a:ext cx="369417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0078D4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Continuous streaming ingestion from core banking</a:t>
            </a:r>
          </a:p>
        </p:txBody>
      </p:sp>
      <p:sp>
        <p:nvSpPr>
          <p:cNvPr id="207" name="Text 26"/>
          <p:cNvSpPr txBox="1"/>
          <p:nvPr/>
        </p:nvSpPr>
        <p:spPr>
          <a:xfrm>
            <a:off x="5212079" y="1582419"/>
            <a:ext cx="369417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0078D4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Schema-enforced Delta table with auto-detection</a:t>
            </a:r>
          </a:p>
        </p:txBody>
      </p:sp>
      <p:sp>
        <p:nvSpPr>
          <p:cNvPr id="208" name="Text 27"/>
          <p:cNvSpPr txBox="1"/>
          <p:nvPr/>
        </p:nvSpPr>
        <p:spPr>
          <a:xfrm>
            <a:off x="5212079" y="1774444"/>
            <a:ext cx="369417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0078D4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Checkpoint-based, restartable, exactly-once delivery</a:t>
            </a:r>
          </a:p>
        </p:txBody>
      </p:sp>
      <p:sp>
        <p:nvSpPr>
          <p:cNvPr id="209" name="Shape 28"/>
          <p:cNvSpPr/>
          <p:nvPr/>
        </p:nvSpPr>
        <p:spPr>
          <a:xfrm>
            <a:off x="182880" y="2048254"/>
            <a:ext cx="1298448" cy="841251"/>
          </a:xfrm>
          <a:prstGeom prst="rect">
            <a:avLst/>
          </a:prstGeom>
          <a:solidFill>
            <a:srgbClr val="0066C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0" name="Text 29"/>
          <p:cNvSpPr txBox="1"/>
          <p:nvPr/>
        </p:nvSpPr>
        <p:spPr>
          <a:xfrm>
            <a:off x="182880" y="2317793"/>
            <a:ext cx="1298448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SILVER</a:t>
            </a:r>
          </a:p>
          <a:p>
            <a:pPr algn="ctr">
              <a:defRPr b="1"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Cleaning</a:t>
            </a:r>
          </a:p>
        </p:txBody>
      </p:sp>
      <p:sp>
        <p:nvSpPr>
          <p:cNvPr id="211" name="Shape 30"/>
          <p:cNvSpPr/>
          <p:nvPr/>
        </p:nvSpPr>
        <p:spPr>
          <a:xfrm>
            <a:off x="1554479" y="2048254"/>
            <a:ext cx="3474722" cy="841251"/>
          </a:xfrm>
          <a:prstGeom prst="rect">
            <a:avLst/>
          </a:prstGeom>
          <a:solidFill>
            <a:srgbClr val="EEF3F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2" name="Text 31"/>
          <p:cNvSpPr txBox="1"/>
          <p:nvPr/>
        </p:nvSpPr>
        <p:spPr>
          <a:xfrm>
            <a:off x="1627632" y="2112772"/>
            <a:ext cx="332841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filter(amount &gt; 0) + dropDuplicates([txn_id])</a:t>
            </a:r>
          </a:p>
        </p:txBody>
      </p:sp>
      <p:sp>
        <p:nvSpPr>
          <p:cNvPr id="213" name="Text 32"/>
          <p:cNvSpPr txBox="1"/>
          <p:nvPr/>
        </p:nvSpPr>
        <p:spPr>
          <a:xfrm>
            <a:off x="1627632" y="2304794"/>
            <a:ext cx="332841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PII masking: customer_id → first4 + ****</a:t>
            </a:r>
          </a:p>
        </p:txBody>
      </p:sp>
      <p:sp>
        <p:nvSpPr>
          <p:cNvPr id="214" name="Text 33"/>
          <p:cNvSpPr txBox="1"/>
          <p:nvPr/>
        </p:nvSpPr>
        <p:spPr>
          <a:xfrm>
            <a:off x="1627632" y="2496818"/>
            <a:ext cx="332841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In-notebook PySpark transforms</a:t>
            </a:r>
          </a:p>
        </p:txBody>
      </p:sp>
      <p:sp>
        <p:nvSpPr>
          <p:cNvPr id="215" name="Text 34"/>
          <p:cNvSpPr txBox="1"/>
          <p:nvPr/>
        </p:nvSpPr>
        <p:spPr>
          <a:xfrm>
            <a:off x="1627632" y="2688844"/>
            <a:ext cx="332841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No data quality scoring or alerting</a:t>
            </a:r>
          </a:p>
        </p:txBody>
      </p:sp>
      <p:sp>
        <p:nvSpPr>
          <p:cNvPr id="216" name="Shape 35"/>
          <p:cNvSpPr/>
          <p:nvPr/>
        </p:nvSpPr>
        <p:spPr>
          <a:xfrm>
            <a:off x="5102352" y="2048254"/>
            <a:ext cx="3858770" cy="841251"/>
          </a:xfrm>
          <a:prstGeom prst="rect">
            <a:avLst/>
          </a:prstGeom>
          <a:solidFill>
            <a:srgbClr val="EEF3F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" name="Shape 36"/>
          <p:cNvSpPr/>
          <p:nvPr/>
        </p:nvSpPr>
        <p:spPr>
          <a:xfrm>
            <a:off x="5102352" y="2048254"/>
            <a:ext cx="54866" cy="841251"/>
          </a:xfrm>
          <a:prstGeom prst="rect">
            <a:avLst/>
          </a:prstGeom>
          <a:solidFill>
            <a:srgbClr val="E8251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" name="Text 37"/>
          <p:cNvSpPr txBox="1"/>
          <p:nvPr/>
        </p:nvSpPr>
        <p:spPr>
          <a:xfrm>
            <a:off x="5212079" y="2112772"/>
            <a:ext cx="369417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E825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Delta Live Tables (DLT) with Expectations</a:t>
            </a:r>
          </a:p>
        </p:txBody>
      </p:sp>
      <p:sp>
        <p:nvSpPr>
          <p:cNvPr id="219" name="Text 38"/>
          <p:cNvSpPr txBox="1"/>
          <p:nvPr/>
        </p:nvSpPr>
        <p:spPr>
          <a:xfrm>
            <a:off x="5212079" y="2304794"/>
            <a:ext cx="369417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E825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@dlt.expect_or_drop() rules on every field</a:t>
            </a:r>
          </a:p>
        </p:txBody>
      </p:sp>
      <p:sp>
        <p:nvSpPr>
          <p:cNvPr id="220" name="Text 39"/>
          <p:cNvSpPr txBox="1"/>
          <p:nvPr/>
        </p:nvSpPr>
        <p:spPr>
          <a:xfrm>
            <a:off x="5212079" y="2496818"/>
            <a:ext cx="369417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E825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Unity Catalog column masking for PII (no manual code)</a:t>
            </a:r>
          </a:p>
        </p:txBody>
      </p:sp>
      <p:sp>
        <p:nvSpPr>
          <p:cNvPr id="221" name="Text 40"/>
          <p:cNvSpPr txBox="1"/>
          <p:nvPr/>
        </p:nvSpPr>
        <p:spPr>
          <a:xfrm>
            <a:off x="5212079" y="2688844"/>
            <a:ext cx="369417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E825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DQ score dashboard + SLA alerting via Databricks Monitoring</a:t>
            </a:r>
          </a:p>
        </p:txBody>
      </p:sp>
      <p:sp>
        <p:nvSpPr>
          <p:cNvPr id="222" name="Shape 41"/>
          <p:cNvSpPr/>
          <p:nvPr/>
        </p:nvSpPr>
        <p:spPr>
          <a:xfrm>
            <a:off x="182880" y="2962654"/>
            <a:ext cx="1298448" cy="841251"/>
          </a:xfrm>
          <a:prstGeom prst="rect">
            <a:avLst/>
          </a:prstGeom>
          <a:solidFill>
            <a:srgbClr val="00AA66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3" name="Text 42"/>
          <p:cNvSpPr txBox="1"/>
          <p:nvPr/>
        </p:nvSpPr>
        <p:spPr>
          <a:xfrm>
            <a:off x="182880" y="3232193"/>
            <a:ext cx="1298448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GOLD</a:t>
            </a:r>
          </a:p>
          <a:p>
            <a:pPr algn="ctr">
              <a:defRPr b="1"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Risk Scoring</a:t>
            </a:r>
          </a:p>
        </p:txBody>
      </p:sp>
      <p:sp>
        <p:nvSpPr>
          <p:cNvPr id="224" name="Shape 43"/>
          <p:cNvSpPr/>
          <p:nvPr/>
        </p:nvSpPr>
        <p:spPr>
          <a:xfrm>
            <a:off x="1554479" y="2962654"/>
            <a:ext cx="3474722" cy="84125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5" name="Text 44"/>
          <p:cNvSpPr txBox="1"/>
          <p:nvPr/>
        </p:nvSpPr>
        <p:spPr>
          <a:xfrm>
            <a:off x="1627632" y="3027172"/>
            <a:ext cx="332841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withColumn risk_score: amount + country logic</a:t>
            </a:r>
          </a:p>
        </p:txBody>
      </p:sp>
      <p:sp>
        <p:nvSpPr>
          <p:cNvPr id="226" name="Text 45"/>
          <p:cNvSpPr txBox="1"/>
          <p:nvPr/>
        </p:nvSpPr>
        <p:spPr>
          <a:xfrm>
            <a:off x="1627632" y="3219195"/>
            <a:ext cx="332841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Rule thresholds hardcoded in notebook cell</a:t>
            </a:r>
          </a:p>
        </p:txBody>
      </p:sp>
      <p:sp>
        <p:nvSpPr>
          <p:cNvPr id="227" name="Text 46"/>
          <p:cNvSpPr txBox="1"/>
          <p:nvPr/>
        </p:nvSpPr>
        <p:spPr>
          <a:xfrm>
            <a:off x="1627632" y="3411220"/>
            <a:ext cx="332841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risk_category: High / Low via .when()</a:t>
            </a:r>
          </a:p>
        </p:txBody>
      </p:sp>
      <p:sp>
        <p:nvSpPr>
          <p:cNvPr id="228" name="Text 47"/>
          <p:cNvSpPr txBox="1"/>
          <p:nvPr/>
        </p:nvSpPr>
        <p:spPr>
          <a:xfrm>
            <a:off x="1627632" y="3603244"/>
            <a:ext cx="332841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Gold stored as pandas df, not persisted</a:t>
            </a:r>
          </a:p>
        </p:txBody>
      </p:sp>
      <p:sp>
        <p:nvSpPr>
          <p:cNvPr id="229" name="Shape 48"/>
          <p:cNvSpPr/>
          <p:nvPr/>
        </p:nvSpPr>
        <p:spPr>
          <a:xfrm>
            <a:off x="5102352" y="2962654"/>
            <a:ext cx="3858770" cy="84125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0" name="Shape 49"/>
          <p:cNvSpPr/>
          <p:nvPr/>
        </p:nvSpPr>
        <p:spPr>
          <a:xfrm>
            <a:off x="5102352" y="2962654"/>
            <a:ext cx="54866" cy="841251"/>
          </a:xfrm>
          <a:prstGeom prst="rect">
            <a:avLst/>
          </a:prstGeom>
          <a:solidFill>
            <a:srgbClr val="E8251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1" name="Text 50"/>
          <p:cNvSpPr txBox="1"/>
          <p:nvPr/>
        </p:nvSpPr>
        <p:spPr>
          <a:xfrm>
            <a:off x="5212079" y="3027172"/>
            <a:ext cx="369417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E825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DLT Gold pipeline with Databricks Feature Store</a:t>
            </a:r>
          </a:p>
        </p:txBody>
      </p:sp>
      <p:sp>
        <p:nvSpPr>
          <p:cNvPr id="232" name="Text 51"/>
          <p:cNvSpPr txBox="1"/>
          <p:nvPr/>
        </p:nvSpPr>
        <p:spPr>
          <a:xfrm>
            <a:off x="5212079" y="3219195"/>
            <a:ext cx="369417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E825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Thresholds managed in MLflow config registry</a:t>
            </a:r>
          </a:p>
        </p:txBody>
      </p:sp>
      <p:sp>
        <p:nvSpPr>
          <p:cNvPr id="233" name="Text 52"/>
          <p:cNvSpPr txBox="1"/>
          <p:nvPr/>
        </p:nvSpPr>
        <p:spPr>
          <a:xfrm>
            <a:off x="5212079" y="3411220"/>
            <a:ext cx="369417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E825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Databricks ML model can replace rule engine</a:t>
            </a:r>
          </a:p>
        </p:txBody>
      </p:sp>
      <p:sp>
        <p:nvSpPr>
          <p:cNvPr id="234" name="Text 53"/>
          <p:cNvSpPr txBox="1"/>
          <p:nvPr/>
        </p:nvSpPr>
        <p:spPr>
          <a:xfrm>
            <a:off x="5212079" y="3603244"/>
            <a:ext cx="369417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E825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Delta Gold table: versioned, time-travel, SLA-backed</a:t>
            </a:r>
          </a:p>
        </p:txBody>
      </p:sp>
      <p:sp>
        <p:nvSpPr>
          <p:cNvPr id="235" name="Shape 54"/>
          <p:cNvSpPr/>
          <p:nvPr/>
        </p:nvSpPr>
        <p:spPr>
          <a:xfrm>
            <a:off x="182880" y="3877054"/>
            <a:ext cx="1298448" cy="841250"/>
          </a:xfrm>
          <a:prstGeom prst="rect">
            <a:avLst/>
          </a:prstGeom>
          <a:solidFill>
            <a:srgbClr val="0099A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6" name="Text 55"/>
          <p:cNvSpPr txBox="1"/>
          <p:nvPr/>
        </p:nvSpPr>
        <p:spPr>
          <a:xfrm>
            <a:off x="182880" y="4146594"/>
            <a:ext cx="1298448" cy="302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SERVING</a:t>
            </a:r>
          </a:p>
          <a:p>
            <a:pPr algn="ctr">
              <a:defRPr b="1"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API + BI</a:t>
            </a:r>
          </a:p>
        </p:txBody>
      </p:sp>
      <p:sp>
        <p:nvSpPr>
          <p:cNvPr id="237" name="Shape 56"/>
          <p:cNvSpPr/>
          <p:nvPr/>
        </p:nvSpPr>
        <p:spPr>
          <a:xfrm>
            <a:off x="1554479" y="3877054"/>
            <a:ext cx="3474722" cy="841250"/>
          </a:xfrm>
          <a:prstGeom prst="rect">
            <a:avLst/>
          </a:prstGeom>
          <a:solidFill>
            <a:srgbClr val="EEF3F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8" name="Text 57"/>
          <p:cNvSpPr txBox="1"/>
          <p:nvPr/>
        </p:nvSpPr>
        <p:spPr>
          <a:xfrm>
            <a:off x="1627632" y="3941571"/>
            <a:ext cx="332841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FastAPI reads aml_full_results.json (static file)</a:t>
            </a:r>
          </a:p>
        </p:txBody>
      </p:sp>
      <p:sp>
        <p:nvSpPr>
          <p:cNvPr id="239" name="Text 58"/>
          <p:cNvSpPr txBox="1"/>
          <p:nvPr/>
        </p:nvSpPr>
        <p:spPr>
          <a:xfrm>
            <a:off x="1627632" y="4133596"/>
            <a:ext cx="332841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dashboard.html served as FileResponse</a:t>
            </a:r>
          </a:p>
        </p:txBody>
      </p:sp>
      <p:sp>
        <p:nvSpPr>
          <p:cNvPr id="240" name="Text 59"/>
          <p:cNvSpPr txBox="1"/>
          <p:nvPr/>
        </p:nvSpPr>
        <p:spPr>
          <a:xfrm>
            <a:off x="1627632" y="4325620"/>
            <a:ext cx="332841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No live query — results are pre-computed batch</a:t>
            </a:r>
          </a:p>
        </p:txBody>
      </p:sp>
      <p:sp>
        <p:nvSpPr>
          <p:cNvPr id="241" name="Text 60"/>
          <p:cNvSpPr txBox="1"/>
          <p:nvPr/>
        </p:nvSpPr>
        <p:spPr>
          <a:xfrm>
            <a:off x="1627632" y="4517644"/>
            <a:ext cx="332841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localhost:8000 only</a:t>
            </a:r>
          </a:p>
        </p:txBody>
      </p:sp>
      <p:sp>
        <p:nvSpPr>
          <p:cNvPr id="242" name="Shape 61"/>
          <p:cNvSpPr/>
          <p:nvPr/>
        </p:nvSpPr>
        <p:spPr>
          <a:xfrm>
            <a:off x="5102352" y="3877054"/>
            <a:ext cx="3858770" cy="841250"/>
          </a:xfrm>
          <a:prstGeom prst="rect">
            <a:avLst/>
          </a:prstGeom>
          <a:solidFill>
            <a:srgbClr val="EEF3F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3" name="Shape 62"/>
          <p:cNvSpPr/>
          <p:nvPr/>
        </p:nvSpPr>
        <p:spPr>
          <a:xfrm>
            <a:off x="5102352" y="3877054"/>
            <a:ext cx="54866" cy="841250"/>
          </a:xfrm>
          <a:prstGeom prst="rect">
            <a:avLst/>
          </a:prstGeom>
          <a:solidFill>
            <a:srgbClr val="0078D4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4" name="Text 63"/>
          <p:cNvSpPr txBox="1"/>
          <p:nvPr/>
        </p:nvSpPr>
        <p:spPr>
          <a:xfrm>
            <a:off x="5212079" y="3941571"/>
            <a:ext cx="369417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0078D4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Databricks SQL Warehouse — live DirectQuery on Gold Delta</a:t>
            </a:r>
          </a:p>
        </p:txBody>
      </p:sp>
      <p:sp>
        <p:nvSpPr>
          <p:cNvPr id="245" name="Text 64"/>
          <p:cNvSpPr txBox="1"/>
          <p:nvPr/>
        </p:nvSpPr>
        <p:spPr>
          <a:xfrm>
            <a:off x="5212079" y="4133596"/>
            <a:ext cx="369417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0078D4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Power BI Premium connected via Partner Connect</a:t>
            </a:r>
          </a:p>
        </p:txBody>
      </p:sp>
      <p:sp>
        <p:nvSpPr>
          <p:cNvPr id="246" name="Text 65"/>
          <p:cNvSpPr txBox="1"/>
          <p:nvPr/>
        </p:nvSpPr>
        <p:spPr>
          <a:xfrm>
            <a:off x="5212079" y="4325620"/>
            <a:ext cx="369417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0078D4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REST endpoint via Databricks Model Serving</a:t>
            </a:r>
          </a:p>
        </p:txBody>
      </p:sp>
      <p:sp>
        <p:nvSpPr>
          <p:cNvPr id="247" name="Text 66"/>
          <p:cNvSpPr txBox="1"/>
          <p:nvPr/>
        </p:nvSpPr>
        <p:spPr>
          <a:xfrm>
            <a:off x="5212079" y="4517644"/>
            <a:ext cx="369417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0078D4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Azure API Management gateway for auth + rate limiting</a:t>
            </a:r>
          </a:p>
        </p:txBody>
      </p:sp>
      <p:sp>
        <p:nvSpPr>
          <p:cNvPr id="248" name="Shape 67"/>
          <p:cNvSpPr/>
          <p:nvPr/>
        </p:nvSpPr>
        <p:spPr>
          <a:xfrm>
            <a:off x="182879" y="4791454"/>
            <a:ext cx="8778242" cy="164594"/>
          </a:xfrm>
          <a:prstGeom prst="rect">
            <a:avLst/>
          </a:prstGeom>
          <a:solidFill>
            <a:srgbClr val="0A1628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9" name="Text 68"/>
          <p:cNvSpPr txBox="1"/>
          <p:nvPr/>
        </p:nvSpPr>
        <p:spPr>
          <a:xfrm>
            <a:off x="228600" y="4810252"/>
            <a:ext cx="86868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7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DATA GOVERNANCE:  Completeness — null thresholds enforced  ·  Uniqueness — dedup by txn_id  ·  Accuracy — country code lookup  ·  Lineage — Unity Catalog + AILineageTracker</a:t>
            </a:r>
          </a:p>
        </p:txBody>
      </p:sp>
      <p:sp>
        <p:nvSpPr>
          <p:cNvPr id="250" name="Text 69"/>
          <p:cNvSpPr txBox="1"/>
          <p:nvPr/>
        </p:nvSpPr>
        <p:spPr>
          <a:xfrm>
            <a:off x="0" y="4999988"/>
            <a:ext cx="91440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8899BB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CONFIDENTIAL  |  NTT DATA  |  GenAI AML Risk Workshop 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Shape 0"/>
          <p:cNvSpPr/>
          <p:nvPr/>
        </p:nvSpPr>
        <p:spPr>
          <a:xfrm>
            <a:off x="0" y="-1"/>
            <a:ext cx="9144000" cy="658370"/>
          </a:xfrm>
          <a:prstGeom prst="rect">
            <a:avLst/>
          </a:prstGeom>
          <a:solidFill>
            <a:srgbClr val="0A1628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3" name="Text 1"/>
          <p:cNvSpPr txBox="1"/>
          <p:nvPr/>
        </p:nvSpPr>
        <p:spPr>
          <a:xfrm>
            <a:off x="274319" y="204813"/>
            <a:ext cx="6217923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LLD — RAG Pipeline</a:t>
            </a:r>
          </a:p>
        </p:txBody>
      </p:sp>
      <p:sp>
        <p:nvSpPr>
          <p:cNvPr id="254" name="Text 2"/>
          <p:cNvSpPr txBox="1"/>
          <p:nvPr/>
        </p:nvSpPr>
        <p:spPr>
          <a:xfrm>
            <a:off x="6492240" y="178097"/>
            <a:ext cx="2514602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F5A623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Offline Indexing &amp; Online Retrieval  ·  Local vs Databricks Enterprise</a:t>
            </a:r>
          </a:p>
        </p:txBody>
      </p:sp>
      <p:sp>
        <p:nvSpPr>
          <p:cNvPr id="255" name="Shape 3"/>
          <p:cNvSpPr/>
          <p:nvPr/>
        </p:nvSpPr>
        <p:spPr>
          <a:xfrm>
            <a:off x="0" y="658367"/>
            <a:ext cx="9144000" cy="201171"/>
          </a:xfrm>
          <a:prstGeom prst="rect">
            <a:avLst/>
          </a:prstGeom>
          <a:solidFill>
            <a:srgbClr val="1E2E44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6" name="Shape 4"/>
          <p:cNvSpPr/>
          <p:nvPr/>
        </p:nvSpPr>
        <p:spPr>
          <a:xfrm>
            <a:off x="5394959" y="704087"/>
            <a:ext cx="128018" cy="109730"/>
          </a:xfrm>
          <a:prstGeom prst="rect">
            <a:avLst/>
          </a:prstGeom>
          <a:solidFill>
            <a:srgbClr val="E8251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7" name="Text 5"/>
          <p:cNvSpPr txBox="1"/>
          <p:nvPr/>
        </p:nvSpPr>
        <p:spPr>
          <a:xfrm>
            <a:off x="5559552" y="700023"/>
            <a:ext cx="16916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= Databricks native service</a:t>
            </a:r>
          </a:p>
        </p:txBody>
      </p:sp>
      <p:sp>
        <p:nvSpPr>
          <p:cNvPr id="258" name="Shape 6"/>
          <p:cNvSpPr/>
          <p:nvPr/>
        </p:nvSpPr>
        <p:spPr>
          <a:xfrm>
            <a:off x="7315200" y="704087"/>
            <a:ext cx="128016" cy="109730"/>
          </a:xfrm>
          <a:prstGeom prst="rect">
            <a:avLst/>
          </a:prstGeom>
          <a:solidFill>
            <a:srgbClr val="0078D4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9" name="Text 7"/>
          <p:cNvSpPr txBox="1"/>
          <p:nvPr/>
        </p:nvSpPr>
        <p:spPr>
          <a:xfrm>
            <a:off x="7479792" y="700023"/>
            <a:ext cx="157277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= Azure managed service</a:t>
            </a:r>
          </a:p>
        </p:txBody>
      </p:sp>
      <p:sp>
        <p:nvSpPr>
          <p:cNvPr id="260" name="Text 8"/>
          <p:cNvSpPr txBox="1"/>
          <p:nvPr/>
        </p:nvSpPr>
        <p:spPr>
          <a:xfrm>
            <a:off x="3840479" y="700023"/>
            <a:ext cx="15087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800">
                <a:solidFill>
                  <a:srgbClr val="AABBCC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Enterprise colour coding:</a:t>
            </a:r>
          </a:p>
        </p:txBody>
      </p:sp>
      <p:sp>
        <p:nvSpPr>
          <p:cNvPr id="261" name="Shape 9"/>
          <p:cNvSpPr/>
          <p:nvPr/>
        </p:nvSpPr>
        <p:spPr>
          <a:xfrm>
            <a:off x="182880" y="886966"/>
            <a:ext cx="4297680" cy="292610"/>
          </a:xfrm>
          <a:prstGeom prst="rect">
            <a:avLst/>
          </a:prstGeom>
          <a:solidFill>
            <a:srgbClr val="005577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2" name="Text 10"/>
          <p:cNvSpPr txBox="1"/>
          <p:nvPr/>
        </p:nvSpPr>
        <p:spPr>
          <a:xfrm>
            <a:off x="182880" y="969771"/>
            <a:ext cx="429768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OFFLINE — Document Indexing (run once)</a:t>
            </a:r>
          </a:p>
        </p:txBody>
      </p:sp>
      <p:sp>
        <p:nvSpPr>
          <p:cNvPr id="263" name="Shape 11"/>
          <p:cNvSpPr/>
          <p:nvPr/>
        </p:nvSpPr>
        <p:spPr>
          <a:xfrm>
            <a:off x="4645152" y="886966"/>
            <a:ext cx="4315970" cy="292610"/>
          </a:xfrm>
          <a:prstGeom prst="rect">
            <a:avLst/>
          </a:prstGeom>
          <a:solidFill>
            <a:srgbClr val="2277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4" name="Text 12"/>
          <p:cNvSpPr txBox="1"/>
          <p:nvPr/>
        </p:nvSpPr>
        <p:spPr>
          <a:xfrm>
            <a:off x="4645152" y="969771"/>
            <a:ext cx="431597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ONLINE — Retrieval at Inference (per transaction)</a:t>
            </a:r>
          </a:p>
        </p:txBody>
      </p:sp>
      <p:sp>
        <p:nvSpPr>
          <p:cNvPr id="265" name="Shape 13"/>
          <p:cNvSpPr/>
          <p:nvPr/>
        </p:nvSpPr>
        <p:spPr>
          <a:xfrm>
            <a:off x="182879" y="1115566"/>
            <a:ext cx="804674" cy="713234"/>
          </a:xfrm>
          <a:prstGeom prst="rect">
            <a:avLst/>
          </a:prstGeom>
          <a:solidFill>
            <a:srgbClr val="334466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6" name="Text 14"/>
          <p:cNvSpPr txBox="1"/>
          <p:nvPr/>
        </p:nvSpPr>
        <p:spPr>
          <a:xfrm>
            <a:off x="182879" y="1408683"/>
            <a:ext cx="80467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INPUT</a:t>
            </a:r>
          </a:p>
        </p:txBody>
      </p:sp>
      <p:sp>
        <p:nvSpPr>
          <p:cNvPr id="267" name="Shape 15"/>
          <p:cNvSpPr/>
          <p:nvPr/>
        </p:nvSpPr>
        <p:spPr>
          <a:xfrm>
            <a:off x="1060702" y="1115566"/>
            <a:ext cx="1737362" cy="713234"/>
          </a:xfrm>
          <a:prstGeom prst="rect">
            <a:avLst/>
          </a:prstGeom>
          <a:solidFill>
            <a:srgbClr val="F5F0E8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8" name="Text 16"/>
          <p:cNvSpPr txBox="1"/>
          <p:nvPr/>
        </p:nvSpPr>
        <p:spPr>
          <a:xfrm>
            <a:off x="1115566" y="1356395"/>
            <a:ext cx="1645923" cy="231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800">
                <a:solidFill>
                  <a:srgbClr val="665544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4 AML policy docs as Python list (policy_docs[])</a:t>
            </a:r>
          </a:p>
        </p:txBody>
      </p:sp>
      <p:sp>
        <p:nvSpPr>
          <p:cNvPr id="269" name="Shape 17"/>
          <p:cNvSpPr/>
          <p:nvPr/>
        </p:nvSpPr>
        <p:spPr>
          <a:xfrm>
            <a:off x="2852927" y="1115566"/>
            <a:ext cx="1737363" cy="713234"/>
          </a:xfrm>
          <a:prstGeom prst="rect">
            <a:avLst/>
          </a:prstGeom>
          <a:solidFill>
            <a:srgbClr val="EAF4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0" name="Shape 18"/>
          <p:cNvSpPr/>
          <p:nvPr/>
        </p:nvSpPr>
        <p:spPr>
          <a:xfrm>
            <a:off x="2852927" y="1115566"/>
            <a:ext cx="45722" cy="713234"/>
          </a:xfrm>
          <a:prstGeom prst="rect">
            <a:avLst/>
          </a:prstGeom>
          <a:solidFill>
            <a:srgbClr val="E8251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1" name="Text 19"/>
          <p:cNvSpPr txBox="1"/>
          <p:nvPr/>
        </p:nvSpPr>
        <p:spPr>
          <a:xfrm>
            <a:off x="2944366" y="1356395"/>
            <a:ext cx="1609346" cy="231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E825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Azure Blob Storage / SharePoint → ingestion pipeline</a:t>
            </a:r>
          </a:p>
        </p:txBody>
      </p:sp>
      <p:sp>
        <p:nvSpPr>
          <p:cNvPr id="272" name="Shape 20"/>
          <p:cNvSpPr/>
          <p:nvPr/>
        </p:nvSpPr>
        <p:spPr>
          <a:xfrm>
            <a:off x="4617720" y="1207008"/>
            <a:ext cx="45722" cy="530353"/>
          </a:xfrm>
          <a:prstGeom prst="rect">
            <a:avLst/>
          </a:prstGeom>
          <a:solidFill>
            <a:srgbClr val="CCCCC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3" name="Shape 21"/>
          <p:cNvSpPr/>
          <p:nvPr/>
        </p:nvSpPr>
        <p:spPr>
          <a:xfrm>
            <a:off x="4718303" y="1115566"/>
            <a:ext cx="1737362" cy="713234"/>
          </a:xfrm>
          <a:prstGeom prst="rect">
            <a:avLst/>
          </a:prstGeom>
          <a:solidFill>
            <a:srgbClr val="F5F0E8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4" name="Text 22"/>
          <p:cNvSpPr txBox="1"/>
          <p:nvPr/>
        </p:nvSpPr>
        <p:spPr>
          <a:xfrm>
            <a:off x="4773167" y="1356395"/>
            <a:ext cx="1645923" cy="231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800">
                <a:solidFill>
                  <a:srgbClr val="665544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Query string built from txn fields in Python</a:t>
            </a:r>
          </a:p>
        </p:txBody>
      </p:sp>
      <p:sp>
        <p:nvSpPr>
          <p:cNvPr id="275" name="Shape 23"/>
          <p:cNvSpPr/>
          <p:nvPr/>
        </p:nvSpPr>
        <p:spPr>
          <a:xfrm>
            <a:off x="6510528" y="1115566"/>
            <a:ext cx="2450594" cy="713234"/>
          </a:xfrm>
          <a:prstGeom prst="rect">
            <a:avLst/>
          </a:prstGeom>
          <a:solidFill>
            <a:srgbClr val="EAF4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6" name="Shape 24"/>
          <p:cNvSpPr/>
          <p:nvPr/>
        </p:nvSpPr>
        <p:spPr>
          <a:xfrm>
            <a:off x="6510528" y="1115566"/>
            <a:ext cx="45722" cy="713234"/>
          </a:xfrm>
          <a:prstGeom prst="rect">
            <a:avLst/>
          </a:prstGeom>
          <a:solidFill>
            <a:srgbClr val="E8251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7" name="Text 25"/>
          <p:cNvSpPr txBox="1"/>
          <p:nvPr/>
        </p:nvSpPr>
        <p:spPr>
          <a:xfrm>
            <a:off x="6601968" y="1356395"/>
            <a:ext cx="2322578" cy="231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E825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Structured NL query from transaction JSON via prompt template</a:t>
            </a:r>
          </a:p>
        </p:txBody>
      </p:sp>
      <p:sp>
        <p:nvSpPr>
          <p:cNvPr id="278" name="Shape 26"/>
          <p:cNvSpPr/>
          <p:nvPr/>
        </p:nvSpPr>
        <p:spPr>
          <a:xfrm>
            <a:off x="182879" y="1901950"/>
            <a:ext cx="804674" cy="713234"/>
          </a:xfrm>
          <a:prstGeom prst="rect">
            <a:avLst/>
          </a:prstGeom>
          <a:solidFill>
            <a:srgbClr val="334466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9" name="Text 27"/>
          <p:cNvSpPr txBox="1"/>
          <p:nvPr/>
        </p:nvSpPr>
        <p:spPr>
          <a:xfrm>
            <a:off x="182879" y="2195066"/>
            <a:ext cx="80467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EMBEDDING</a:t>
            </a:r>
          </a:p>
        </p:txBody>
      </p:sp>
      <p:sp>
        <p:nvSpPr>
          <p:cNvPr id="280" name="Shape 28"/>
          <p:cNvSpPr/>
          <p:nvPr/>
        </p:nvSpPr>
        <p:spPr>
          <a:xfrm>
            <a:off x="1060702" y="1901950"/>
            <a:ext cx="1737362" cy="713234"/>
          </a:xfrm>
          <a:prstGeom prst="rect">
            <a:avLst/>
          </a:prstGeom>
          <a:solidFill>
            <a:srgbClr val="F5F0E8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1" name="Text 29"/>
          <p:cNvSpPr txBox="1"/>
          <p:nvPr/>
        </p:nvSpPr>
        <p:spPr>
          <a:xfrm>
            <a:off x="1115566" y="2142779"/>
            <a:ext cx="1645923" cy="231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800">
                <a:solidFill>
                  <a:srgbClr val="665544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SentenceTransformer MiniLM-L6-v2 (local CPU, ~80MB)</a:t>
            </a:r>
          </a:p>
        </p:txBody>
      </p:sp>
      <p:sp>
        <p:nvSpPr>
          <p:cNvPr id="282" name="Shape 30"/>
          <p:cNvSpPr/>
          <p:nvPr/>
        </p:nvSpPr>
        <p:spPr>
          <a:xfrm>
            <a:off x="2852927" y="1901950"/>
            <a:ext cx="1737363" cy="713234"/>
          </a:xfrm>
          <a:prstGeom prst="rect">
            <a:avLst/>
          </a:prstGeom>
          <a:solidFill>
            <a:srgbClr val="EAF4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3" name="Shape 31"/>
          <p:cNvSpPr/>
          <p:nvPr/>
        </p:nvSpPr>
        <p:spPr>
          <a:xfrm>
            <a:off x="2852927" y="1901950"/>
            <a:ext cx="45722" cy="713234"/>
          </a:xfrm>
          <a:prstGeom prst="rect">
            <a:avLst/>
          </a:prstGeom>
          <a:solidFill>
            <a:srgbClr val="E8251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4" name="Text 32"/>
          <p:cNvSpPr txBox="1"/>
          <p:nvPr/>
        </p:nvSpPr>
        <p:spPr>
          <a:xfrm>
            <a:off x="2944366" y="2142779"/>
            <a:ext cx="1609346" cy="231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E825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Azure OpenAI Ada-002 API (1536-dim, managed, SLA-backed)</a:t>
            </a:r>
          </a:p>
        </p:txBody>
      </p:sp>
      <p:sp>
        <p:nvSpPr>
          <p:cNvPr id="285" name="Shape 33"/>
          <p:cNvSpPr/>
          <p:nvPr/>
        </p:nvSpPr>
        <p:spPr>
          <a:xfrm>
            <a:off x="4617720" y="1993392"/>
            <a:ext cx="45722" cy="530354"/>
          </a:xfrm>
          <a:prstGeom prst="rect">
            <a:avLst/>
          </a:prstGeom>
          <a:solidFill>
            <a:srgbClr val="CCCCC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6" name="Shape 34"/>
          <p:cNvSpPr/>
          <p:nvPr/>
        </p:nvSpPr>
        <p:spPr>
          <a:xfrm>
            <a:off x="4718303" y="1901950"/>
            <a:ext cx="1737362" cy="713234"/>
          </a:xfrm>
          <a:prstGeom prst="rect">
            <a:avLst/>
          </a:prstGeom>
          <a:solidFill>
            <a:srgbClr val="F5F0E8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7" name="Text 35"/>
          <p:cNvSpPr txBox="1"/>
          <p:nvPr/>
        </p:nvSpPr>
        <p:spPr>
          <a:xfrm>
            <a:off x="4773167" y="2142779"/>
            <a:ext cx="1645923" cy="231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800">
                <a:solidFill>
                  <a:srgbClr val="665544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Same MiniLM model per query (CPU inference, ~5ms)</a:t>
            </a:r>
          </a:p>
        </p:txBody>
      </p:sp>
      <p:sp>
        <p:nvSpPr>
          <p:cNvPr id="288" name="Shape 36"/>
          <p:cNvSpPr/>
          <p:nvPr/>
        </p:nvSpPr>
        <p:spPr>
          <a:xfrm>
            <a:off x="6510528" y="1901950"/>
            <a:ext cx="2450594" cy="713234"/>
          </a:xfrm>
          <a:prstGeom prst="rect">
            <a:avLst/>
          </a:prstGeom>
          <a:solidFill>
            <a:srgbClr val="EAF4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9" name="Shape 37"/>
          <p:cNvSpPr/>
          <p:nvPr/>
        </p:nvSpPr>
        <p:spPr>
          <a:xfrm>
            <a:off x="6510528" y="1901950"/>
            <a:ext cx="45722" cy="713234"/>
          </a:xfrm>
          <a:prstGeom prst="rect">
            <a:avLst/>
          </a:prstGeom>
          <a:solidFill>
            <a:srgbClr val="E8251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0" name="Text 38"/>
          <p:cNvSpPr txBox="1"/>
          <p:nvPr/>
        </p:nvSpPr>
        <p:spPr>
          <a:xfrm>
            <a:off x="6601968" y="2142779"/>
            <a:ext cx="2322578" cy="231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E825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Same Ada-002 endpoint — consistent vector space guaranteed</a:t>
            </a:r>
          </a:p>
        </p:txBody>
      </p:sp>
      <p:sp>
        <p:nvSpPr>
          <p:cNvPr id="291" name="Shape 39"/>
          <p:cNvSpPr/>
          <p:nvPr/>
        </p:nvSpPr>
        <p:spPr>
          <a:xfrm>
            <a:off x="182879" y="2688334"/>
            <a:ext cx="804674" cy="713234"/>
          </a:xfrm>
          <a:prstGeom prst="rect">
            <a:avLst/>
          </a:prstGeom>
          <a:solidFill>
            <a:srgbClr val="334466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2" name="Text 40"/>
          <p:cNvSpPr txBox="1"/>
          <p:nvPr/>
        </p:nvSpPr>
        <p:spPr>
          <a:xfrm>
            <a:off x="182879" y="2917864"/>
            <a:ext cx="804674" cy="254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9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INDEX /</a:t>
            </a:r>
          </a:p>
          <a:p>
            <a:pPr algn="ctr">
              <a:defRPr b="1" sz="9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STORE</a:t>
            </a:r>
          </a:p>
        </p:txBody>
      </p:sp>
      <p:sp>
        <p:nvSpPr>
          <p:cNvPr id="293" name="Shape 41"/>
          <p:cNvSpPr/>
          <p:nvPr/>
        </p:nvSpPr>
        <p:spPr>
          <a:xfrm>
            <a:off x="1060702" y="2688334"/>
            <a:ext cx="1737362" cy="713234"/>
          </a:xfrm>
          <a:prstGeom prst="rect">
            <a:avLst/>
          </a:prstGeom>
          <a:solidFill>
            <a:srgbClr val="F5F0E8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4" name="Text 42"/>
          <p:cNvSpPr txBox="1"/>
          <p:nvPr/>
        </p:nvSpPr>
        <p:spPr>
          <a:xfrm>
            <a:off x="1115566" y="2929163"/>
            <a:ext cx="1645923" cy="231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800">
                <a:solidFill>
                  <a:srgbClr val="665544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faiss.IndexFlatL2(384) built in-memory — lost on restart</a:t>
            </a:r>
          </a:p>
        </p:txBody>
      </p:sp>
      <p:sp>
        <p:nvSpPr>
          <p:cNvPr id="295" name="Shape 43"/>
          <p:cNvSpPr/>
          <p:nvPr/>
        </p:nvSpPr>
        <p:spPr>
          <a:xfrm>
            <a:off x="2852927" y="2688334"/>
            <a:ext cx="1737363" cy="713234"/>
          </a:xfrm>
          <a:prstGeom prst="rect">
            <a:avLst/>
          </a:prstGeom>
          <a:solidFill>
            <a:srgbClr val="EAF4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6" name="Shape 44"/>
          <p:cNvSpPr/>
          <p:nvPr/>
        </p:nvSpPr>
        <p:spPr>
          <a:xfrm>
            <a:off x="2852927" y="2688334"/>
            <a:ext cx="45722" cy="713234"/>
          </a:xfrm>
          <a:prstGeom prst="rect">
            <a:avLst/>
          </a:prstGeom>
          <a:solidFill>
            <a:srgbClr val="E8251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7" name="Text 45"/>
          <p:cNvSpPr txBox="1"/>
          <p:nvPr/>
        </p:nvSpPr>
        <p:spPr>
          <a:xfrm>
            <a:off x="2944366" y="2929163"/>
            <a:ext cx="1609346" cy="231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E825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Databricks Vector Search — persistent, versioned, auto-scaled</a:t>
            </a:r>
          </a:p>
        </p:txBody>
      </p:sp>
      <p:sp>
        <p:nvSpPr>
          <p:cNvPr id="298" name="Shape 46"/>
          <p:cNvSpPr/>
          <p:nvPr/>
        </p:nvSpPr>
        <p:spPr>
          <a:xfrm>
            <a:off x="4617720" y="2779776"/>
            <a:ext cx="45722" cy="530354"/>
          </a:xfrm>
          <a:prstGeom prst="rect">
            <a:avLst/>
          </a:prstGeom>
          <a:solidFill>
            <a:srgbClr val="CCCCC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9" name="Shape 47"/>
          <p:cNvSpPr/>
          <p:nvPr/>
        </p:nvSpPr>
        <p:spPr>
          <a:xfrm>
            <a:off x="4718303" y="2688334"/>
            <a:ext cx="1737362" cy="713234"/>
          </a:xfrm>
          <a:prstGeom prst="rect">
            <a:avLst/>
          </a:prstGeom>
          <a:solidFill>
            <a:srgbClr val="F5F0E8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0" name="Text 48"/>
          <p:cNvSpPr txBox="1"/>
          <p:nvPr/>
        </p:nvSpPr>
        <p:spPr>
          <a:xfrm>
            <a:off x="4773167" y="2929163"/>
            <a:ext cx="1645923" cy="231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800">
                <a:solidFill>
                  <a:srgbClr val="665544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index.search(q_emb, k=2) — brute force L2, 384-dim</a:t>
            </a:r>
          </a:p>
        </p:txBody>
      </p:sp>
      <p:sp>
        <p:nvSpPr>
          <p:cNvPr id="301" name="Shape 49"/>
          <p:cNvSpPr/>
          <p:nvPr/>
        </p:nvSpPr>
        <p:spPr>
          <a:xfrm>
            <a:off x="6510528" y="2688334"/>
            <a:ext cx="2450594" cy="713234"/>
          </a:xfrm>
          <a:prstGeom prst="rect">
            <a:avLst/>
          </a:prstGeom>
          <a:solidFill>
            <a:srgbClr val="EAF4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2" name="Shape 50"/>
          <p:cNvSpPr/>
          <p:nvPr/>
        </p:nvSpPr>
        <p:spPr>
          <a:xfrm>
            <a:off x="6510528" y="2688334"/>
            <a:ext cx="45722" cy="713234"/>
          </a:xfrm>
          <a:prstGeom prst="rect">
            <a:avLst/>
          </a:prstGeom>
          <a:solidFill>
            <a:srgbClr val="E8251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3" name="Text 51"/>
          <p:cNvSpPr txBox="1"/>
          <p:nvPr/>
        </p:nvSpPr>
        <p:spPr>
          <a:xfrm>
            <a:off x="6601968" y="2929163"/>
            <a:ext cx="2322578" cy="231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E825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Vector Search REST API with metadata filters + hybrid search</a:t>
            </a:r>
          </a:p>
        </p:txBody>
      </p:sp>
      <p:sp>
        <p:nvSpPr>
          <p:cNvPr id="304" name="Shape 52"/>
          <p:cNvSpPr/>
          <p:nvPr/>
        </p:nvSpPr>
        <p:spPr>
          <a:xfrm>
            <a:off x="182879" y="3474720"/>
            <a:ext cx="804674" cy="713234"/>
          </a:xfrm>
          <a:prstGeom prst="rect">
            <a:avLst/>
          </a:prstGeom>
          <a:solidFill>
            <a:srgbClr val="334466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5" name="Text 53"/>
          <p:cNvSpPr txBox="1"/>
          <p:nvPr/>
        </p:nvSpPr>
        <p:spPr>
          <a:xfrm>
            <a:off x="182879" y="3767835"/>
            <a:ext cx="80467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OUTPUT</a:t>
            </a:r>
          </a:p>
        </p:txBody>
      </p:sp>
      <p:sp>
        <p:nvSpPr>
          <p:cNvPr id="306" name="Shape 54"/>
          <p:cNvSpPr/>
          <p:nvPr/>
        </p:nvSpPr>
        <p:spPr>
          <a:xfrm>
            <a:off x="1060702" y="3474720"/>
            <a:ext cx="1737362" cy="713234"/>
          </a:xfrm>
          <a:prstGeom prst="rect">
            <a:avLst/>
          </a:prstGeom>
          <a:solidFill>
            <a:srgbClr val="F5F0E8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7" name="Text 55"/>
          <p:cNvSpPr txBox="1"/>
          <p:nvPr/>
        </p:nvSpPr>
        <p:spPr>
          <a:xfrm>
            <a:off x="1115566" y="3715548"/>
            <a:ext cx="1645923" cy="231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800">
                <a:solidFill>
                  <a:srgbClr val="665544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Top-2 policy strings returned from list by index</a:t>
            </a:r>
          </a:p>
        </p:txBody>
      </p:sp>
      <p:sp>
        <p:nvSpPr>
          <p:cNvPr id="308" name="Shape 56"/>
          <p:cNvSpPr/>
          <p:nvPr/>
        </p:nvSpPr>
        <p:spPr>
          <a:xfrm>
            <a:off x="2852927" y="3474720"/>
            <a:ext cx="1737363" cy="713234"/>
          </a:xfrm>
          <a:prstGeom prst="rect">
            <a:avLst/>
          </a:prstGeom>
          <a:solidFill>
            <a:srgbClr val="EAF4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9" name="Shape 57"/>
          <p:cNvSpPr/>
          <p:nvPr/>
        </p:nvSpPr>
        <p:spPr>
          <a:xfrm>
            <a:off x="2852927" y="3474720"/>
            <a:ext cx="45722" cy="713234"/>
          </a:xfrm>
          <a:prstGeom prst="rect">
            <a:avLst/>
          </a:prstGeom>
          <a:solidFill>
            <a:srgbClr val="E8251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0" name="Text 58"/>
          <p:cNvSpPr txBox="1"/>
          <p:nvPr/>
        </p:nvSpPr>
        <p:spPr>
          <a:xfrm>
            <a:off x="2944366" y="3715548"/>
            <a:ext cx="1609346" cy="231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E825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Top-k chunks + source doc metadata + confidence score</a:t>
            </a:r>
          </a:p>
        </p:txBody>
      </p:sp>
      <p:sp>
        <p:nvSpPr>
          <p:cNvPr id="311" name="Shape 59"/>
          <p:cNvSpPr/>
          <p:nvPr/>
        </p:nvSpPr>
        <p:spPr>
          <a:xfrm>
            <a:off x="4617720" y="3566159"/>
            <a:ext cx="45722" cy="530354"/>
          </a:xfrm>
          <a:prstGeom prst="rect">
            <a:avLst/>
          </a:prstGeom>
          <a:solidFill>
            <a:srgbClr val="CCCCC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2" name="Shape 60"/>
          <p:cNvSpPr/>
          <p:nvPr/>
        </p:nvSpPr>
        <p:spPr>
          <a:xfrm>
            <a:off x="4718303" y="3474720"/>
            <a:ext cx="1737362" cy="713234"/>
          </a:xfrm>
          <a:prstGeom prst="rect">
            <a:avLst/>
          </a:prstGeom>
          <a:solidFill>
            <a:srgbClr val="F5F0E8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3" name="Text 61"/>
          <p:cNvSpPr txBox="1"/>
          <p:nvPr/>
        </p:nvSpPr>
        <p:spPr>
          <a:xfrm>
            <a:off x="4773167" y="3715548"/>
            <a:ext cx="1645923" cy="231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800">
                <a:solidFill>
                  <a:srgbClr val="665544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Plain text chunks passed to ReasonerAgent as context</a:t>
            </a:r>
          </a:p>
        </p:txBody>
      </p:sp>
      <p:sp>
        <p:nvSpPr>
          <p:cNvPr id="314" name="Shape 62"/>
          <p:cNvSpPr/>
          <p:nvPr/>
        </p:nvSpPr>
        <p:spPr>
          <a:xfrm>
            <a:off x="6510528" y="3474720"/>
            <a:ext cx="2450594" cy="713234"/>
          </a:xfrm>
          <a:prstGeom prst="rect">
            <a:avLst/>
          </a:prstGeom>
          <a:solidFill>
            <a:srgbClr val="EAF4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5" name="Shape 63"/>
          <p:cNvSpPr/>
          <p:nvPr/>
        </p:nvSpPr>
        <p:spPr>
          <a:xfrm>
            <a:off x="6510528" y="3474720"/>
            <a:ext cx="45722" cy="713234"/>
          </a:xfrm>
          <a:prstGeom prst="rect">
            <a:avLst/>
          </a:prstGeom>
          <a:solidFill>
            <a:srgbClr val="E8251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6" name="Text 64"/>
          <p:cNvSpPr txBox="1"/>
          <p:nvPr/>
        </p:nvSpPr>
        <p:spPr>
          <a:xfrm>
            <a:off x="6601968" y="3767835"/>
            <a:ext cx="232257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E825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Structured chunk objects with doc_id, version, score</a:t>
            </a:r>
          </a:p>
        </p:txBody>
      </p:sp>
      <p:sp>
        <p:nvSpPr>
          <p:cNvPr id="317" name="Text 65"/>
          <p:cNvSpPr txBox="1"/>
          <p:nvPr/>
        </p:nvSpPr>
        <p:spPr>
          <a:xfrm>
            <a:off x="1060702" y="1024636"/>
            <a:ext cx="17373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7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Now (Local)</a:t>
            </a:r>
          </a:p>
        </p:txBody>
      </p:sp>
      <p:sp>
        <p:nvSpPr>
          <p:cNvPr id="318" name="Text 66"/>
          <p:cNvSpPr txBox="1"/>
          <p:nvPr/>
        </p:nvSpPr>
        <p:spPr>
          <a:xfrm>
            <a:off x="2852927" y="1024636"/>
            <a:ext cx="173736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700">
                <a:solidFill>
                  <a:srgbClr val="E825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Enterprise</a:t>
            </a:r>
          </a:p>
        </p:txBody>
      </p:sp>
      <p:sp>
        <p:nvSpPr>
          <p:cNvPr id="319" name="Text 67"/>
          <p:cNvSpPr txBox="1"/>
          <p:nvPr/>
        </p:nvSpPr>
        <p:spPr>
          <a:xfrm>
            <a:off x="4718303" y="1024636"/>
            <a:ext cx="17373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7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Now (Local)</a:t>
            </a:r>
          </a:p>
        </p:txBody>
      </p:sp>
      <p:sp>
        <p:nvSpPr>
          <p:cNvPr id="320" name="Text 68"/>
          <p:cNvSpPr txBox="1"/>
          <p:nvPr/>
        </p:nvSpPr>
        <p:spPr>
          <a:xfrm>
            <a:off x="6510528" y="1024636"/>
            <a:ext cx="245059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700">
                <a:solidFill>
                  <a:srgbClr val="E825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Enterprise</a:t>
            </a:r>
          </a:p>
        </p:txBody>
      </p:sp>
      <p:sp>
        <p:nvSpPr>
          <p:cNvPr id="321" name="Shape 69"/>
          <p:cNvSpPr/>
          <p:nvPr/>
        </p:nvSpPr>
        <p:spPr>
          <a:xfrm>
            <a:off x="182879" y="4279391"/>
            <a:ext cx="8778242" cy="530354"/>
          </a:xfrm>
          <a:prstGeom prst="rect">
            <a:avLst/>
          </a:prstGeom>
          <a:solidFill>
            <a:srgbClr val="1E1E2E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2" name="Text 70"/>
          <p:cNvSpPr txBox="1"/>
          <p:nvPr/>
        </p:nvSpPr>
        <p:spPr>
          <a:xfrm>
            <a:off x="274320" y="4297679"/>
            <a:ext cx="85953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700">
                <a:solidFill>
                  <a:srgbClr val="A8D8A8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# LOCAL NOW:</a:t>
            </a:r>
          </a:p>
          <a:p>
            <a:pPr>
              <a:defRPr sz="700">
                <a:solidFill>
                  <a:srgbClr val="A8D8A8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doc_embeddings = model.encode(policy_docs).astype('float32');  index = faiss.IndexFlatL2(384);  index.add(doc_embeddings)</a:t>
            </a:r>
          </a:p>
          <a:p>
            <a:pPr>
              <a:defRPr sz="700">
                <a:solidFill>
                  <a:srgbClr val="A8D8A8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q_emb = model.encode([query]).astype('float32');  _, idx = index.search(q_emb, 2);  return [policy_docs[i] for i in idx[0]]</a:t>
            </a:r>
          </a:p>
        </p:txBody>
      </p:sp>
      <p:sp>
        <p:nvSpPr>
          <p:cNvPr id="323" name="Text 71"/>
          <p:cNvSpPr txBox="1"/>
          <p:nvPr/>
        </p:nvSpPr>
        <p:spPr>
          <a:xfrm>
            <a:off x="0" y="4999988"/>
            <a:ext cx="91440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8899BB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CONFIDENTIAL  |  NTT DATA  |  GenAI AML Risk Workshop 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Shape 0"/>
          <p:cNvSpPr/>
          <p:nvPr/>
        </p:nvSpPr>
        <p:spPr>
          <a:xfrm>
            <a:off x="0" y="-1"/>
            <a:ext cx="9144000" cy="658370"/>
          </a:xfrm>
          <a:prstGeom prst="rect">
            <a:avLst/>
          </a:prstGeom>
          <a:solidFill>
            <a:srgbClr val="0A1628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6" name="Text 1"/>
          <p:cNvSpPr txBox="1"/>
          <p:nvPr/>
        </p:nvSpPr>
        <p:spPr>
          <a:xfrm>
            <a:off x="274319" y="204813"/>
            <a:ext cx="6217923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LLD — Multi-Agent MCP System</a:t>
            </a:r>
          </a:p>
        </p:txBody>
      </p:sp>
      <p:sp>
        <p:nvSpPr>
          <p:cNvPr id="327" name="Text 2"/>
          <p:cNvSpPr txBox="1"/>
          <p:nvPr/>
        </p:nvSpPr>
        <p:spPr>
          <a:xfrm>
            <a:off x="6492240" y="178097"/>
            <a:ext cx="2514602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F5A623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MCP Orchestration Architecture  ·  Local vs Enterprise Components</a:t>
            </a:r>
          </a:p>
        </p:txBody>
      </p:sp>
      <p:sp>
        <p:nvSpPr>
          <p:cNvPr id="328" name="Shape 3"/>
          <p:cNvSpPr/>
          <p:nvPr/>
        </p:nvSpPr>
        <p:spPr>
          <a:xfrm>
            <a:off x="0" y="658367"/>
            <a:ext cx="9144000" cy="201171"/>
          </a:xfrm>
          <a:prstGeom prst="rect">
            <a:avLst/>
          </a:prstGeom>
          <a:solidFill>
            <a:srgbClr val="1E2E44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9" name="Shape 4"/>
          <p:cNvSpPr/>
          <p:nvPr/>
        </p:nvSpPr>
        <p:spPr>
          <a:xfrm>
            <a:off x="5394959" y="704087"/>
            <a:ext cx="128018" cy="109730"/>
          </a:xfrm>
          <a:prstGeom prst="rect">
            <a:avLst/>
          </a:prstGeom>
          <a:solidFill>
            <a:srgbClr val="E8251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0" name="Text 5"/>
          <p:cNvSpPr txBox="1"/>
          <p:nvPr/>
        </p:nvSpPr>
        <p:spPr>
          <a:xfrm>
            <a:off x="5559552" y="700023"/>
            <a:ext cx="16916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= Databricks native service</a:t>
            </a:r>
          </a:p>
        </p:txBody>
      </p:sp>
      <p:sp>
        <p:nvSpPr>
          <p:cNvPr id="331" name="Shape 6"/>
          <p:cNvSpPr/>
          <p:nvPr/>
        </p:nvSpPr>
        <p:spPr>
          <a:xfrm>
            <a:off x="7315200" y="704087"/>
            <a:ext cx="128016" cy="109730"/>
          </a:xfrm>
          <a:prstGeom prst="rect">
            <a:avLst/>
          </a:prstGeom>
          <a:solidFill>
            <a:srgbClr val="0078D4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2" name="Text 7"/>
          <p:cNvSpPr txBox="1"/>
          <p:nvPr/>
        </p:nvSpPr>
        <p:spPr>
          <a:xfrm>
            <a:off x="7479792" y="700023"/>
            <a:ext cx="157277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= Azure managed service</a:t>
            </a:r>
          </a:p>
        </p:txBody>
      </p:sp>
      <p:sp>
        <p:nvSpPr>
          <p:cNvPr id="333" name="Text 8"/>
          <p:cNvSpPr txBox="1"/>
          <p:nvPr/>
        </p:nvSpPr>
        <p:spPr>
          <a:xfrm>
            <a:off x="3840479" y="700023"/>
            <a:ext cx="15087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800">
                <a:solidFill>
                  <a:srgbClr val="AABBCC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Enterprise colour coding:</a:t>
            </a:r>
          </a:p>
        </p:txBody>
      </p:sp>
      <p:sp>
        <p:nvSpPr>
          <p:cNvPr id="334" name="Shape 9"/>
          <p:cNvSpPr/>
          <p:nvPr/>
        </p:nvSpPr>
        <p:spPr>
          <a:xfrm>
            <a:off x="182880" y="886966"/>
            <a:ext cx="1417320" cy="292610"/>
          </a:xfrm>
          <a:prstGeom prst="rect">
            <a:avLst/>
          </a:prstGeom>
          <a:solidFill>
            <a:srgbClr val="0A1628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5" name="Text 10"/>
          <p:cNvSpPr txBox="1"/>
          <p:nvPr/>
        </p:nvSpPr>
        <p:spPr>
          <a:xfrm>
            <a:off x="182880" y="969771"/>
            <a:ext cx="141732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COMPONENT</a:t>
            </a:r>
          </a:p>
        </p:txBody>
      </p:sp>
      <p:sp>
        <p:nvSpPr>
          <p:cNvPr id="336" name="Shape 11"/>
          <p:cNvSpPr/>
          <p:nvPr/>
        </p:nvSpPr>
        <p:spPr>
          <a:xfrm>
            <a:off x="1673350" y="886966"/>
            <a:ext cx="3383283" cy="292610"/>
          </a:xfrm>
          <a:prstGeom prst="rect">
            <a:avLst/>
          </a:prstGeom>
          <a:solidFill>
            <a:srgbClr val="334466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7" name="Text 12"/>
          <p:cNvSpPr txBox="1"/>
          <p:nvPr/>
        </p:nvSpPr>
        <p:spPr>
          <a:xfrm>
            <a:off x="1673350" y="969771"/>
            <a:ext cx="338328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LOCAL (Current Implementation)</a:t>
            </a:r>
          </a:p>
        </p:txBody>
      </p:sp>
      <p:sp>
        <p:nvSpPr>
          <p:cNvPr id="338" name="Shape 13"/>
          <p:cNvSpPr/>
          <p:nvPr/>
        </p:nvSpPr>
        <p:spPr>
          <a:xfrm>
            <a:off x="5129784" y="886966"/>
            <a:ext cx="3831338" cy="292610"/>
          </a:xfrm>
          <a:prstGeom prst="rect">
            <a:avLst/>
          </a:prstGeom>
          <a:solidFill>
            <a:srgbClr val="E8251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9" name="Text 14"/>
          <p:cNvSpPr txBox="1"/>
          <p:nvPr/>
        </p:nvSpPr>
        <p:spPr>
          <a:xfrm>
            <a:off x="5129784" y="969771"/>
            <a:ext cx="383133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ENTERPRISE (Databricks Full License)</a:t>
            </a:r>
          </a:p>
        </p:txBody>
      </p:sp>
      <p:sp>
        <p:nvSpPr>
          <p:cNvPr id="340" name="Shape 15"/>
          <p:cNvSpPr/>
          <p:nvPr/>
        </p:nvSpPr>
        <p:spPr>
          <a:xfrm>
            <a:off x="182880" y="1115566"/>
            <a:ext cx="1417320" cy="676658"/>
          </a:xfrm>
          <a:prstGeom prst="rect">
            <a:avLst/>
          </a:prstGeom>
          <a:solidFill>
            <a:srgbClr val="0A1628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1" name="Text 16"/>
          <p:cNvSpPr txBox="1"/>
          <p:nvPr/>
        </p:nvSpPr>
        <p:spPr>
          <a:xfrm>
            <a:off x="182880" y="1326809"/>
            <a:ext cx="1417320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9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SHARED</a:t>
            </a:r>
          </a:p>
          <a:p>
            <a:pPr algn="ctr">
              <a:defRPr b="1" sz="9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CONTEXT</a:t>
            </a:r>
          </a:p>
        </p:txBody>
      </p:sp>
      <p:sp>
        <p:nvSpPr>
          <p:cNvPr id="342" name="Shape 17"/>
          <p:cNvSpPr/>
          <p:nvPr/>
        </p:nvSpPr>
        <p:spPr>
          <a:xfrm>
            <a:off x="1673350" y="1115566"/>
            <a:ext cx="3383283" cy="67665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3" name="Text 18"/>
          <p:cNvSpPr txBox="1"/>
          <p:nvPr/>
        </p:nvSpPr>
        <p:spPr>
          <a:xfrm>
            <a:off x="1737359" y="1161796"/>
            <a:ext cx="325526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7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MCPContext Python class (in-memory dict)</a:t>
            </a:r>
          </a:p>
        </p:txBody>
      </p:sp>
      <p:sp>
        <p:nvSpPr>
          <p:cNvPr id="344" name="Text 19"/>
          <p:cNvSpPr txBox="1"/>
          <p:nvPr/>
        </p:nvSpPr>
        <p:spPr>
          <a:xfrm>
            <a:off x="1737359" y="1321816"/>
            <a:ext cx="325526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7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State passed manually between agent .run() calls</a:t>
            </a:r>
          </a:p>
        </p:txBody>
      </p:sp>
      <p:sp>
        <p:nvSpPr>
          <p:cNvPr id="345" name="Text 20"/>
          <p:cNvSpPr txBox="1"/>
          <p:nvPr/>
        </p:nvSpPr>
        <p:spPr>
          <a:xfrm>
            <a:off x="1737359" y="1481836"/>
            <a:ext cx="325526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7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No persistence — lost if process crashes</a:t>
            </a:r>
          </a:p>
        </p:txBody>
      </p:sp>
      <p:sp>
        <p:nvSpPr>
          <p:cNvPr id="346" name="Text 21"/>
          <p:cNvSpPr txBox="1"/>
          <p:nvPr/>
        </p:nvSpPr>
        <p:spPr>
          <a:xfrm>
            <a:off x="1737359" y="1641855"/>
            <a:ext cx="325526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7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No distributed state support</a:t>
            </a:r>
          </a:p>
        </p:txBody>
      </p:sp>
      <p:sp>
        <p:nvSpPr>
          <p:cNvPr id="347" name="Shape 22"/>
          <p:cNvSpPr/>
          <p:nvPr/>
        </p:nvSpPr>
        <p:spPr>
          <a:xfrm>
            <a:off x="5129784" y="1115566"/>
            <a:ext cx="3831338" cy="67665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8" name="Shape 23"/>
          <p:cNvSpPr/>
          <p:nvPr/>
        </p:nvSpPr>
        <p:spPr>
          <a:xfrm>
            <a:off x="5129784" y="1115566"/>
            <a:ext cx="54866" cy="676658"/>
          </a:xfrm>
          <a:prstGeom prst="rect">
            <a:avLst/>
          </a:prstGeom>
          <a:solidFill>
            <a:srgbClr val="E8251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9" name="Text 24"/>
          <p:cNvSpPr txBox="1"/>
          <p:nvPr/>
        </p:nvSpPr>
        <p:spPr>
          <a:xfrm>
            <a:off x="5248654" y="1161796"/>
            <a:ext cx="36576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700">
                <a:solidFill>
                  <a:srgbClr val="E825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LangGraph StateGraph — durable, typed state</a:t>
            </a:r>
          </a:p>
        </p:txBody>
      </p:sp>
      <p:sp>
        <p:nvSpPr>
          <p:cNvPr id="350" name="Text 25"/>
          <p:cNvSpPr txBox="1"/>
          <p:nvPr/>
        </p:nvSpPr>
        <p:spPr>
          <a:xfrm>
            <a:off x="5248654" y="1321816"/>
            <a:ext cx="36576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700">
                <a:solidFill>
                  <a:srgbClr val="E825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Checkpoint persistence via Databricks Workflows</a:t>
            </a:r>
          </a:p>
        </p:txBody>
      </p:sp>
      <p:sp>
        <p:nvSpPr>
          <p:cNvPr id="351" name="Text 26"/>
          <p:cNvSpPr txBox="1"/>
          <p:nvPr/>
        </p:nvSpPr>
        <p:spPr>
          <a:xfrm>
            <a:off x="5248654" y="1481836"/>
            <a:ext cx="36576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700">
                <a:solidFill>
                  <a:srgbClr val="E825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Distributed context across microservices</a:t>
            </a:r>
          </a:p>
        </p:txBody>
      </p:sp>
      <p:sp>
        <p:nvSpPr>
          <p:cNvPr id="352" name="Text 27"/>
          <p:cNvSpPr txBox="1"/>
          <p:nvPr/>
        </p:nvSpPr>
        <p:spPr>
          <a:xfrm>
            <a:off x="5248654" y="1641855"/>
            <a:ext cx="36576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700">
                <a:solidFill>
                  <a:srgbClr val="E825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Full replay and step-back support</a:t>
            </a:r>
          </a:p>
        </p:txBody>
      </p:sp>
      <p:sp>
        <p:nvSpPr>
          <p:cNvPr id="353" name="Shape 28"/>
          <p:cNvSpPr/>
          <p:nvPr/>
        </p:nvSpPr>
        <p:spPr>
          <a:xfrm>
            <a:off x="182880" y="1865376"/>
            <a:ext cx="1417320" cy="676658"/>
          </a:xfrm>
          <a:prstGeom prst="rect">
            <a:avLst/>
          </a:prstGeom>
          <a:solidFill>
            <a:srgbClr val="E078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4" name="Text 29"/>
          <p:cNvSpPr txBox="1"/>
          <p:nvPr/>
        </p:nvSpPr>
        <p:spPr>
          <a:xfrm>
            <a:off x="182880" y="2076617"/>
            <a:ext cx="1417320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9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ROUTER</a:t>
            </a:r>
          </a:p>
          <a:p>
            <a:pPr algn="ctr">
              <a:defRPr b="1" sz="9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AGENT</a:t>
            </a:r>
          </a:p>
        </p:txBody>
      </p:sp>
      <p:sp>
        <p:nvSpPr>
          <p:cNvPr id="355" name="Shape 30"/>
          <p:cNvSpPr/>
          <p:nvPr/>
        </p:nvSpPr>
        <p:spPr>
          <a:xfrm>
            <a:off x="1673350" y="1865376"/>
            <a:ext cx="3383283" cy="676658"/>
          </a:xfrm>
          <a:prstGeom prst="rect">
            <a:avLst/>
          </a:prstGeom>
          <a:solidFill>
            <a:srgbClr val="EEF3F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6" name="Text 31"/>
          <p:cNvSpPr txBox="1"/>
          <p:nvPr/>
        </p:nvSpPr>
        <p:spPr>
          <a:xfrm>
            <a:off x="1737359" y="1911603"/>
            <a:ext cx="325526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7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AgentRouter.route() — simple if/else on amount + risk_score</a:t>
            </a:r>
          </a:p>
        </p:txBody>
      </p:sp>
      <p:sp>
        <p:nvSpPr>
          <p:cNvPr id="357" name="Text 32"/>
          <p:cNvSpPr txBox="1"/>
          <p:nvPr/>
        </p:nvSpPr>
        <p:spPr>
          <a:xfrm>
            <a:off x="1737359" y="2071622"/>
            <a:ext cx="325526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7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Hardcoded thresholds in Python class</a:t>
            </a:r>
          </a:p>
        </p:txBody>
      </p:sp>
      <p:sp>
        <p:nvSpPr>
          <p:cNvPr id="358" name="Text 33"/>
          <p:cNvSpPr txBox="1"/>
          <p:nvPr/>
        </p:nvSpPr>
        <p:spPr>
          <a:xfrm>
            <a:off x="1737359" y="2231644"/>
            <a:ext cx="325526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7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No dynamic rerouting on failure</a:t>
            </a:r>
          </a:p>
        </p:txBody>
      </p:sp>
      <p:sp>
        <p:nvSpPr>
          <p:cNvPr id="359" name="Text 34"/>
          <p:cNvSpPr txBox="1"/>
          <p:nvPr/>
        </p:nvSpPr>
        <p:spPr>
          <a:xfrm>
            <a:off x="1737359" y="2391662"/>
            <a:ext cx="325526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7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No priority queue for CRITICAL transactions</a:t>
            </a:r>
          </a:p>
        </p:txBody>
      </p:sp>
      <p:sp>
        <p:nvSpPr>
          <p:cNvPr id="360" name="Shape 35"/>
          <p:cNvSpPr/>
          <p:nvPr/>
        </p:nvSpPr>
        <p:spPr>
          <a:xfrm>
            <a:off x="5129784" y="1865376"/>
            <a:ext cx="3831338" cy="676658"/>
          </a:xfrm>
          <a:prstGeom prst="rect">
            <a:avLst/>
          </a:prstGeom>
          <a:solidFill>
            <a:srgbClr val="EEF3F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1" name="Shape 36"/>
          <p:cNvSpPr/>
          <p:nvPr/>
        </p:nvSpPr>
        <p:spPr>
          <a:xfrm>
            <a:off x="5129784" y="1865376"/>
            <a:ext cx="54866" cy="676658"/>
          </a:xfrm>
          <a:prstGeom prst="rect">
            <a:avLst/>
          </a:prstGeom>
          <a:solidFill>
            <a:srgbClr val="E8251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2" name="Text 37"/>
          <p:cNvSpPr txBox="1"/>
          <p:nvPr/>
        </p:nvSpPr>
        <p:spPr>
          <a:xfrm>
            <a:off x="5248654" y="1911603"/>
            <a:ext cx="36576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700">
                <a:solidFill>
                  <a:srgbClr val="E825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LangGraph conditional edges with typed state transitions</a:t>
            </a:r>
          </a:p>
        </p:txBody>
      </p:sp>
      <p:sp>
        <p:nvSpPr>
          <p:cNvPr id="363" name="Text 38"/>
          <p:cNvSpPr txBox="1"/>
          <p:nvPr/>
        </p:nvSpPr>
        <p:spPr>
          <a:xfrm>
            <a:off x="5248654" y="2071622"/>
            <a:ext cx="36576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700">
                <a:solidFill>
                  <a:srgbClr val="E825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Thresholds loaded from MLflow config registry</a:t>
            </a:r>
          </a:p>
        </p:txBody>
      </p:sp>
      <p:sp>
        <p:nvSpPr>
          <p:cNvPr id="364" name="Text 39"/>
          <p:cNvSpPr txBox="1"/>
          <p:nvPr/>
        </p:nvSpPr>
        <p:spPr>
          <a:xfrm>
            <a:off x="5248654" y="2231644"/>
            <a:ext cx="36576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700">
                <a:solidFill>
                  <a:srgbClr val="E825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Retry + fallback routing on agent failure</a:t>
            </a:r>
          </a:p>
        </p:txBody>
      </p:sp>
      <p:sp>
        <p:nvSpPr>
          <p:cNvPr id="365" name="Text 40"/>
          <p:cNvSpPr txBox="1"/>
          <p:nvPr/>
        </p:nvSpPr>
        <p:spPr>
          <a:xfrm>
            <a:off x="5248654" y="2391662"/>
            <a:ext cx="36576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700">
                <a:solidFill>
                  <a:srgbClr val="E825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Priority lanes via Databricks queue (CRITICAL first)</a:t>
            </a:r>
          </a:p>
        </p:txBody>
      </p:sp>
      <p:sp>
        <p:nvSpPr>
          <p:cNvPr id="366" name="Shape 41"/>
          <p:cNvSpPr/>
          <p:nvPr/>
        </p:nvSpPr>
        <p:spPr>
          <a:xfrm>
            <a:off x="182880" y="2615182"/>
            <a:ext cx="1417320" cy="676660"/>
          </a:xfrm>
          <a:prstGeom prst="rect">
            <a:avLst/>
          </a:prstGeom>
          <a:solidFill>
            <a:srgbClr val="0099A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7" name="Text 42"/>
          <p:cNvSpPr txBox="1"/>
          <p:nvPr/>
        </p:nvSpPr>
        <p:spPr>
          <a:xfrm>
            <a:off x="182880" y="2826424"/>
            <a:ext cx="1417320" cy="254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9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RETRIEVER</a:t>
            </a:r>
          </a:p>
          <a:p>
            <a:pPr algn="ctr">
              <a:defRPr b="1" sz="9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AGENT</a:t>
            </a:r>
          </a:p>
        </p:txBody>
      </p:sp>
      <p:sp>
        <p:nvSpPr>
          <p:cNvPr id="368" name="Shape 43"/>
          <p:cNvSpPr/>
          <p:nvPr/>
        </p:nvSpPr>
        <p:spPr>
          <a:xfrm>
            <a:off x="1673350" y="2615182"/>
            <a:ext cx="3383283" cy="67666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9" name="Text 44"/>
          <p:cNvSpPr txBox="1"/>
          <p:nvPr/>
        </p:nvSpPr>
        <p:spPr>
          <a:xfrm>
            <a:off x="1737359" y="2661410"/>
            <a:ext cx="325526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7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Dense FAISS search in-memory (top-2 results)</a:t>
            </a:r>
          </a:p>
        </p:txBody>
      </p:sp>
      <p:sp>
        <p:nvSpPr>
          <p:cNvPr id="370" name="Text 45"/>
          <p:cNvSpPr txBox="1"/>
          <p:nvPr/>
        </p:nvSpPr>
        <p:spPr>
          <a:xfrm>
            <a:off x="1737359" y="2821431"/>
            <a:ext cx="325526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7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MCPToolRegistry.call('retrieval_tool', query)</a:t>
            </a:r>
          </a:p>
        </p:txBody>
      </p:sp>
      <p:sp>
        <p:nvSpPr>
          <p:cNvPr id="371" name="Text 46"/>
          <p:cNvSpPr txBox="1"/>
          <p:nvPr/>
        </p:nvSpPr>
        <p:spPr>
          <a:xfrm>
            <a:off x="1737359" y="2981450"/>
            <a:ext cx="325526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7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384-dim L2 distance — basic cosine search</a:t>
            </a:r>
          </a:p>
        </p:txBody>
      </p:sp>
      <p:sp>
        <p:nvSpPr>
          <p:cNvPr id="372" name="Text 47"/>
          <p:cNvSpPr txBox="1"/>
          <p:nvPr/>
        </p:nvSpPr>
        <p:spPr>
          <a:xfrm>
            <a:off x="1737359" y="3141472"/>
            <a:ext cx="325526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7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No metadata filtering, no re-ranking</a:t>
            </a:r>
          </a:p>
        </p:txBody>
      </p:sp>
      <p:sp>
        <p:nvSpPr>
          <p:cNvPr id="373" name="Shape 48"/>
          <p:cNvSpPr/>
          <p:nvPr/>
        </p:nvSpPr>
        <p:spPr>
          <a:xfrm>
            <a:off x="5129784" y="2615182"/>
            <a:ext cx="3831338" cy="67666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4" name="Shape 49"/>
          <p:cNvSpPr/>
          <p:nvPr/>
        </p:nvSpPr>
        <p:spPr>
          <a:xfrm>
            <a:off x="5129784" y="2615182"/>
            <a:ext cx="54866" cy="676660"/>
          </a:xfrm>
          <a:prstGeom prst="rect">
            <a:avLst/>
          </a:prstGeom>
          <a:solidFill>
            <a:srgbClr val="E8251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5" name="Text 50"/>
          <p:cNvSpPr txBox="1"/>
          <p:nvPr/>
        </p:nvSpPr>
        <p:spPr>
          <a:xfrm>
            <a:off x="5248654" y="2661410"/>
            <a:ext cx="36576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700">
                <a:solidFill>
                  <a:srgbClr val="E825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Databricks Vector Search REST API (managed, persistent)</a:t>
            </a:r>
          </a:p>
        </p:txBody>
      </p:sp>
      <p:sp>
        <p:nvSpPr>
          <p:cNvPr id="376" name="Text 51"/>
          <p:cNvSpPr txBox="1"/>
          <p:nvPr/>
        </p:nvSpPr>
        <p:spPr>
          <a:xfrm>
            <a:off x="5248654" y="2821431"/>
            <a:ext cx="36576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700">
                <a:solidFill>
                  <a:srgbClr val="E825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Hybrid search: dense + sparse (BM25) + metadata filter</a:t>
            </a:r>
          </a:p>
        </p:txBody>
      </p:sp>
      <p:sp>
        <p:nvSpPr>
          <p:cNvPr id="377" name="Text 52"/>
          <p:cNvSpPr txBox="1"/>
          <p:nvPr/>
        </p:nvSpPr>
        <p:spPr>
          <a:xfrm>
            <a:off x="5248654" y="2981450"/>
            <a:ext cx="36576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700">
                <a:solidFill>
                  <a:srgbClr val="E825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Azure OpenAI Ada-002 embeddings (1536-dim)</a:t>
            </a:r>
          </a:p>
        </p:txBody>
      </p:sp>
      <p:sp>
        <p:nvSpPr>
          <p:cNvPr id="378" name="Text 53"/>
          <p:cNvSpPr txBox="1"/>
          <p:nvPr/>
        </p:nvSpPr>
        <p:spPr>
          <a:xfrm>
            <a:off x="5248654" y="3141472"/>
            <a:ext cx="36576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700">
                <a:solidFill>
                  <a:srgbClr val="E825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Cross-encoder re-ranking for top-k precision</a:t>
            </a:r>
          </a:p>
        </p:txBody>
      </p:sp>
      <p:sp>
        <p:nvSpPr>
          <p:cNvPr id="379" name="Shape 54"/>
          <p:cNvSpPr/>
          <p:nvPr/>
        </p:nvSpPr>
        <p:spPr>
          <a:xfrm>
            <a:off x="182880" y="3364991"/>
            <a:ext cx="1417320" cy="676658"/>
          </a:xfrm>
          <a:prstGeom prst="rect">
            <a:avLst/>
          </a:prstGeom>
          <a:solidFill>
            <a:srgbClr val="6633BB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80" name="Text 55"/>
          <p:cNvSpPr txBox="1"/>
          <p:nvPr/>
        </p:nvSpPr>
        <p:spPr>
          <a:xfrm>
            <a:off x="182880" y="3576232"/>
            <a:ext cx="1417320" cy="254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9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REASONER</a:t>
            </a:r>
          </a:p>
          <a:p>
            <a:pPr algn="ctr">
              <a:defRPr b="1" sz="9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AGENT</a:t>
            </a:r>
          </a:p>
        </p:txBody>
      </p:sp>
      <p:sp>
        <p:nvSpPr>
          <p:cNvPr id="381" name="Shape 56"/>
          <p:cNvSpPr/>
          <p:nvPr/>
        </p:nvSpPr>
        <p:spPr>
          <a:xfrm>
            <a:off x="1673350" y="3364991"/>
            <a:ext cx="3383283" cy="676658"/>
          </a:xfrm>
          <a:prstGeom prst="rect">
            <a:avLst/>
          </a:prstGeom>
          <a:solidFill>
            <a:srgbClr val="EEF3F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82" name="Text 57"/>
          <p:cNvSpPr txBox="1"/>
          <p:nvPr/>
        </p:nvSpPr>
        <p:spPr>
          <a:xfrm>
            <a:off x="1737359" y="3411220"/>
            <a:ext cx="325526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7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Rule-based dict output — no actual LLM call</a:t>
            </a:r>
          </a:p>
        </p:txBody>
      </p:sp>
      <p:sp>
        <p:nvSpPr>
          <p:cNvPr id="383" name="Text 58"/>
          <p:cNvSpPr txBox="1"/>
          <p:nvPr/>
        </p:nvSpPr>
        <p:spPr>
          <a:xfrm>
            <a:off x="1737359" y="3571240"/>
            <a:ext cx="325526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7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decision_basis = retrieved docs (hardcoded logic)</a:t>
            </a:r>
          </a:p>
        </p:txBody>
      </p:sp>
      <p:sp>
        <p:nvSpPr>
          <p:cNvPr id="384" name="Text 59"/>
          <p:cNvSpPr txBox="1"/>
          <p:nvPr/>
        </p:nvSpPr>
        <p:spPr>
          <a:xfrm>
            <a:off x="1737359" y="3731259"/>
            <a:ext cx="325526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7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summary hardcoded string based on amount threshold</a:t>
            </a:r>
          </a:p>
        </p:txBody>
      </p:sp>
      <p:sp>
        <p:nvSpPr>
          <p:cNvPr id="385" name="Text 60"/>
          <p:cNvSpPr txBox="1"/>
          <p:nvPr/>
        </p:nvSpPr>
        <p:spPr>
          <a:xfrm>
            <a:off x="1737359" y="3891279"/>
            <a:ext cx="325526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7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No RAG grounding verification</a:t>
            </a:r>
          </a:p>
        </p:txBody>
      </p:sp>
      <p:sp>
        <p:nvSpPr>
          <p:cNvPr id="386" name="Shape 61"/>
          <p:cNvSpPr/>
          <p:nvPr/>
        </p:nvSpPr>
        <p:spPr>
          <a:xfrm>
            <a:off x="5129784" y="3364991"/>
            <a:ext cx="3831338" cy="676658"/>
          </a:xfrm>
          <a:prstGeom prst="rect">
            <a:avLst/>
          </a:prstGeom>
          <a:solidFill>
            <a:srgbClr val="EEF3F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87" name="Shape 62"/>
          <p:cNvSpPr/>
          <p:nvPr/>
        </p:nvSpPr>
        <p:spPr>
          <a:xfrm>
            <a:off x="5129784" y="3364991"/>
            <a:ext cx="54866" cy="676658"/>
          </a:xfrm>
          <a:prstGeom prst="rect">
            <a:avLst/>
          </a:prstGeom>
          <a:solidFill>
            <a:srgbClr val="0078D4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88" name="Text 63"/>
          <p:cNvSpPr txBox="1"/>
          <p:nvPr/>
        </p:nvSpPr>
        <p:spPr>
          <a:xfrm>
            <a:off x="5248654" y="3411220"/>
            <a:ext cx="36576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700">
                <a:solidFill>
                  <a:srgbClr val="0078D4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Azure OpenAI GPT-4o / Databricks DBRX via Model Serving</a:t>
            </a:r>
          </a:p>
        </p:txBody>
      </p:sp>
      <p:sp>
        <p:nvSpPr>
          <p:cNvPr id="389" name="Text 64"/>
          <p:cNvSpPr txBox="1"/>
          <p:nvPr/>
        </p:nvSpPr>
        <p:spPr>
          <a:xfrm>
            <a:off x="5248654" y="3571240"/>
            <a:ext cx="36576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700">
                <a:solidFill>
                  <a:srgbClr val="0078D4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Grounded generation: context injected as system prompt</a:t>
            </a:r>
          </a:p>
        </p:txBody>
      </p:sp>
      <p:sp>
        <p:nvSpPr>
          <p:cNvPr id="390" name="Text 65"/>
          <p:cNvSpPr txBox="1"/>
          <p:nvPr/>
        </p:nvSpPr>
        <p:spPr>
          <a:xfrm>
            <a:off x="5248654" y="3731259"/>
            <a:ext cx="36576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700">
                <a:solidFill>
                  <a:srgbClr val="0078D4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Faithfulness score via Databricks Lakehouse Monitoring</a:t>
            </a:r>
          </a:p>
        </p:txBody>
      </p:sp>
      <p:sp>
        <p:nvSpPr>
          <p:cNvPr id="391" name="Text 66"/>
          <p:cNvSpPr txBox="1"/>
          <p:nvPr/>
        </p:nvSpPr>
        <p:spPr>
          <a:xfrm>
            <a:off x="5248654" y="3891279"/>
            <a:ext cx="36576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700">
                <a:solidFill>
                  <a:srgbClr val="0078D4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Hallucination detection + confidence threshold</a:t>
            </a:r>
          </a:p>
        </p:txBody>
      </p:sp>
      <p:sp>
        <p:nvSpPr>
          <p:cNvPr id="392" name="Shape 67"/>
          <p:cNvSpPr/>
          <p:nvPr/>
        </p:nvSpPr>
        <p:spPr>
          <a:xfrm>
            <a:off x="182880" y="4114799"/>
            <a:ext cx="1417320" cy="676659"/>
          </a:xfrm>
          <a:prstGeom prst="rect">
            <a:avLst/>
          </a:prstGeom>
          <a:solidFill>
            <a:srgbClr val="CC3333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93" name="Text 68"/>
          <p:cNvSpPr txBox="1"/>
          <p:nvPr/>
        </p:nvSpPr>
        <p:spPr>
          <a:xfrm>
            <a:off x="182880" y="4326040"/>
            <a:ext cx="1417320" cy="254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9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VALIDATOR</a:t>
            </a:r>
          </a:p>
          <a:p>
            <a:pPr algn="ctr">
              <a:defRPr b="1" sz="9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AGENT</a:t>
            </a:r>
          </a:p>
        </p:txBody>
      </p:sp>
      <p:sp>
        <p:nvSpPr>
          <p:cNvPr id="394" name="Shape 69"/>
          <p:cNvSpPr/>
          <p:nvPr/>
        </p:nvSpPr>
        <p:spPr>
          <a:xfrm>
            <a:off x="1673350" y="4114799"/>
            <a:ext cx="3383283" cy="67665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95" name="Text 70"/>
          <p:cNvSpPr txBox="1"/>
          <p:nvPr/>
        </p:nvSpPr>
        <p:spPr>
          <a:xfrm>
            <a:off x="1737359" y="4161028"/>
            <a:ext cx="325526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7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Rule engine: hardcoded amount/country checks</a:t>
            </a:r>
          </a:p>
        </p:txBody>
      </p:sp>
      <p:sp>
        <p:nvSpPr>
          <p:cNvPr id="396" name="Text 71"/>
          <p:cNvSpPr txBox="1"/>
          <p:nvPr/>
        </p:nvSpPr>
        <p:spPr>
          <a:xfrm>
            <a:off x="1737359" y="4321047"/>
            <a:ext cx="325526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7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Consistency check against Reasoner SAR flag (manual)</a:t>
            </a:r>
          </a:p>
        </p:txBody>
      </p:sp>
      <p:sp>
        <p:nvSpPr>
          <p:cNvPr id="397" name="Text 72"/>
          <p:cNvSpPr txBox="1"/>
          <p:nvPr/>
        </p:nvSpPr>
        <p:spPr>
          <a:xfrm>
            <a:off x="1737359" y="4481067"/>
            <a:ext cx="325526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7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Returns BLOCK / FLAG / ALLOW as string</a:t>
            </a:r>
          </a:p>
        </p:txBody>
      </p:sp>
      <p:sp>
        <p:nvSpPr>
          <p:cNvPr id="398" name="Text 73"/>
          <p:cNvSpPr txBox="1"/>
          <p:nvPr/>
        </p:nvSpPr>
        <p:spPr>
          <a:xfrm>
            <a:off x="1737359" y="4641088"/>
            <a:ext cx="325526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7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No SAR report auto-generation</a:t>
            </a:r>
          </a:p>
        </p:txBody>
      </p:sp>
      <p:sp>
        <p:nvSpPr>
          <p:cNvPr id="399" name="Shape 74"/>
          <p:cNvSpPr/>
          <p:nvPr/>
        </p:nvSpPr>
        <p:spPr>
          <a:xfrm>
            <a:off x="5129784" y="4114799"/>
            <a:ext cx="3831338" cy="67665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00" name="Shape 75"/>
          <p:cNvSpPr/>
          <p:nvPr/>
        </p:nvSpPr>
        <p:spPr>
          <a:xfrm>
            <a:off x="5129784" y="4114799"/>
            <a:ext cx="54866" cy="676659"/>
          </a:xfrm>
          <a:prstGeom prst="rect">
            <a:avLst/>
          </a:prstGeom>
          <a:solidFill>
            <a:srgbClr val="E8251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01" name="Text 76"/>
          <p:cNvSpPr txBox="1"/>
          <p:nvPr/>
        </p:nvSpPr>
        <p:spPr>
          <a:xfrm>
            <a:off x="5248654" y="4161028"/>
            <a:ext cx="36576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700">
                <a:solidFill>
                  <a:srgbClr val="E825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Databricks Feature Store for real-time feature lookup</a:t>
            </a:r>
          </a:p>
        </p:txBody>
      </p:sp>
      <p:sp>
        <p:nvSpPr>
          <p:cNvPr id="402" name="Text 77"/>
          <p:cNvSpPr txBox="1"/>
          <p:nvPr/>
        </p:nvSpPr>
        <p:spPr>
          <a:xfrm>
            <a:off x="5248654" y="4321047"/>
            <a:ext cx="36576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700">
                <a:solidFill>
                  <a:srgbClr val="E825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Cross-reference against OFAC/MAS sanctions API</a:t>
            </a:r>
          </a:p>
        </p:txBody>
      </p:sp>
      <p:sp>
        <p:nvSpPr>
          <p:cNvPr id="403" name="Text 78"/>
          <p:cNvSpPr txBox="1"/>
          <p:nvPr/>
        </p:nvSpPr>
        <p:spPr>
          <a:xfrm>
            <a:off x="5248654" y="4481067"/>
            <a:ext cx="36576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700">
                <a:solidFill>
                  <a:srgbClr val="E825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Structured SAR report auto-generated via template</a:t>
            </a:r>
          </a:p>
        </p:txBody>
      </p:sp>
      <p:sp>
        <p:nvSpPr>
          <p:cNvPr id="404" name="Text 79"/>
          <p:cNvSpPr txBox="1"/>
          <p:nvPr/>
        </p:nvSpPr>
        <p:spPr>
          <a:xfrm>
            <a:off x="5248654" y="4641088"/>
            <a:ext cx="36576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700">
                <a:solidFill>
                  <a:srgbClr val="E825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BLOCK decision triggers Azure Logic Apps workflow</a:t>
            </a:r>
          </a:p>
        </p:txBody>
      </p:sp>
      <p:sp>
        <p:nvSpPr>
          <p:cNvPr id="405" name="Shape 80"/>
          <p:cNvSpPr/>
          <p:nvPr/>
        </p:nvSpPr>
        <p:spPr>
          <a:xfrm>
            <a:off x="182879" y="4791454"/>
            <a:ext cx="8778242" cy="164594"/>
          </a:xfrm>
          <a:prstGeom prst="rect">
            <a:avLst/>
          </a:prstGeom>
          <a:solidFill>
            <a:srgbClr val="0A1628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06" name="Text 81"/>
          <p:cNvSpPr txBox="1"/>
          <p:nvPr/>
        </p:nvSpPr>
        <p:spPr>
          <a:xfrm>
            <a:off x="228600" y="4810252"/>
            <a:ext cx="86868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7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MCP OUTPUT (both):  status · txn(masked) · route · docs · reasoning · validation · flags · confidence · risk_score · risk_band · metrics · ai_lineage</a:t>
            </a:r>
          </a:p>
        </p:txBody>
      </p:sp>
      <p:sp>
        <p:nvSpPr>
          <p:cNvPr id="407" name="Text 82"/>
          <p:cNvSpPr txBox="1"/>
          <p:nvPr/>
        </p:nvSpPr>
        <p:spPr>
          <a:xfrm>
            <a:off x="0" y="4999988"/>
            <a:ext cx="91440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8899BB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CONFIDENTIAL  |  NTT DATA  |  GenAI AML Risk Workshop 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0"/>
          <p:cNvSpPr/>
          <p:nvPr/>
        </p:nvSpPr>
        <p:spPr>
          <a:xfrm>
            <a:off x="0" y="-1"/>
            <a:ext cx="9144000" cy="658370"/>
          </a:xfrm>
          <a:prstGeom prst="rect">
            <a:avLst/>
          </a:prstGeom>
          <a:solidFill>
            <a:srgbClr val="0A1628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10" name="Text 1"/>
          <p:cNvSpPr txBox="1"/>
          <p:nvPr/>
        </p:nvSpPr>
        <p:spPr>
          <a:xfrm>
            <a:off x="274319" y="204813"/>
            <a:ext cx="6217923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Local Prototype vs Enterprise Architecture</a:t>
            </a:r>
          </a:p>
        </p:txBody>
      </p:sp>
      <p:sp>
        <p:nvSpPr>
          <p:cNvPr id="411" name="Text 2"/>
          <p:cNvSpPr txBox="1"/>
          <p:nvPr/>
        </p:nvSpPr>
        <p:spPr>
          <a:xfrm>
            <a:off x="6492240" y="178097"/>
            <a:ext cx="2514602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F5A623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Full Module Comparison — Current State vs Databricks Full License</a:t>
            </a:r>
          </a:p>
        </p:txBody>
      </p:sp>
      <p:sp>
        <p:nvSpPr>
          <p:cNvPr id="412" name="Shape 3"/>
          <p:cNvSpPr/>
          <p:nvPr/>
        </p:nvSpPr>
        <p:spPr>
          <a:xfrm>
            <a:off x="182879" y="749808"/>
            <a:ext cx="1508762" cy="310898"/>
          </a:xfrm>
          <a:prstGeom prst="rect">
            <a:avLst/>
          </a:prstGeom>
          <a:solidFill>
            <a:srgbClr val="0A1628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13" name="Text 4"/>
          <p:cNvSpPr txBox="1"/>
          <p:nvPr/>
        </p:nvSpPr>
        <p:spPr>
          <a:xfrm>
            <a:off x="182879" y="841755"/>
            <a:ext cx="15087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MODULE</a:t>
            </a:r>
          </a:p>
        </p:txBody>
      </p:sp>
      <p:sp>
        <p:nvSpPr>
          <p:cNvPr id="414" name="Shape 5"/>
          <p:cNvSpPr/>
          <p:nvPr/>
        </p:nvSpPr>
        <p:spPr>
          <a:xfrm>
            <a:off x="1764792" y="749808"/>
            <a:ext cx="3246122" cy="310898"/>
          </a:xfrm>
          <a:prstGeom prst="rect">
            <a:avLst/>
          </a:prstGeom>
          <a:solidFill>
            <a:srgbClr val="334466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15" name="Text 6"/>
          <p:cNvSpPr txBox="1"/>
          <p:nvPr/>
        </p:nvSpPr>
        <p:spPr>
          <a:xfrm>
            <a:off x="1764792" y="810005"/>
            <a:ext cx="3246122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🖥  LOCAL — VS Code + Python (Now)</a:t>
            </a:r>
          </a:p>
        </p:txBody>
      </p:sp>
      <p:sp>
        <p:nvSpPr>
          <p:cNvPr id="416" name="Shape 7"/>
          <p:cNvSpPr/>
          <p:nvPr/>
        </p:nvSpPr>
        <p:spPr>
          <a:xfrm>
            <a:off x="5084064" y="749808"/>
            <a:ext cx="3877058" cy="310898"/>
          </a:xfrm>
          <a:prstGeom prst="rect">
            <a:avLst/>
          </a:prstGeom>
          <a:solidFill>
            <a:srgbClr val="E8251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17" name="Text 8"/>
          <p:cNvSpPr txBox="1"/>
          <p:nvPr/>
        </p:nvSpPr>
        <p:spPr>
          <a:xfrm>
            <a:off x="5084064" y="837501"/>
            <a:ext cx="3877058" cy="135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☁  ENTERPRISE — Databricks Full License + Azure</a:t>
            </a:r>
          </a:p>
        </p:txBody>
      </p:sp>
      <p:sp>
        <p:nvSpPr>
          <p:cNvPr id="418" name="Shape 9"/>
          <p:cNvSpPr/>
          <p:nvPr/>
        </p:nvSpPr>
        <p:spPr>
          <a:xfrm>
            <a:off x="182879" y="1124711"/>
            <a:ext cx="1508762" cy="25145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19" name="Text 10"/>
          <p:cNvSpPr txBox="1"/>
          <p:nvPr/>
        </p:nvSpPr>
        <p:spPr>
          <a:xfrm>
            <a:off x="237743" y="1186941"/>
            <a:ext cx="139903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0A162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Data Ingestion</a:t>
            </a:r>
          </a:p>
        </p:txBody>
      </p:sp>
      <p:sp>
        <p:nvSpPr>
          <p:cNvPr id="420" name="Shape 11"/>
          <p:cNvSpPr/>
          <p:nvPr/>
        </p:nvSpPr>
        <p:spPr>
          <a:xfrm>
            <a:off x="1764792" y="1124711"/>
            <a:ext cx="3246122" cy="25145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1" name="Text 12"/>
          <p:cNvSpPr txBox="1"/>
          <p:nvPr/>
        </p:nvSpPr>
        <p:spPr>
          <a:xfrm>
            <a:off x="1819655" y="1186941"/>
            <a:ext cx="313639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800">
                <a:solidFill>
                  <a:srgbClr val="776655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spark.createDataFrame() from Python list</a:t>
            </a:r>
          </a:p>
        </p:txBody>
      </p:sp>
      <p:sp>
        <p:nvSpPr>
          <p:cNvPr id="422" name="Shape 13"/>
          <p:cNvSpPr/>
          <p:nvPr/>
        </p:nvSpPr>
        <p:spPr>
          <a:xfrm>
            <a:off x="5084064" y="1124711"/>
            <a:ext cx="3877058" cy="25145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3" name="Shape 14"/>
          <p:cNvSpPr/>
          <p:nvPr/>
        </p:nvSpPr>
        <p:spPr>
          <a:xfrm>
            <a:off x="5084064" y="1124711"/>
            <a:ext cx="50294" cy="251459"/>
          </a:xfrm>
          <a:prstGeom prst="rect">
            <a:avLst/>
          </a:prstGeom>
          <a:solidFill>
            <a:srgbClr val="0078D4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4" name="Text 15"/>
          <p:cNvSpPr txBox="1"/>
          <p:nvPr/>
        </p:nvSpPr>
        <p:spPr>
          <a:xfrm>
            <a:off x="5148071" y="1186941"/>
            <a:ext cx="375818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0078D4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Azure Event Hub / Kafka → Auto Loader → Delta Live Tables</a:t>
            </a:r>
          </a:p>
        </p:txBody>
      </p:sp>
      <p:sp>
        <p:nvSpPr>
          <p:cNvPr id="425" name="Shape 16"/>
          <p:cNvSpPr/>
          <p:nvPr/>
        </p:nvSpPr>
        <p:spPr>
          <a:xfrm>
            <a:off x="182879" y="1394460"/>
            <a:ext cx="1508762" cy="251460"/>
          </a:xfrm>
          <a:prstGeom prst="rect">
            <a:avLst/>
          </a:prstGeom>
          <a:solidFill>
            <a:srgbClr val="EEF3F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6" name="Text 17"/>
          <p:cNvSpPr txBox="1"/>
          <p:nvPr/>
        </p:nvSpPr>
        <p:spPr>
          <a:xfrm>
            <a:off x="237743" y="1456688"/>
            <a:ext cx="139903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0A162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Data Storage</a:t>
            </a:r>
          </a:p>
        </p:txBody>
      </p:sp>
      <p:sp>
        <p:nvSpPr>
          <p:cNvPr id="427" name="Shape 18"/>
          <p:cNvSpPr/>
          <p:nvPr/>
        </p:nvSpPr>
        <p:spPr>
          <a:xfrm>
            <a:off x="1764792" y="1394460"/>
            <a:ext cx="3246122" cy="251460"/>
          </a:xfrm>
          <a:prstGeom prst="rect">
            <a:avLst/>
          </a:prstGeom>
          <a:solidFill>
            <a:srgbClr val="EEF3F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8" name="Text 19"/>
          <p:cNvSpPr txBox="1"/>
          <p:nvPr/>
        </p:nvSpPr>
        <p:spPr>
          <a:xfrm>
            <a:off x="1819655" y="1456688"/>
            <a:ext cx="313639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800">
                <a:solidFill>
                  <a:srgbClr val="776655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In-memory Spark DataFrame (lost on restart)</a:t>
            </a:r>
          </a:p>
        </p:txBody>
      </p:sp>
      <p:sp>
        <p:nvSpPr>
          <p:cNvPr id="429" name="Shape 20"/>
          <p:cNvSpPr/>
          <p:nvPr/>
        </p:nvSpPr>
        <p:spPr>
          <a:xfrm>
            <a:off x="5084064" y="1394460"/>
            <a:ext cx="3877058" cy="251460"/>
          </a:xfrm>
          <a:prstGeom prst="rect">
            <a:avLst/>
          </a:prstGeom>
          <a:solidFill>
            <a:srgbClr val="EEF3F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0" name="Shape 21"/>
          <p:cNvSpPr/>
          <p:nvPr/>
        </p:nvSpPr>
        <p:spPr>
          <a:xfrm>
            <a:off x="5084064" y="1394460"/>
            <a:ext cx="50294" cy="251460"/>
          </a:xfrm>
          <a:prstGeom prst="rect">
            <a:avLst/>
          </a:prstGeom>
          <a:solidFill>
            <a:srgbClr val="E8251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1" name="Text 22"/>
          <p:cNvSpPr txBox="1"/>
          <p:nvPr/>
        </p:nvSpPr>
        <p:spPr>
          <a:xfrm>
            <a:off x="5148071" y="1456688"/>
            <a:ext cx="375818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E825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Delta Lake on ADLS Gen2 — ACID, time-travel, schema enforcement</a:t>
            </a:r>
          </a:p>
        </p:txBody>
      </p:sp>
      <p:sp>
        <p:nvSpPr>
          <p:cNvPr id="432" name="Shape 23"/>
          <p:cNvSpPr/>
          <p:nvPr/>
        </p:nvSpPr>
        <p:spPr>
          <a:xfrm>
            <a:off x="182879" y="1664206"/>
            <a:ext cx="1508762" cy="25146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3" name="Text 24"/>
          <p:cNvSpPr txBox="1"/>
          <p:nvPr/>
        </p:nvSpPr>
        <p:spPr>
          <a:xfrm>
            <a:off x="237743" y="1726438"/>
            <a:ext cx="139903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0A162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Data Pipeline</a:t>
            </a:r>
          </a:p>
        </p:txBody>
      </p:sp>
      <p:sp>
        <p:nvSpPr>
          <p:cNvPr id="434" name="Shape 25"/>
          <p:cNvSpPr/>
          <p:nvPr/>
        </p:nvSpPr>
        <p:spPr>
          <a:xfrm>
            <a:off x="1764792" y="1664206"/>
            <a:ext cx="3246122" cy="25146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5" name="Text 26"/>
          <p:cNvSpPr txBox="1"/>
          <p:nvPr/>
        </p:nvSpPr>
        <p:spPr>
          <a:xfrm>
            <a:off x="1819655" y="1726438"/>
            <a:ext cx="313639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800">
                <a:solidFill>
                  <a:srgbClr val="776655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PySpark notebook cells (manual run)</a:t>
            </a:r>
          </a:p>
        </p:txBody>
      </p:sp>
      <p:sp>
        <p:nvSpPr>
          <p:cNvPr id="436" name="Shape 27"/>
          <p:cNvSpPr/>
          <p:nvPr/>
        </p:nvSpPr>
        <p:spPr>
          <a:xfrm>
            <a:off x="5084064" y="1664206"/>
            <a:ext cx="3877058" cy="25146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7" name="Shape 28"/>
          <p:cNvSpPr/>
          <p:nvPr/>
        </p:nvSpPr>
        <p:spPr>
          <a:xfrm>
            <a:off x="5084064" y="1664206"/>
            <a:ext cx="50294" cy="251460"/>
          </a:xfrm>
          <a:prstGeom prst="rect">
            <a:avLst/>
          </a:prstGeom>
          <a:solidFill>
            <a:srgbClr val="E8251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8" name="Text 29"/>
          <p:cNvSpPr txBox="1"/>
          <p:nvPr/>
        </p:nvSpPr>
        <p:spPr>
          <a:xfrm>
            <a:off x="5148071" y="1726438"/>
            <a:ext cx="375818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E825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Delta Live Tables (DLT) — declarative, monitored, auto-retry</a:t>
            </a:r>
          </a:p>
        </p:txBody>
      </p:sp>
      <p:sp>
        <p:nvSpPr>
          <p:cNvPr id="439" name="Shape 30"/>
          <p:cNvSpPr/>
          <p:nvPr/>
        </p:nvSpPr>
        <p:spPr>
          <a:xfrm>
            <a:off x="182879" y="1933955"/>
            <a:ext cx="1508762" cy="251460"/>
          </a:xfrm>
          <a:prstGeom prst="rect">
            <a:avLst/>
          </a:prstGeom>
          <a:solidFill>
            <a:srgbClr val="EEF3F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0" name="Text 31"/>
          <p:cNvSpPr txBox="1"/>
          <p:nvPr/>
        </p:nvSpPr>
        <p:spPr>
          <a:xfrm>
            <a:off x="237743" y="1996185"/>
            <a:ext cx="139903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0A162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Embeddings</a:t>
            </a:r>
          </a:p>
        </p:txBody>
      </p:sp>
      <p:sp>
        <p:nvSpPr>
          <p:cNvPr id="441" name="Shape 32"/>
          <p:cNvSpPr/>
          <p:nvPr/>
        </p:nvSpPr>
        <p:spPr>
          <a:xfrm>
            <a:off x="1764792" y="1933955"/>
            <a:ext cx="3246122" cy="251460"/>
          </a:xfrm>
          <a:prstGeom prst="rect">
            <a:avLst/>
          </a:prstGeom>
          <a:solidFill>
            <a:srgbClr val="EEF3F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2" name="Text 33"/>
          <p:cNvSpPr txBox="1"/>
          <p:nvPr/>
        </p:nvSpPr>
        <p:spPr>
          <a:xfrm>
            <a:off x="1819655" y="1996185"/>
            <a:ext cx="313639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800">
                <a:solidFill>
                  <a:srgbClr val="776655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SentenceTransformer MiniLM-L6-v2 (local CPU)</a:t>
            </a:r>
          </a:p>
        </p:txBody>
      </p:sp>
      <p:sp>
        <p:nvSpPr>
          <p:cNvPr id="443" name="Shape 34"/>
          <p:cNvSpPr/>
          <p:nvPr/>
        </p:nvSpPr>
        <p:spPr>
          <a:xfrm>
            <a:off x="5084064" y="1933955"/>
            <a:ext cx="3877058" cy="251460"/>
          </a:xfrm>
          <a:prstGeom prst="rect">
            <a:avLst/>
          </a:prstGeom>
          <a:solidFill>
            <a:srgbClr val="EEF3F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4" name="Shape 35"/>
          <p:cNvSpPr/>
          <p:nvPr/>
        </p:nvSpPr>
        <p:spPr>
          <a:xfrm>
            <a:off x="5084064" y="1933955"/>
            <a:ext cx="50294" cy="251460"/>
          </a:xfrm>
          <a:prstGeom prst="rect">
            <a:avLst/>
          </a:prstGeom>
          <a:solidFill>
            <a:srgbClr val="0078D4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5" name="Text 36"/>
          <p:cNvSpPr txBox="1"/>
          <p:nvPr/>
        </p:nvSpPr>
        <p:spPr>
          <a:xfrm>
            <a:off x="5148071" y="1996185"/>
            <a:ext cx="375818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0078D4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Azure OpenAI Ada-002 (1536-dim, managed endpoint, SLA-backed)</a:t>
            </a:r>
          </a:p>
        </p:txBody>
      </p:sp>
      <p:sp>
        <p:nvSpPr>
          <p:cNvPr id="446" name="Shape 37"/>
          <p:cNvSpPr/>
          <p:nvPr/>
        </p:nvSpPr>
        <p:spPr>
          <a:xfrm>
            <a:off x="182879" y="2203704"/>
            <a:ext cx="1508762" cy="25146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7" name="Text 38"/>
          <p:cNvSpPr txBox="1"/>
          <p:nvPr/>
        </p:nvSpPr>
        <p:spPr>
          <a:xfrm>
            <a:off x="237743" y="2265933"/>
            <a:ext cx="139903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0A162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Vector / RAG</a:t>
            </a:r>
          </a:p>
        </p:txBody>
      </p:sp>
      <p:sp>
        <p:nvSpPr>
          <p:cNvPr id="448" name="Shape 39"/>
          <p:cNvSpPr/>
          <p:nvPr/>
        </p:nvSpPr>
        <p:spPr>
          <a:xfrm>
            <a:off x="1764792" y="2203704"/>
            <a:ext cx="3246122" cy="25146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9" name="Text 40"/>
          <p:cNvSpPr txBox="1"/>
          <p:nvPr/>
        </p:nvSpPr>
        <p:spPr>
          <a:xfrm>
            <a:off x="1819655" y="2265933"/>
            <a:ext cx="313639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800">
                <a:solidFill>
                  <a:srgbClr val="776655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FAISS IndexFlatL2 in-memory (lost on restart)</a:t>
            </a:r>
          </a:p>
        </p:txBody>
      </p:sp>
      <p:sp>
        <p:nvSpPr>
          <p:cNvPr id="450" name="Shape 41"/>
          <p:cNvSpPr/>
          <p:nvPr/>
        </p:nvSpPr>
        <p:spPr>
          <a:xfrm>
            <a:off x="5084064" y="2203704"/>
            <a:ext cx="3877058" cy="25146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1" name="Shape 42"/>
          <p:cNvSpPr/>
          <p:nvPr/>
        </p:nvSpPr>
        <p:spPr>
          <a:xfrm>
            <a:off x="5084064" y="2203704"/>
            <a:ext cx="50294" cy="251460"/>
          </a:xfrm>
          <a:prstGeom prst="rect">
            <a:avLst/>
          </a:prstGeom>
          <a:solidFill>
            <a:srgbClr val="E8251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2" name="Text 43"/>
          <p:cNvSpPr txBox="1"/>
          <p:nvPr/>
        </p:nvSpPr>
        <p:spPr>
          <a:xfrm>
            <a:off x="5148071" y="2265933"/>
            <a:ext cx="375818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E825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Databricks Vector Search — persistent, versioned, managed index</a:t>
            </a:r>
          </a:p>
        </p:txBody>
      </p:sp>
      <p:sp>
        <p:nvSpPr>
          <p:cNvPr id="453" name="Shape 44"/>
          <p:cNvSpPr/>
          <p:nvPr/>
        </p:nvSpPr>
        <p:spPr>
          <a:xfrm>
            <a:off x="182879" y="2473450"/>
            <a:ext cx="1508762" cy="251460"/>
          </a:xfrm>
          <a:prstGeom prst="rect">
            <a:avLst/>
          </a:prstGeom>
          <a:solidFill>
            <a:srgbClr val="EEF3F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4" name="Text 45"/>
          <p:cNvSpPr txBox="1"/>
          <p:nvPr/>
        </p:nvSpPr>
        <p:spPr>
          <a:xfrm>
            <a:off x="237743" y="2535682"/>
            <a:ext cx="139903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0A162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LLM / Reasoning</a:t>
            </a:r>
          </a:p>
        </p:txBody>
      </p:sp>
      <p:sp>
        <p:nvSpPr>
          <p:cNvPr id="455" name="Shape 46"/>
          <p:cNvSpPr/>
          <p:nvPr/>
        </p:nvSpPr>
        <p:spPr>
          <a:xfrm>
            <a:off x="1764792" y="2473450"/>
            <a:ext cx="3246122" cy="251460"/>
          </a:xfrm>
          <a:prstGeom prst="rect">
            <a:avLst/>
          </a:prstGeom>
          <a:solidFill>
            <a:srgbClr val="EEF3F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6" name="Text 47"/>
          <p:cNvSpPr txBox="1"/>
          <p:nvPr/>
        </p:nvSpPr>
        <p:spPr>
          <a:xfrm>
            <a:off x="1819655" y="2535682"/>
            <a:ext cx="313639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800">
                <a:solidFill>
                  <a:srgbClr val="776655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Rule-based Python logic (no real LLM call)</a:t>
            </a:r>
          </a:p>
        </p:txBody>
      </p:sp>
      <p:sp>
        <p:nvSpPr>
          <p:cNvPr id="457" name="Shape 48"/>
          <p:cNvSpPr/>
          <p:nvPr/>
        </p:nvSpPr>
        <p:spPr>
          <a:xfrm>
            <a:off x="5084064" y="2473450"/>
            <a:ext cx="3877058" cy="251460"/>
          </a:xfrm>
          <a:prstGeom prst="rect">
            <a:avLst/>
          </a:prstGeom>
          <a:solidFill>
            <a:srgbClr val="EEF3F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8" name="Shape 49"/>
          <p:cNvSpPr/>
          <p:nvPr/>
        </p:nvSpPr>
        <p:spPr>
          <a:xfrm>
            <a:off x="5084064" y="2473450"/>
            <a:ext cx="50294" cy="251460"/>
          </a:xfrm>
          <a:prstGeom prst="rect">
            <a:avLst/>
          </a:prstGeom>
          <a:solidFill>
            <a:srgbClr val="0078D4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9" name="Text 50"/>
          <p:cNvSpPr txBox="1"/>
          <p:nvPr/>
        </p:nvSpPr>
        <p:spPr>
          <a:xfrm>
            <a:off x="5148071" y="2535682"/>
            <a:ext cx="375818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0078D4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Azure OpenAI GPT-4o / DBRX via Databricks Model Serving</a:t>
            </a:r>
          </a:p>
        </p:txBody>
      </p:sp>
      <p:sp>
        <p:nvSpPr>
          <p:cNvPr id="460" name="Shape 51"/>
          <p:cNvSpPr/>
          <p:nvPr/>
        </p:nvSpPr>
        <p:spPr>
          <a:xfrm>
            <a:off x="182879" y="2743200"/>
            <a:ext cx="1508762" cy="25145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1" name="Text 52"/>
          <p:cNvSpPr txBox="1"/>
          <p:nvPr/>
        </p:nvSpPr>
        <p:spPr>
          <a:xfrm>
            <a:off x="237743" y="2805429"/>
            <a:ext cx="139903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0A162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Agent Framework</a:t>
            </a:r>
          </a:p>
        </p:txBody>
      </p:sp>
      <p:sp>
        <p:nvSpPr>
          <p:cNvPr id="462" name="Shape 53"/>
          <p:cNvSpPr/>
          <p:nvPr/>
        </p:nvSpPr>
        <p:spPr>
          <a:xfrm>
            <a:off x="1764792" y="2743200"/>
            <a:ext cx="3246122" cy="25145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3" name="Text 54"/>
          <p:cNvSpPr txBox="1"/>
          <p:nvPr/>
        </p:nvSpPr>
        <p:spPr>
          <a:xfrm>
            <a:off x="1819655" y="2805429"/>
            <a:ext cx="313639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800">
                <a:solidFill>
                  <a:srgbClr val="776655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Custom MCPContext + manual Python class chaining</a:t>
            </a:r>
          </a:p>
        </p:txBody>
      </p:sp>
      <p:sp>
        <p:nvSpPr>
          <p:cNvPr id="464" name="Shape 55"/>
          <p:cNvSpPr/>
          <p:nvPr/>
        </p:nvSpPr>
        <p:spPr>
          <a:xfrm>
            <a:off x="5084064" y="2743200"/>
            <a:ext cx="3877058" cy="25145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5" name="Shape 56"/>
          <p:cNvSpPr/>
          <p:nvPr/>
        </p:nvSpPr>
        <p:spPr>
          <a:xfrm>
            <a:off x="5084064" y="2743200"/>
            <a:ext cx="50294" cy="251459"/>
          </a:xfrm>
          <a:prstGeom prst="rect">
            <a:avLst/>
          </a:prstGeom>
          <a:solidFill>
            <a:srgbClr val="E8251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6" name="Text 57"/>
          <p:cNvSpPr txBox="1"/>
          <p:nvPr/>
        </p:nvSpPr>
        <p:spPr>
          <a:xfrm>
            <a:off x="5148071" y="2805429"/>
            <a:ext cx="375818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E825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LangGraph / AutoGen — durable state, retry, A2A communication</a:t>
            </a:r>
          </a:p>
        </p:txBody>
      </p:sp>
      <p:sp>
        <p:nvSpPr>
          <p:cNvPr id="467" name="Shape 58"/>
          <p:cNvSpPr/>
          <p:nvPr/>
        </p:nvSpPr>
        <p:spPr>
          <a:xfrm>
            <a:off x="182879" y="3012948"/>
            <a:ext cx="1508762" cy="251460"/>
          </a:xfrm>
          <a:prstGeom prst="rect">
            <a:avLst/>
          </a:prstGeom>
          <a:solidFill>
            <a:srgbClr val="EEF3F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8" name="Text 59"/>
          <p:cNvSpPr txBox="1"/>
          <p:nvPr/>
        </p:nvSpPr>
        <p:spPr>
          <a:xfrm>
            <a:off x="237743" y="3075177"/>
            <a:ext cx="139903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0A162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Security / RBAC</a:t>
            </a:r>
          </a:p>
        </p:txBody>
      </p:sp>
      <p:sp>
        <p:nvSpPr>
          <p:cNvPr id="469" name="Shape 60"/>
          <p:cNvSpPr/>
          <p:nvPr/>
        </p:nvSpPr>
        <p:spPr>
          <a:xfrm>
            <a:off x="1764792" y="3012948"/>
            <a:ext cx="3246122" cy="251460"/>
          </a:xfrm>
          <a:prstGeom prst="rect">
            <a:avLst/>
          </a:prstGeom>
          <a:solidFill>
            <a:srgbClr val="EEF3F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0" name="Text 61"/>
          <p:cNvSpPr txBox="1"/>
          <p:nvPr/>
        </p:nvSpPr>
        <p:spPr>
          <a:xfrm>
            <a:off x="1819655" y="3075177"/>
            <a:ext cx="313639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800">
                <a:solidFill>
                  <a:srgbClr val="776655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Python dict ROLE_PERMISSIONS + check_access()</a:t>
            </a:r>
          </a:p>
        </p:txBody>
      </p:sp>
      <p:sp>
        <p:nvSpPr>
          <p:cNvPr id="471" name="Shape 62"/>
          <p:cNvSpPr/>
          <p:nvPr/>
        </p:nvSpPr>
        <p:spPr>
          <a:xfrm>
            <a:off x="5084064" y="3012948"/>
            <a:ext cx="3877058" cy="251460"/>
          </a:xfrm>
          <a:prstGeom prst="rect">
            <a:avLst/>
          </a:prstGeom>
          <a:solidFill>
            <a:srgbClr val="EEF3F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2" name="Shape 63"/>
          <p:cNvSpPr/>
          <p:nvPr/>
        </p:nvSpPr>
        <p:spPr>
          <a:xfrm>
            <a:off x="5084064" y="3012948"/>
            <a:ext cx="50294" cy="251460"/>
          </a:xfrm>
          <a:prstGeom prst="rect">
            <a:avLst/>
          </a:prstGeom>
          <a:solidFill>
            <a:srgbClr val="0078D4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3" name="Text 64"/>
          <p:cNvSpPr txBox="1"/>
          <p:nvPr/>
        </p:nvSpPr>
        <p:spPr>
          <a:xfrm>
            <a:off x="5148071" y="3075177"/>
            <a:ext cx="375818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0078D4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Azure Active Directory + Managed Identity + SCIM provisioning</a:t>
            </a:r>
          </a:p>
        </p:txBody>
      </p:sp>
      <p:sp>
        <p:nvSpPr>
          <p:cNvPr id="474" name="Shape 65"/>
          <p:cNvSpPr/>
          <p:nvPr/>
        </p:nvSpPr>
        <p:spPr>
          <a:xfrm>
            <a:off x="182879" y="3282696"/>
            <a:ext cx="1508762" cy="25146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5" name="Text 66"/>
          <p:cNvSpPr txBox="1"/>
          <p:nvPr/>
        </p:nvSpPr>
        <p:spPr>
          <a:xfrm>
            <a:off x="237743" y="3344926"/>
            <a:ext cx="139903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0A162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Data Masking</a:t>
            </a:r>
          </a:p>
        </p:txBody>
      </p:sp>
      <p:sp>
        <p:nvSpPr>
          <p:cNvPr id="476" name="Shape 67"/>
          <p:cNvSpPr/>
          <p:nvPr/>
        </p:nvSpPr>
        <p:spPr>
          <a:xfrm>
            <a:off x="1764792" y="3282696"/>
            <a:ext cx="3246122" cy="25146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7" name="Text 68"/>
          <p:cNvSpPr txBox="1"/>
          <p:nvPr/>
        </p:nvSpPr>
        <p:spPr>
          <a:xfrm>
            <a:off x="1819655" y="3344926"/>
            <a:ext cx="313639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800">
                <a:solidFill>
                  <a:srgbClr val="776655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mask_sensitive_data() function — manual code</a:t>
            </a:r>
          </a:p>
        </p:txBody>
      </p:sp>
      <p:sp>
        <p:nvSpPr>
          <p:cNvPr id="478" name="Shape 69"/>
          <p:cNvSpPr/>
          <p:nvPr/>
        </p:nvSpPr>
        <p:spPr>
          <a:xfrm>
            <a:off x="5084064" y="3282696"/>
            <a:ext cx="3877058" cy="25146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9" name="Shape 70"/>
          <p:cNvSpPr/>
          <p:nvPr/>
        </p:nvSpPr>
        <p:spPr>
          <a:xfrm>
            <a:off x="5084064" y="3282696"/>
            <a:ext cx="50294" cy="251460"/>
          </a:xfrm>
          <a:prstGeom prst="rect">
            <a:avLst/>
          </a:prstGeom>
          <a:solidFill>
            <a:srgbClr val="E8251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0" name="Text 71"/>
          <p:cNvSpPr txBox="1"/>
          <p:nvPr/>
        </p:nvSpPr>
        <p:spPr>
          <a:xfrm>
            <a:off x="5148071" y="3344926"/>
            <a:ext cx="375818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E825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Unity Catalog column-level masking — policy-based, no code</a:t>
            </a:r>
          </a:p>
        </p:txBody>
      </p:sp>
      <p:sp>
        <p:nvSpPr>
          <p:cNvPr id="481" name="Shape 72"/>
          <p:cNvSpPr/>
          <p:nvPr/>
        </p:nvSpPr>
        <p:spPr>
          <a:xfrm>
            <a:off x="182879" y="3552444"/>
            <a:ext cx="1508762" cy="251460"/>
          </a:xfrm>
          <a:prstGeom prst="rect">
            <a:avLst/>
          </a:prstGeom>
          <a:solidFill>
            <a:srgbClr val="EEF3F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2" name="Text 73"/>
          <p:cNvSpPr txBox="1"/>
          <p:nvPr/>
        </p:nvSpPr>
        <p:spPr>
          <a:xfrm>
            <a:off x="237743" y="3614673"/>
            <a:ext cx="139903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0A162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Governance</a:t>
            </a:r>
          </a:p>
        </p:txBody>
      </p:sp>
      <p:sp>
        <p:nvSpPr>
          <p:cNvPr id="483" name="Shape 74"/>
          <p:cNvSpPr/>
          <p:nvPr/>
        </p:nvSpPr>
        <p:spPr>
          <a:xfrm>
            <a:off x="1764792" y="3552444"/>
            <a:ext cx="3246122" cy="251460"/>
          </a:xfrm>
          <a:prstGeom prst="rect">
            <a:avLst/>
          </a:prstGeom>
          <a:solidFill>
            <a:srgbClr val="EEF3F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4" name="Text 75"/>
          <p:cNvSpPr txBox="1"/>
          <p:nvPr/>
        </p:nvSpPr>
        <p:spPr>
          <a:xfrm>
            <a:off x="1819655" y="3614673"/>
            <a:ext cx="313639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800">
                <a:solidFill>
                  <a:srgbClr val="776655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AILineageTracker in-memory Python class</a:t>
            </a:r>
          </a:p>
        </p:txBody>
      </p:sp>
      <p:sp>
        <p:nvSpPr>
          <p:cNvPr id="485" name="Shape 76"/>
          <p:cNvSpPr/>
          <p:nvPr/>
        </p:nvSpPr>
        <p:spPr>
          <a:xfrm>
            <a:off x="5084064" y="3552444"/>
            <a:ext cx="3877058" cy="251460"/>
          </a:xfrm>
          <a:prstGeom prst="rect">
            <a:avLst/>
          </a:prstGeom>
          <a:solidFill>
            <a:srgbClr val="EEF3F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6" name="Shape 77"/>
          <p:cNvSpPr/>
          <p:nvPr/>
        </p:nvSpPr>
        <p:spPr>
          <a:xfrm>
            <a:off x="5084064" y="3552444"/>
            <a:ext cx="50294" cy="251460"/>
          </a:xfrm>
          <a:prstGeom prst="rect">
            <a:avLst/>
          </a:prstGeom>
          <a:solidFill>
            <a:srgbClr val="E8251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7" name="Text 78"/>
          <p:cNvSpPr txBox="1"/>
          <p:nvPr/>
        </p:nvSpPr>
        <p:spPr>
          <a:xfrm>
            <a:off x="5148071" y="3614673"/>
            <a:ext cx="375818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E825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Unity Catalog — data lineage, column audit, access policies</a:t>
            </a:r>
          </a:p>
        </p:txBody>
      </p:sp>
      <p:sp>
        <p:nvSpPr>
          <p:cNvPr id="488" name="Shape 79"/>
          <p:cNvSpPr/>
          <p:nvPr/>
        </p:nvSpPr>
        <p:spPr>
          <a:xfrm>
            <a:off x="182879" y="3822191"/>
            <a:ext cx="1508762" cy="25146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9" name="Text 80"/>
          <p:cNvSpPr txBox="1"/>
          <p:nvPr/>
        </p:nvSpPr>
        <p:spPr>
          <a:xfrm>
            <a:off x="237743" y="3884421"/>
            <a:ext cx="139903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0A162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LLMOps / MLOps</a:t>
            </a:r>
          </a:p>
        </p:txBody>
      </p:sp>
      <p:sp>
        <p:nvSpPr>
          <p:cNvPr id="490" name="Shape 81"/>
          <p:cNvSpPr/>
          <p:nvPr/>
        </p:nvSpPr>
        <p:spPr>
          <a:xfrm>
            <a:off x="1764792" y="3822191"/>
            <a:ext cx="3246122" cy="25146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1" name="Text 82"/>
          <p:cNvSpPr txBox="1"/>
          <p:nvPr/>
        </p:nvSpPr>
        <p:spPr>
          <a:xfrm>
            <a:off x="1819655" y="3884421"/>
            <a:ext cx="313639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800">
                <a:solidFill>
                  <a:srgbClr val="776655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LLMOpsTracker class + logging.info() print logs</a:t>
            </a:r>
          </a:p>
        </p:txBody>
      </p:sp>
      <p:sp>
        <p:nvSpPr>
          <p:cNvPr id="492" name="Shape 83"/>
          <p:cNvSpPr/>
          <p:nvPr/>
        </p:nvSpPr>
        <p:spPr>
          <a:xfrm>
            <a:off x="5084064" y="3822191"/>
            <a:ext cx="3877058" cy="25146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3" name="Shape 84"/>
          <p:cNvSpPr/>
          <p:nvPr/>
        </p:nvSpPr>
        <p:spPr>
          <a:xfrm>
            <a:off x="5084064" y="3822191"/>
            <a:ext cx="50294" cy="251460"/>
          </a:xfrm>
          <a:prstGeom prst="rect">
            <a:avLst/>
          </a:prstGeom>
          <a:solidFill>
            <a:srgbClr val="E8251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4" name="Text 85"/>
          <p:cNvSpPr txBox="1"/>
          <p:nvPr/>
        </p:nvSpPr>
        <p:spPr>
          <a:xfrm>
            <a:off x="5148071" y="3884421"/>
            <a:ext cx="375818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E825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MLflow Model Registry + Databricks Lakehouse Monitoring</a:t>
            </a:r>
          </a:p>
        </p:txBody>
      </p:sp>
      <p:sp>
        <p:nvSpPr>
          <p:cNvPr id="495" name="Shape 86"/>
          <p:cNvSpPr/>
          <p:nvPr/>
        </p:nvSpPr>
        <p:spPr>
          <a:xfrm>
            <a:off x="182879" y="4091940"/>
            <a:ext cx="1508762" cy="251460"/>
          </a:xfrm>
          <a:prstGeom prst="rect">
            <a:avLst/>
          </a:prstGeom>
          <a:solidFill>
            <a:srgbClr val="EEF3F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6" name="Text 87"/>
          <p:cNvSpPr txBox="1"/>
          <p:nvPr/>
        </p:nvSpPr>
        <p:spPr>
          <a:xfrm>
            <a:off x="237743" y="4154170"/>
            <a:ext cx="139903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0A162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API Layer</a:t>
            </a:r>
          </a:p>
        </p:txBody>
      </p:sp>
      <p:sp>
        <p:nvSpPr>
          <p:cNvPr id="497" name="Shape 88"/>
          <p:cNvSpPr/>
          <p:nvPr/>
        </p:nvSpPr>
        <p:spPr>
          <a:xfrm>
            <a:off x="1764792" y="4091940"/>
            <a:ext cx="3246122" cy="251460"/>
          </a:xfrm>
          <a:prstGeom prst="rect">
            <a:avLst/>
          </a:prstGeom>
          <a:solidFill>
            <a:srgbClr val="EEF3F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8" name="Text 89"/>
          <p:cNvSpPr txBox="1"/>
          <p:nvPr/>
        </p:nvSpPr>
        <p:spPr>
          <a:xfrm>
            <a:off x="1819655" y="4154170"/>
            <a:ext cx="313639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800">
                <a:solidFill>
                  <a:srgbClr val="776655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FastAPI localhost:8000 — reads static JSON file</a:t>
            </a:r>
          </a:p>
        </p:txBody>
      </p:sp>
      <p:sp>
        <p:nvSpPr>
          <p:cNvPr id="499" name="Shape 90"/>
          <p:cNvSpPr/>
          <p:nvPr/>
        </p:nvSpPr>
        <p:spPr>
          <a:xfrm>
            <a:off x="5084064" y="4091940"/>
            <a:ext cx="3877058" cy="251460"/>
          </a:xfrm>
          <a:prstGeom prst="rect">
            <a:avLst/>
          </a:prstGeom>
          <a:solidFill>
            <a:srgbClr val="EEF3F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0" name="Shape 91"/>
          <p:cNvSpPr/>
          <p:nvPr/>
        </p:nvSpPr>
        <p:spPr>
          <a:xfrm>
            <a:off x="5084064" y="4091940"/>
            <a:ext cx="50294" cy="251460"/>
          </a:xfrm>
          <a:prstGeom prst="rect">
            <a:avLst/>
          </a:prstGeom>
          <a:solidFill>
            <a:srgbClr val="0078D4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1" name="Text 92"/>
          <p:cNvSpPr txBox="1"/>
          <p:nvPr/>
        </p:nvSpPr>
        <p:spPr>
          <a:xfrm>
            <a:off x="5148071" y="4154170"/>
            <a:ext cx="375818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0078D4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Databricks Model Serving REST endpoint / Azure API Management</a:t>
            </a:r>
          </a:p>
        </p:txBody>
      </p:sp>
      <p:sp>
        <p:nvSpPr>
          <p:cNvPr id="502" name="Shape 93"/>
          <p:cNvSpPr/>
          <p:nvPr/>
        </p:nvSpPr>
        <p:spPr>
          <a:xfrm>
            <a:off x="182879" y="4361688"/>
            <a:ext cx="1508762" cy="25146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3" name="Text 94"/>
          <p:cNvSpPr txBox="1"/>
          <p:nvPr/>
        </p:nvSpPr>
        <p:spPr>
          <a:xfrm>
            <a:off x="237743" y="4423917"/>
            <a:ext cx="139903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0A162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Dashboard</a:t>
            </a:r>
          </a:p>
        </p:txBody>
      </p:sp>
      <p:sp>
        <p:nvSpPr>
          <p:cNvPr id="504" name="Shape 95"/>
          <p:cNvSpPr/>
          <p:nvPr/>
        </p:nvSpPr>
        <p:spPr>
          <a:xfrm>
            <a:off x="1764792" y="4361688"/>
            <a:ext cx="3246122" cy="25146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5" name="Text 96"/>
          <p:cNvSpPr txBox="1"/>
          <p:nvPr/>
        </p:nvSpPr>
        <p:spPr>
          <a:xfrm>
            <a:off x="1819655" y="4423917"/>
            <a:ext cx="313639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800">
                <a:solidFill>
                  <a:srgbClr val="776655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Static dashboard.html via FastAPI FileResponse</a:t>
            </a:r>
          </a:p>
        </p:txBody>
      </p:sp>
      <p:sp>
        <p:nvSpPr>
          <p:cNvPr id="506" name="Shape 97"/>
          <p:cNvSpPr/>
          <p:nvPr/>
        </p:nvSpPr>
        <p:spPr>
          <a:xfrm>
            <a:off x="5084064" y="4361688"/>
            <a:ext cx="3877058" cy="25146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7" name="Shape 98"/>
          <p:cNvSpPr/>
          <p:nvPr/>
        </p:nvSpPr>
        <p:spPr>
          <a:xfrm>
            <a:off x="5084064" y="4361688"/>
            <a:ext cx="50294" cy="251460"/>
          </a:xfrm>
          <a:prstGeom prst="rect">
            <a:avLst/>
          </a:prstGeom>
          <a:solidFill>
            <a:srgbClr val="0078D4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8" name="Text 99"/>
          <p:cNvSpPr txBox="1"/>
          <p:nvPr/>
        </p:nvSpPr>
        <p:spPr>
          <a:xfrm>
            <a:off x="5148071" y="4423917"/>
            <a:ext cx="375818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0078D4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Power BI Premium — live DirectQuery on Delta Gold tables</a:t>
            </a:r>
          </a:p>
        </p:txBody>
      </p:sp>
      <p:sp>
        <p:nvSpPr>
          <p:cNvPr id="509" name="Shape 100"/>
          <p:cNvSpPr/>
          <p:nvPr/>
        </p:nvSpPr>
        <p:spPr>
          <a:xfrm>
            <a:off x="182879" y="4631435"/>
            <a:ext cx="1508762" cy="251460"/>
          </a:xfrm>
          <a:prstGeom prst="rect">
            <a:avLst/>
          </a:prstGeom>
          <a:solidFill>
            <a:srgbClr val="EEF3F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0" name="Text 101"/>
          <p:cNvSpPr txBox="1"/>
          <p:nvPr/>
        </p:nvSpPr>
        <p:spPr>
          <a:xfrm>
            <a:off x="237743" y="4693665"/>
            <a:ext cx="139903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0A162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CI/CD</a:t>
            </a:r>
          </a:p>
        </p:txBody>
      </p:sp>
      <p:sp>
        <p:nvSpPr>
          <p:cNvPr id="511" name="Shape 102"/>
          <p:cNvSpPr/>
          <p:nvPr/>
        </p:nvSpPr>
        <p:spPr>
          <a:xfrm>
            <a:off x="1764792" y="4631435"/>
            <a:ext cx="3246122" cy="251460"/>
          </a:xfrm>
          <a:prstGeom prst="rect">
            <a:avLst/>
          </a:prstGeom>
          <a:solidFill>
            <a:srgbClr val="EEF3F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2" name="Text 103"/>
          <p:cNvSpPr txBox="1"/>
          <p:nvPr/>
        </p:nvSpPr>
        <p:spPr>
          <a:xfrm>
            <a:off x="1819655" y="4693665"/>
            <a:ext cx="313639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800">
                <a:solidFill>
                  <a:srgbClr val="776655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None — manual notebook execution</a:t>
            </a:r>
          </a:p>
        </p:txBody>
      </p:sp>
      <p:sp>
        <p:nvSpPr>
          <p:cNvPr id="513" name="Shape 104"/>
          <p:cNvSpPr/>
          <p:nvPr/>
        </p:nvSpPr>
        <p:spPr>
          <a:xfrm>
            <a:off x="5084064" y="4631435"/>
            <a:ext cx="3877058" cy="251460"/>
          </a:xfrm>
          <a:prstGeom prst="rect">
            <a:avLst/>
          </a:prstGeom>
          <a:solidFill>
            <a:srgbClr val="EEF3F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4" name="Shape 105"/>
          <p:cNvSpPr/>
          <p:nvPr/>
        </p:nvSpPr>
        <p:spPr>
          <a:xfrm>
            <a:off x="5084064" y="4631435"/>
            <a:ext cx="50294" cy="251460"/>
          </a:xfrm>
          <a:prstGeom prst="rect">
            <a:avLst/>
          </a:prstGeom>
          <a:solidFill>
            <a:srgbClr val="E8251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5" name="Text 106"/>
          <p:cNvSpPr txBox="1"/>
          <p:nvPr/>
        </p:nvSpPr>
        <p:spPr>
          <a:xfrm>
            <a:off x="5148071" y="4693665"/>
            <a:ext cx="375818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E8251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GitHub Actions + Databricks Asset Bundles + blue-green deploy</a:t>
            </a:r>
          </a:p>
        </p:txBody>
      </p:sp>
      <p:sp>
        <p:nvSpPr>
          <p:cNvPr id="516" name="Shape 107"/>
          <p:cNvSpPr/>
          <p:nvPr/>
        </p:nvSpPr>
        <p:spPr>
          <a:xfrm>
            <a:off x="182878" y="4846320"/>
            <a:ext cx="182884" cy="109730"/>
          </a:xfrm>
          <a:prstGeom prst="rect">
            <a:avLst/>
          </a:prstGeom>
          <a:solidFill>
            <a:srgbClr val="E8251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7" name="Text 108"/>
          <p:cNvSpPr txBox="1"/>
          <p:nvPr/>
        </p:nvSpPr>
        <p:spPr>
          <a:xfrm>
            <a:off x="402336" y="4837684"/>
            <a:ext cx="1828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Databricks native service</a:t>
            </a:r>
          </a:p>
        </p:txBody>
      </p:sp>
      <p:sp>
        <p:nvSpPr>
          <p:cNvPr id="518" name="Shape 109"/>
          <p:cNvSpPr/>
          <p:nvPr/>
        </p:nvSpPr>
        <p:spPr>
          <a:xfrm>
            <a:off x="2377438" y="4846320"/>
            <a:ext cx="182882" cy="109730"/>
          </a:xfrm>
          <a:prstGeom prst="rect">
            <a:avLst/>
          </a:prstGeom>
          <a:solidFill>
            <a:srgbClr val="0078D4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9" name="Text 110"/>
          <p:cNvSpPr txBox="1"/>
          <p:nvPr/>
        </p:nvSpPr>
        <p:spPr>
          <a:xfrm>
            <a:off x="2596894" y="4837684"/>
            <a:ext cx="18288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Azure managed service</a:t>
            </a:r>
          </a:p>
        </p:txBody>
      </p:sp>
      <p:sp>
        <p:nvSpPr>
          <p:cNvPr id="520" name="Text 111"/>
          <p:cNvSpPr txBox="1"/>
          <p:nvPr/>
        </p:nvSpPr>
        <p:spPr>
          <a:xfrm>
            <a:off x="0" y="4999988"/>
            <a:ext cx="91440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8899BB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CONFIDENTIAL  |  NTT DATA  |  GenAI AML Risk Workshop 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Shape 0"/>
          <p:cNvSpPr/>
          <p:nvPr/>
        </p:nvSpPr>
        <p:spPr>
          <a:xfrm>
            <a:off x="0" y="-1"/>
            <a:ext cx="9144000" cy="658370"/>
          </a:xfrm>
          <a:prstGeom prst="rect">
            <a:avLst/>
          </a:prstGeom>
          <a:solidFill>
            <a:srgbClr val="0A1628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3" name="Text 1"/>
          <p:cNvSpPr txBox="1"/>
          <p:nvPr/>
        </p:nvSpPr>
        <p:spPr>
          <a:xfrm>
            <a:off x="274319" y="204813"/>
            <a:ext cx="6217923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FastAPI REST Layer</a:t>
            </a:r>
          </a:p>
        </p:txBody>
      </p:sp>
      <p:sp>
        <p:nvSpPr>
          <p:cNvPr id="524" name="Text 2"/>
          <p:cNvSpPr txBox="1"/>
          <p:nvPr/>
        </p:nvSpPr>
        <p:spPr>
          <a:xfrm>
            <a:off x="6492240" y="260647"/>
            <a:ext cx="251460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F5A623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8 Production Endpoints — AML Risk API</a:t>
            </a:r>
          </a:p>
        </p:txBody>
      </p:sp>
      <p:sp>
        <p:nvSpPr>
          <p:cNvPr id="525" name="Shape 3"/>
          <p:cNvSpPr/>
          <p:nvPr/>
        </p:nvSpPr>
        <p:spPr>
          <a:xfrm>
            <a:off x="228600" y="777240"/>
            <a:ext cx="8686800" cy="47548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88900" dist="25400" dir="8100000">
              <a:srgbClr val="000000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6" name="Shape 4"/>
          <p:cNvSpPr/>
          <p:nvPr/>
        </p:nvSpPr>
        <p:spPr>
          <a:xfrm>
            <a:off x="228600" y="777240"/>
            <a:ext cx="566928" cy="475488"/>
          </a:xfrm>
          <a:prstGeom prst="rect">
            <a:avLst/>
          </a:prstGeom>
          <a:solidFill>
            <a:srgbClr val="00AA66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7" name="Text 5"/>
          <p:cNvSpPr txBox="1"/>
          <p:nvPr/>
        </p:nvSpPr>
        <p:spPr>
          <a:xfrm>
            <a:off x="228600" y="945133"/>
            <a:ext cx="566928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GET</a:t>
            </a:r>
          </a:p>
        </p:txBody>
      </p:sp>
      <p:sp>
        <p:nvSpPr>
          <p:cNvPr id="528" name="Text 6"/>
          <p:cNvSpPr txBox="1"/>
          <p:nvPr/>
        </p:nvSpPr>
        <p:spPr>
          <a:xfrm>
            <a:off x="868680" y="795527"/>
            <a:ext cx="224028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0A1628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/</a:t>
            </a:r>
          </a:p>
        </p:txBody>
      </p:sp>
      <p:sp>
        <p:nvSpPr>
          <p:cNvPr id="529" name="Text 7"/>
          <p:cNvSpPr txBox="1"/>
          <p:nvPr/>
        </p:nvSpPr>
        <p:spPr>
          <a:xfrm>
            <a:off x="868679" y="1070355"/>
            <a:ext cx="324612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Health check — API status + total transaction count</a:t>
            </a:r>
          </a:p>
        </p:txBody>
      </p:sp>
      <p:sp>
        <p:nvSpPr>
          <p:cNvPr id="530" name="Shape 8"/>
          <p:cNvSpPr/>
          <p:nvPr/>
        </p:nvSpPr>
        <p:spPr>
          <a:xfrm>
            <a:off x="4160520" y="813816"/>
            <a:ext cx="4663442" cy="402338"/>
          </a:xfrm>
          <a:prstGeom prst="rect">
            <a:avLst/>
          </a:prstGeom>
          <a:solidFill>
            <a:srgbClr val="1E1E2E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1" name="Text 9"/>
          <p:cNvSpPr txBox="1"/>
          <p:nvPr/>
        </p:nvSpPr>
        <p:spPr>
          <a:xfrm>
            <a:off x="4224528" y="951483"/>
            <a:ext cx="455371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A8D8A8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{"message":"AML Risk API is running","total_transactions":5}</a:t>
            </a:r>
          </a:p>
        </p:txBody>
      </p:sp>
      <p:sp>
        <p:nvSpPr>
          <p:cNvPr id="532" name="Shape 10"/>
          <p:cNvSpPr/>
          <p:nvPr/>
        </p:nvSpPr>
        <p:spPr>
          <a:xfrm>
            <a:off x="228600" y="1303019"/>
            <a:ext cx="8686800" cy="47548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88900" dist="25400" dir="8100000">
              <a:srgbClr val="000000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3" name="Shape 11"/>
          <p:cNvSpPr/>
          <p:nvPr/>
        </p:nvSpPr>
        <p:spPr>
          <a:xfrm>
            <a:off x="228600" y="1303019"/>
            <a:ext cx="566928" cy="475488"/>
          </a:xfrm>
          <a:prstGeom prst="rect">
            <a:avLst/>
          </a:prstGeom>
          <a:solidFill>
            <a:srgbClr val="00AA66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4" name="Text 12"/>
          <p:cNvSpPr txBox="1"/>
          <p:nvPr/>
        </p:nvSpPr>
        <p:spPr>
          <a:xfrm>
            <a:off x="228600" y="1470913"/>
            <a:ext cx="566928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GET</a:t>
            </a:r>
          </a:p>
        </p:txBody>
      </p:sp>
      <p:sp>
        <p:nvSpPr>
          <p:cNvPr id="535" name="Text 13"/>
          <p:cNvSpPr txBox="1"/>
          <p:nvPr/>
        </p:nvSpPr>
        <p:spPr>
          <a:xfrm>
            <a:off x="868680" y="1321308"/>
            <a:ext cx="224028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0A1628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/transactions</a:t>
            </a:r>
          </a:p>
        </p:txBody>
      </p:sp>
      <p:sp>
        <p:nvSpPr>
          <p:cNvPr id="536" name="Text 14"/>
          <p:cNvSpPr txBox="1"/>
          <p:nvPr/>
        </p:nvSpPr>
        <p:spPr>
          <a:xfrm>
            <a:off x="868679" y="1596136"/>
            <a:ext cx="324612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Retrieve full list of all processed transactions with MCP results</a:t>
            </a:r>
          </a:p>
        </p:txBody>
      </p:sp>
      <p:sp>
        <p:nvSpPr>
          <p:cNvPr id="537" name="Shape 15"/>
          <p:cNvSpPr/>
          <p:nvPr/>
        </p:nvSpPr>
        <p:spPr>
          <a:xfrm>
            <a:off x="4160520" y="1339596"/>
            <a:ext cx="4663442" cy="402338"/>
          </a:xfrm>
          <a:prstGeom prst="rect">
            <a:avLst/>
          </a:prstGeom>
          <a:solidFill>
            <a:srgbClr val="1E1E2E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8" name="Text 16"/>
          <p:cNvSpPr txBox="1"/>
          <p:nvPr/>
        </p:nvSpPr>
        <p:spPr>
          <a:xfrm>
            <a:off x="4224528" y="1477263"/>
            <a:ext cx="455371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A8D8A8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[array of full transaction result objects]</a:t>
            </a:r>
          </a:p>
        </p:txBody>
      </p:sp>
      <p:sp>
        <p:nvSpPr>
          <p:cNvPr id="539" name="Shape 17"/>
          <p:cNvSpPr/>
          <p:nvPr/>
        </p:nvSpPr>
        <p:spPr>
          <a:xfrm>
            <a:off x="228600" y="1828799"/>
            <a:ext cx="8686800" cy="47548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88900" dist="25400" dir="8100000">
              <a:srgbClr val="000000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0" name="Shape 18"/>
          <p:cNvSpPr/>
          <p:nvPr/>
        </p:nvSpPr>
        <p:spPr>
          <a:xfrm>
            <a:off x="228600" y="1828799"/>
            <a:ext cx="566928" cy="475489"/>
          </a:xfrm>
          <a:prstGeom prst="rect">
            <a:avLst/>
          </a:prstGeom>
          <a:solidFill>
            <a:srgbClr val="00AA66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1" name="Text 19"/>
          <p:cNvSpPr txBox="1"/>
          <p:nvPr/>
        </p:nvSpPr>
        <p:spPr>
          <a:xfrm>
            <a:off x="228600" y="1996693"/>
            <a:ext cx="566928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GET</a:t>
            </a:r>
          </a:p>
        </p:txBody>
      </p:sp>
      <p:sp>
        <p:nvSpPr>
          <p:cNvPr id="542" name="Text 20"/>
          <p:cNvSpPr txBox="1"/>
          <p:nvPr/>
        </p:nvSpPr>
        <p:spPr>
          <a:xfrm>
            <a:off x="868680" y="1847088"/>
            <a:ext cx="224028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0A1628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/transaction/{txn_id}</a:t>
            </a:r>
          </a:p>
        </p:txBody>
      </p:sp>
      <p:sp>
        <p:nvSpPr>
          <p:cNvPr id="543" name="Text 21"/>
          <p:cNvSpPr txBox="1"/>
          <p:nvPr/>
        </p:nvSpPr>
        <p:spPr>
          <a:xfrm>
            <a:off x="868679" y="2121916"/>
            <a:ext cx="324612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Fetch single transaction by ID — includes risk, reasoning, validation, lineage</a:t>
            </a:r>
          </a:p>
        </p:txBody>
      </p:sp>
      <p:sp>
        <p:nvSpPr>
          <p:cNvPr id="544" name="Shape 22"/>
          <p:cNvSpPr/>
          <p:nvPr/>
        </p:nvSpPr>
        <p:spPr>
          <a:xfrm>
            <a:off x="4160520" y="1865376"/>
            <a:ext cx="4663442" cy="402338"/>
          </a:xfrm>
          <a:prstGeom prst="rect">
            <a:avLst/>
          </a:prstGeom>
          <a:solidFill>
            <a:srgbClr val="1E1E2E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5" name="Text 23"/>
          <p:cNvSpPr txBox="1"/>
          <p:nvPr/>
        </p:nvSpPr>
        <p:spPr>
          <a:xfrm>
            <a:off x="4224528" y="2003044"/>
            <a:ext cx="455371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A8D8A8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{"status":"SUCCESS","txn":{...},"flags":["High Value"],...}</a:t>
            </a:r>
          </a:p>
        </p:txBody>
      </p:sp>
      <p:sp>
        <p:nvSpPr>
          <p:cNvPr id="546" name="Shape 24"/>
          <p:cNvSpPr/>
          <p:nvPr/>
        </p:nvSpPr>
        <p:spPr>
          <a:xfrm>
            <a:off x="228600" y="2354578"/>
            <a:ext cx="8686800" cy="47548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88900" dist="25400" dir="8100000">
              <a:srgbClr val="000000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7" name="Shape 25"/>
          <p:cNvSpPr/>
          <p:nvPr/>
        </p:nvSpPr>
        <p:spPr>
          <a:xfrm>
            <a:off x="228600" y="2354578"/>
            <a:ext cx="566928" cy="475488"/>
          </a:xfrm>
          <a:prstGeom prst="rect">
            <a:avLst/>
          </a:prstGeom>
          <a:solidFill>
            <a:srgbClr val="E078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8" name="Text 26"/>
          <p:cNvSpPr txBox="1"/>
          <p:nvPr/>
        </p:nvSpPr>
        <p:spPr>
          <a:xfrm>
            <a:off x="228600" y="2522472"/>
            <a:ext cx="566928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GET</a:t>
            </a:r>
          </a:p>
        </p:txBody>
      </p:sp>
      <p:sp>
        <p:nvSpPr>
          <p:cNvPr id="549" name="Text 27"/>
          <p:cNvSpPr txBox="1"/>
          <p:nvPr/>
        </p:nvSpPr>
        <p:spPr>
          <a:xfrm>
            <a:off x="868680" y="2372866"/>
            <a:ext cx="224028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0A1628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/flags</a:t>
            </a:r>
          </a:p>
        </p:txBody>
      </p:sp>
      <p:sp>
        <p:nvSpPr>
          <p:cNvPr id="550" name="Text 28"/>
          <p:cNvSpPr txBox="1"/>
          <p:nvPr/>
        </p:nvSpPr>
        <p:spPr>
          <a:xfrm>
            <a:off x="868679" y="2647694"/>
            <a:ext cx="324612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Get all HIGH risk band transactions only — for compliance review queue</a:t>
            </a:r>
          </a:p>
        </p:txBody>
      </p:sp>
      <p:sp>
        <p:nvSpPr>
          <p:cNvPr id="551" name="Shape 29"/>
          <p:cNvSpPr/>
          <p:nvPr/>
        </p:nvSpPr>
        <p:spPr>
          <a:xfrm>
            <a:off x="4160520" y="2391155"/>
            <a:ext cx="4663442" cy="402338"/>
          </a:xfrm>
          <a:prstGeom prst="rect">
            <a:avLst/>
          </a:prstGeom>
          <a:solidFill>
            <a:srgbClr val="1E1E2E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52" name="Text 30"/>
          <p:cNvSpPr txBox="1"/>
          <p:nvPr/>
        </p:nvSpPr>
        <p:spPr>
          <a:xfrm>
            <a:off x="4224528" y="2528822"/>
            <a:ext cx="455371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A8D8A8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[filtered list: risk_band == 'High']</a:t>
            </a:r>
          </a:p>
        </p:txBody>
      </p:sp>
      <p:sp>
        <p:nvSpPr>
          <p:cNvPr id="553" name="Shape 31"/>
          <p:cNvSpPr/>
          <p:nvPr/>
        </p:nvSpPr>
        <p:spPr>
          <a:xfrm>
            <a:off x="228600" y="2880360"/>
            <a:ext cx="8686800" cy="47548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88900" dist="25400" dir="8100000">
              <a:srgbClr val="000000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54" name="Shape 32"/>
          <p:cNvSpPr/>
          <p:nvPr/>
        </p:nvSpPr>
        <p:spPr>
          <a:xfrm>
            <a:off x="228600" y="2880360"/>
            <a:ext cx="566928" cy="475488"/>
          </a:xfrm>
          <a:prstGeom prst="rect">
            <a:avLst/>
          </a:prstGeom>
          <a:solidFill>
            <a:srgbClr val="0099A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55" name="Text 33"/>
          <p:cNvSpPr txBox="1"/>
          <p:nvPr/>
        </p:nvSpPr>
        <p:spPr>
          <a:xfrm>
            <a:off x="228600" y="3048253"/>
            <a:ext cx="566928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GET</a:t>
            </a:r>
          </a:p>
        </p:txBody>
      </p:sp>
      <p:sp>
        <p:nvSpPr>
          <p:cNvPr id="556" name="Text 34"/>
          <p:cNvSpPr txBox="1"/>
          <p:nvPr/>
        </p:nvSpPr>
        <p:spPr>
          <a:xfrm>
            <a:off x="868680" y="2898648"/>
            <a:ext cx="224028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0A1628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/metrics</a:t>
            </a:r>
          </a:p>
        </p:txBody>
      </p:sp>
      <p:sp>
        <p:nvSpPr>
          <p:cNvPr id="557" name="Text 35"/>
          <p:cNvSpPr txBox="1"/>
          <p:nvPr/>
        </p:nvSpPr>
        <p:spPr>
          <a:xfrm>
            <a:off x="868679" y="3173476"/>
            <a:ext cx="324612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LLMOps metrics per transaction — retrieval, reasoning, validation times</a:t>
            </a:r>
          </a:p>
        </p:txBody>
      </p:sp>
      <p:sp>
        <p:nvSpPr>
          <p:cNvPr id="558" name="Shape 36"/>
          <p:cNvSpPr/>
          <p:nvPr/>
        </p:nvSpPr>
        <p:spPr>
          <a:xfrm>
            <a:off x="4160520" y="2916934"/>
            <a:ext cx="4663442" cy="402338"/>
          </a:xfrm>
          <a:prstGeom prst="rect">
            <a:avLst/>
          </a:prstGeom>
          <a:solidFill>
            <a:srgbClr val="1E1E2E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59" name="Text 37"/>
          <p:cNvSpPr txBox="1"/>
          <p:nvPr/>
        </p:nvSpPr>
        <p:spPr>
          <a:xfrm>
            <a:off x="4224528" y="3054603"/>
            <a:ext cx="455371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A8D8A8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[{"txn_id":"TXN001","retrieval_time":0.002,...}]</a:t>
            </a:r>
          </a:p>
        </p:txBody>
      </p:sp>
      <p:sp>
        <p:nvSpPr>
          <p:cNvPr id="560" name="Shape 38"/>
          <p:cNvSpPr/>
          <p:nvPr/>
        </p:nvSpPr>
        <p:spPr>
          <a:xfrm>
            <a:off x="228600" y="3406140"/>
            <a:ext cx="8686800" cy="47548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88900" dist="25400" dir="8100000">
              <a:srgbClr val="000000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61" name="Shape 39"/>
          <p:cNvSpPr/>
          <p:nvPr/>
        </p:nvSpPr>
        <p:spPr>
          <a:xfrm>
            <a:off x="228600" y="3406140"/>
            <a:ext cx="566928" cy="475488"/>
          </a:xfrm>
          <a:prstGeom prst="rect">
            <a:avLst/>
          </a:prstGeom>
          <a:solidFill>
            <a:srgbClr val="6633BB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62" name="Text 40"/>
          <p:cNvSpPr txBox="1"/>
          <p:nvPr/>
        </p:nvSpPr>
        <p:spPr>
          <a:xfrm>
            <a:off x="228600" y="3574033"/>
            <a:ext cx="566928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GET</a:t>
            </a:r>
          </a:p>
        </p:txBody>
      </p:sp>
      <p:sp>
        <p:nvSpPr>
          <p:cNvPr id="563" name="Text 41"/>
          <p:cNvSpPr txBox="1"/>
          <p:nvPr/>
        </p:nvSpPr>
        <p:spPr>
          <a:xfrm>
            <a:off x="868680" y="3424428"/>
            <a:ext cx="224028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0A1628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/lineage/{txn_id}</a:t>
            </a:r>
          </a:p>
        </p:txBody>
      </p:sp>
      <p:sp>
        <p:nvSpPr>
          <p:cNvPr id="564" name="Text 42"/>
          <p:cNvSpPr txBox="1"/>
          <p:nvPr/>
        </p:nvSpPr>
        <p:spPr>
          <a:xfrm>
            <a:off x="868679" y="3699254"/>
            <a:ext cx="324612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AI lineage trace — all stages: retrieval → reasoning → validation → decision</a:t>
            </a:r>
          </a:p>
        </p:txBody>
      </p:sp>
      <p:sp>
        <p:nvSpPr>
          <p:cNvPr id="565" name="Shape 43"/>
          <p:cNvSpPr/>
          <p:nvPr/>
        </p:nvSpPr>
        <p:spPr>
          <a:xfrm>
            <a:off x="4160520" y="3442715"/>
            <a:ext cx="4663442" cy="402338"/>
          </a:xfrm>
          <a:prstGeom prst="rect">
            <a:avLst/>
          </a:prstGeom>
          <a:solidFill>
            <a:srgbClr val="1E1E2E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66" name="Text 44"/>
          <p:cNvSpPr txBox="1"/>
          <p:nvPr/>
        </p:nvSpPr>
        <p:spPr>
          <a:xfrm>
            <a:off x="4224528" y="3580383"/>
            <a:ext cx="455371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A8D8A8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[{"stage":"retrieval","input":{...},"output":{...}}]</a:t>
            </a:r>
          </a:p>
        </p:txBody>
      </p:sp>
      <p:sp>
        <p:nvSpPr>
          <p:cNvPr id="567" name="Shape 45"/>
          <p:cNvSpPr/>
          <p:nvPr/>
        </p:nvSpPr>
        <p:spPr>
          <a:xfrm>
            <a:off x="228600" y="3931920"/>
            <a:ext cx="8686800" cy="47548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88900" dist="25400" dir="8100000">
              <a:srgbClr val="000000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68" name="Shape 46"/>
          <p:cNvSpPr/>
          <p:nvPr/>
        </p:nvSpPr>
        <p:spPr>
          <a:xfrm>
            <a:off x="228600" y="3931920"/>
            <a:ext cx="566928" cy="475488"/>
          </a:xfrm>
          <a:prstGeom prst="rect">
            <a:avLst/>
          </a:prstGeom>
          <a:solidFill>
            <a:srgbClr val="6633BB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69" name="Text 47"/>
          <p:cNvSpPr txBox="1"/>
          <p:nvPr/>
        </p:nvSpPr>
        <p:spPr>
          <a:xfrm>
            <a:off x="228600" y="4099812"/>
            <a:ext cx="566928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GET</a:t>
            </a:r>
          </a:p>
        </p:txBody>
      </p:sp>
      <p:sp>
        <p:nvSpPr>
          <p:cNvPr id="570" name="Text 48"/>
          <p:cNvSpPr txBox="1"/>
          <p:nvPr/>
        </p:nvSpPr>
        <p:spPr>
          <a:xfrm>
            <a:off x="868680" y="3950208"/>
            <a:ext cx="224028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0A1628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/reasoning/{txn_id}</a:t>
            </a:r>
          </a:p>
        </p:txBody>
      </p:sp>
      <p:sp>
        <p:nvSpPr>
          <p:cNvPr id="571" name="Text 49"/>
          <p:cNvSpPr txBox="1"/>
          <p:nvPr/>
        </p:nvSpPr>
        <p:spPr>
          <a:xfrm>
            <a:off x="868679" y="4225035"/>
            <a:ext cx="324612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Explainable reasoning output — decision basis, policy refs, risk summary</a:t>
            </a:r>
          </a:p>
        </p:txBody>
      </p:sp>
      <p:sp>
        <p:nvSpPr>
          <p:cNvPr id="572" name="Shape 50"/>
          <p:cNvSpPr/>
          <p:nvPr/>
        </p:nvSpPr>
        <p:spPr>
          <a:xfrm>
            <a:off x="4160520" y="3968496"/>
            <a:ext cx="4663442" cy="402338"/>
          </a:xfrm>
          <a:prstGeom prst="rect">
            <a:avLst/>
          </a:prstGeom>
          <a:solidFill>
            <a:srgbClr val="1E1E2E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73" name="Text 51"/>
          <p:cNvSpPr txBox="1"/>
          <p:nvPr/>
        </p:nvSpPr>
        <p:spPr>
          <a:xfrm>
            <a:off x="4224528" y="4106164"/>
            <a:ext cx="455371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A8D8A8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{"decision_basis":[...],"risk_factors":[...],"summary":"..."}</a:t>
            </a:r>
          </a:p>
        </p:txBody>
      </p:sp>
      <p:sp>
        <p:nvSpPr>
          <p:cNvPr id="574" name="Shape 52"/>
          <p:cNvSpPr/>
          <p:nvPr/>
        </p:nvSpPr>
        <p:spPr>
          <a:xfrm>
            <a:off x="228600" y="4457699"/>
            <a:ext cx="8686800" cy="47548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88900" dist="25400" dir="8100000">
              <a:srgbClr val="000000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75" name="Shape 53"/>
          <p:cNvSpPr/>
          <p:nvPr/>
        </p:nvSpPr>
        <p:spPr>
          <a:xfrm>
            <a:off x="228600" y="4457699"/>
            <a:ext cx="566928" cy="475489"/>
          </a:xfrm>
          <a:prstGeom prst="rect">
            <a:avLst/>
          </a:prstGeom>
          <a:solidFill>
            <a:srgbClr val="0066C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76" name="Text 54"/>
          <p:cNvSpPr txBox="1"/>
          <p:nvPr/>
        </p:nvSpPr>
        <p:spPr>
          <a:xfrm>
            <a:off x="228600" y="4625592"/>
            <a:ext cx="566928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GET</a:t>
            </a:r>
          </a:p>
        </p:txBody>
      </p:sp>
      <p:sp>
        <p:nvSpPr>
          <p:cNvPr id="577" name="Text 55"/>
          <p:cNvSpPr txBox="1"/>
          <p:nvPr/>
        </p:nvSpPr>
        <p:spPr>
          <a:xfrm>
            <a:off x="868680" y="4475988"/>
            <a:ext cx="224028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0A1628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/summary</a:t>
            </a:r>
          </a:p>
        </p:txBody>
      </p:sp>
      <p:sp>
        <p:nvSpPr>
          <p:cNvPr id="578" name="Text 56"/>
          <p:cNvSpPr txBox="1"/>
          <p:nvPr/>
        </p:nvSpPr>
        <p:spPr>
          <a:xfrm>
            <a:off x="868679" y="4750815"/>
            <a:ext cx="324612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Aggregate stats — total, high risk count, flagged count, avg retrieval time</a:t>
            </a:r>
          </a:p>
        </p:txBody>
      </p:sp>
      <p:sp>
        <p:nvSpPr>
          <p:cNvPr id="579" name="Shape 57"/>
          <p:cNvSpPr/>
          <p:nvPr/>
        </p:nvSpPr>
        <p:spPr>
          <a:xfrm>
            <a:off x="4160520" y="4494276"/>
            <a:ext cx="4663442" cy="402338"/>
          </a:xfrm>
          <a:prstGeom prst="rect">
            <a:avLst/>
          </a:prstGeom>
          <a:solidFill>
            <a:srgbClr val="1E1E2E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80" name="Text 58"/>
          <p:cNvSpPr txBox="1"/>
          <p:nvPr/>
        </p:nvSpPr>
        <p:spPr>
          <a:xfrm>
            <a:off x="4224528" y="4631944"/>
            <a:ext cx="455371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A8D8A8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{"total_transactions":5,"high_risk_count":3,...}</a:t>
            </a:r>
          </a:p>
        </p:txBody>
      </p:sp>
      <p:sp>
        <p:nvSpPr>
          <p:cNvPr id="581" name="Text 59"/>
          <p:cNvSpPr txBox="1"/>
          <p:nvPr/>
        </p:nvSpPr>
        <p:spPr>
          <a:xfrm>
            <a:off x="0" y="4999988"/>
            <a:ext cx="91440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8899BB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CONFIDENTIAL  |  NTT DATA  |  GenAI AML Risk Workshop 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Shape 0"/>
          <p:cNvSpPr/>
          <p:nvPr/>
        </p:nvSpPr>
        <p:spPr>
          <a:xfrm>
            <a:off x="0" y="-1"/>
            <a:ext cx="9144000" cy="658370"/>
          </a:xfrm>
          <a:prstGeom prst="rect">
            <a:avLst/>
          </a:prstGeom>
          <a:solidFill>
            <a:srgbClr val="0A1628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84" name="Text 1"/>
          <p:cNvSpPr txBox="1"/>
          <p:nvPr/>
        </p:nvSpPr>
        <p:spPr>
          <a:xfrm>
            <a:off x="274319" y="204813"/>
            <a:ext cx="6217923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Input / Output Walkthrough</a:t>
            </a:r>
          </a:p>
        </p:txBody>
      </p:sp>
      <p:sp>
        <p:nvSpPr>
          <p:cNvPr id="585" name="Text 2"/>
          <p:cNvSpPr txBox="1"/>
          <p:nvPr/>
        </p:nvSpPr>
        <p:spPr>
          <a:xfrm>
            <a:off x="6492240" y="260647"/>
            <a:ext cx="251460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F5A623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Live Transaction Processing — Actual Results</a:t>
            </a:r>
          </a:p>
        </p:txBody>
      </p:sp>
      <p:sp>
        <p:nvSpPr>
          <p:cNvPr id="586" name="Shape 3"/>
          <p:cNvSpPr/>
          <p:nvPr/>
        </p:nvSpPr>
        <p:spPr>
          <a:xfrm>
            <a:off x="228599" y="777240"/>
            <a:ext cx="4023362" cy="329186"/>
          </a:xfrm>
          <a:prstGeom prst="rect">
            <a:avLst/>
          </a:prstGeom>
          <a:solidFill>
            <a:srgbClr val="0066C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87" name="Text 4"/>
          <p:cNvSpPr txBox="1"/>
          <p:nvPr/>
        </p:nvSpPr>
        <p:spPr>
          <a:xfrm>
            <a:off x="228599" y="873296"/>
            <a:ext cx="4023362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INPUT — Raw Transactions (Bronze Layer)</a:t>
            </a:r>
          </a:p>
        </p:txBody>
      </p:sp>
      <p:sp>
        <p:nvSpPr>
          <p:cNvPr id="588" name="Shape 5"/>
          <p:cNvSpPr/>
          <p:nvPr/>
        </p:nvSpPr>
        <p:spPr>
          <a:xfrm>
            <a:off x="228599" y="1133855"/>
            <a:ext cx="987554" cy="274322"/>
          </a:xfrm>
          <a:prstGeom prst="rect">
            <a:avLst/>
          </a:prstGeom>
          <a:solidFill>
            <a:srgbClr val="334466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89" name="Text 6"/>
          <p:cNvSpPr txBox="1"/>
          <p:nvPr/>
        </p:nvSpPr>
        <p:spPr>
          <a:xfrm>
            <a:off x="228599" y="1207516"/>
            <a:ext cx="98755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TXN ID</a:t>
            </a:r>
          </a:p>
        </p:txBody>
      </p:sp>
      <p:sp>
        <p:nvSpPr>
          <p:cNvPr id="590" name="Shape 7"/>
          <p:cNvSpPr/>
          <p:nvPr/>
        </p:nvSpPr>
        <p:spPr>
          <a:xfrm>
            <a:off x="1234438" y="1133855"/>
            <a:ext cx="987554" cy="274322"/>
          </a:xfrm>
          <a:prstGeom prst="rect">
            <a:avLst/>
          </a:prstGeom>
          <a:solidFill>
            <a:srgbClr val="334466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91" name="Text 8"/>
          <p:cNvSpPr txBox="1"/>
          <p:nvPr/>
        </p:nvSpPr>
        <p:spPr>
          <a:xfrm>
            <a:off x="1234438" y="1207516"/>
            <a:ext cx="98755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Customer</a:t>
            </a:r>
          </a:p>
        </p:txBody>
      </p:sp>
      <p:sp>
        <p:nvSpPr>
          <p:cNvPr id="592" name="Shape 9"/>
          <p:cNvSpPr/>
          <p:nvPr/>
        </p:nvSpPr>
        <p:spPr>
          <a:xfrm>
            <a:off x="2240278" y="1133855"/>
            <a:ext cx="987554" cy="274322"/>
          </a:xfrm>
          <a:prstGeom prst="rect">
            <a:avLst/>
          </a:prstGeom>
          <a:solidFill>
            <a:srgbClr val="334466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93" name="Text 10"/>
          <p:cNvSpPr txBox="1"/>
          <p:nvPr/>
        </p:nvSpPr>
        <p:spPr>
          <a:xfrm>
            <a:off x="2240278" y="1207516"/>
            <a:ext cx="98755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Amount</a:t>
            </a:r>
          </a:p>
        </p:txBody>
      </p:sp>
      <p:sp>
        <p:nvSpPr>
          <p:cNvPr id="594" name="Shape 11"/>
          <p:cNvSpPr/>
          <p:nvPr/>
        </p:nvSpPr>
        <p:spPr>
          <a:xfrm>
            <a:off x="3246120" y="1133855"/>
            <a:ext cx="987554" cy="274322"/>
          </a:xfrm>
          <a:prstGeom prst="rect">
            <a:avLst/>
          </a:prstGeom>
          <a:solidFill>
            <a:srgbClr val="334466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95" name="Text 12"/>
          <p:cNvSpPr txBox="1"/>
          <p:nvPr/>
        </p:nvSpPr>
        <p:spPr>
          <a:xfrm>
            <a:off x="3246120" y="1207516"/>
            <a:ext cx="98755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Country</a:t>
            </a:r>
          </a:p>
        </p:txBody>
      </p:sp>
      <p:sp>
        <p:nvSpPr>
          <p:cNvPr id="596" name="Shape 13"/>
          <p:cNvSpPr/>
          <p:nvPr/>
        </p:nvSpPr>
        <p:spPr>
          <a:xfrm>
            <a:off x="228599" y="1426463"/>
            <a:ext cx="987554" cy="31089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97" name="Text 14"/>
          <p:cNvSpPr txBox="1"/>
          <p:nvPr/>
        </p:nvSpPr>
        <p:spPr>
          <a:xfrm>
            <a:off x="228599" y="1518410"/>
            <a:ext cx="98755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TXN001</a:t>
            </a:r>
          </a:p>
        </p:txBody>
      </p:sp>
      <p:sp>
        <p:nvSpPr>
          <p:cNvPr id="598" name="Shape 15"/>
          <p:cNvSpPr/>
          <p:nvPr/>
        </p:nvSpPr>
        <p:spPr>
          <a:xfrm>
            <a:off x="1234438" y="1426463"/>
            <a:ext cx="987554" cy="31089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99" name="Text 16"/>
          <p:cNvSpPr txBox="1"/>
          <p:nvPr/>
        </p:nvSpPr>
        <p:spPr>
          <a:xfrm>
            <a:off x="1234438" y="1518410"/>
            <a:ext cx="98755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C001</a:t>
            </a:r>
          </a:p>
        </p:txBody>
      </p:sp>
      <p:sp>
        <p:nvSpPr>
          <p:cNvPr id="600" name="Shape 17"/>
          <p:cNvSpPr/>
          <p:nvPr/>
        </p:nvSpPr>
        <p:spPr>
          <a:xfrm>
            <a:off x="2240278" y="1426463"/>
            <a:ext cx="987554" cy="31089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01" name="Text 18"/>
          <p:cNvSpPr txBox="1"/>
          <p:nvPr/>
        </p:nvSpPr>
        <p:spPr>
          <a:xfrm>
            <a:off x="2240278" y="1518410"/>
            <a:ext cx="98755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$15,000</a:t>
            </a:r>
          </a:p>
        </p:txBody>
      </p:sp>
      <p:sp>
        <p:nvSpPr>
          <p:cNvPr id="602" name="Shape 19"/>
          <p:cNvSpPr/>
          <p:nvPr/>
        </p:nvSpPr>
        <p:spPr>
          <a:xfrm>
            <a:off x="3246120" y="1426463"/>
            <a:ext cx="987554" cy="31089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03" name="Text 20"/>
          <p:cNvSpPr txBox="1"/>
          <p:nvPr/>
        </p:nvSpPr>
        <p:spPr>
          <a:xfrm>
            <a:off x="3246120" y="1518410"/>
            <a:ext cx="98755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Singapore</a:t>
            </a:r>
          </a:p>
        </p:txBody>
      </p:sp>
      <p:sp>
        <p:nvSpPr>
          <p:cNvPr id="604" name="Shape 21"/>
          <p:cNvSpPr/>
          <p:nvPr/>
        </p:nvSpPr>
        <p:spPr>
          <a:xfrm>
            <a:off x="228599" y="1755648"/>
            <a:ext cx="987554" cy="310898"/>
          </a:xfrm>
          <a:prstGeom prst="rect">
            <a:avLst/>
          </a:prstGeom>
          <a:solidFill>
            <a:srgbClr val="EEF3F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05" name="Text 22"/>
          <p:cNvSpPr txBox="1"/>
          <p:nvPr/>
        </p:nvSpPr>
        <p:spPr>
          <a:xfrm>
            <a:off x="228599" y="1847595"/>
            <a:ext cx="98755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TXN002</a:t>
            </a:r>
          </a:p>
        </p:txBody>
      </p:sp>
      <p:sp>
        <p:nvSpPr>
          <p:cNvPr id="606" name="Shape 23"/>
          <p:cNvSpPr/>
          <p:nvPr/>
        </p:nvSpPr>
        <p:spPr>
          <a:xfrm>
            <a:off x="1234438" y="1755648"/>
            <a:ext cx="987554" cy="310898"/>
          </a:xfrm>
          <a:prstGeom prst="rect">
            <a:avLst/>
          </a:prstGeom>
          <a:solidFill>
            <a:srgbClr val="EEF3F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07" name="Text 24"/>
          <p:cNvSpPr txBox="1"/>
          <p:nvPr/>
        </p:nvSpPr>
        <p:spPr>
          <a:xfrm>
            <a:off x="1234438" y="1847595"/>
            <a:ext cx="98755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C002</a:t>
            </a:r>
          </a:p>
        </p:txBody>
      </p:sp>
      <p:sp>
        <p:nvSpPr>
          <p:cNvPr id="608" name="Shape 25"/>
          <p:cNvSpPr/>
          <p:nvPr/>
        </p:nvSpPr>
        <p:spPr>
          <a:xfrm>
            <a:off x="2240278" y="1755648"/>
            <a:ext cx="987554" cy="310898"/>
          </a:xfrm>
          <a:prstGeom prst="rect">
            <a:avLst/>
          </a:prstGeom>
          <a:solidFill>
            <a:srgbClr val="EEF3F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09" name="Text 26"/>
          <p:cNvSpPr txBox="1"/>
          <p:nvPr/>
        </p:nvSpPr>
        <p:spPr>
          <a:xfrm>
            <a:off x="2240278" y="1847595"/>
            <a:ext cx="98755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$500</a:t>
            </a:r>
          </a:p>
        </p:txBody>
      </p:sp>
      <p:sp>
        <p:nvSpPr>
          <p:cNvPr id="610" name="Shape 27"/>
          <p:cNvSpPr/>
          <p:nvPr/>
        </p:nvSpPr>
        <p:spPr>
          <a:xfrm>
            <a:off x="3246120" y="1755648"/>
            <a:ext cx="987554" cy="310898"/>
          </a:xfrm>
          <a:prstGeom prst="rect">
            <a:avLst/>
          </a:prstGeom>
          <a:solidFill>
            <a:srgbClr val="EEF3F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11" name="Text 28"/>
          <p:cNvSpPr txBox="1"/>
          <p:nvPr/>
        </p:nvSpPr>
        <p:spPr>
          <a:xfrm>
            <a:off x="3246120" y="1847595"/>
            <a:ext cx="98755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Singapore</a:t>
            </a:r>
          </a:p>
        </p:txBody>
      </p:sp>
      <p:sp>
        <p:nvSpPr>
          <p:cNvPr id="612" name="Shape 29"/>
          <p:cNvSpPr/>
          <p:nvPr/>
        </p:nvSpPr>
        <p:spPr>
          <a:xfrm>
            <a:off x="228599" y="2084832"/>
            <a:ext cx="987554" cy="31089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13" name="Text 30"/>
          <p:cNvSpPr txBox="1"/>
          <p:nvPr/>
        </p:nvSpPr>
        <p:spPr>
          <a:xfrm>
            <a:off x="228599" y="2176779"/>
            <a:ext cx="98755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TXN003</a:t>
            </a:r>
          </a:p>
        </p:txBody>
      </p:sp>
      <p:sp>
        <p:nvSpPr>
          <p:cNvPr id="614" name="Shape 31"/>
          <p:cNvSpPr/>
          <p:nvPr/>
        </p:nvSpPr>
        <p:spPr>
          <a:xfrm>
            <a:off x="1234438" y="2084832"/>
            <a:ext cx="987554" cy="31089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15" name="Text 32"/>
          <p:cNvSpPr txBox="1"/>
          <p:nvPr/>
        </p:nvSpPr>
        <p:spPr>
          <a:xfrm>
            <a:off x="1234438" y="2176779"/>
            <a:ext cx="98755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C003</a:t>
            </a:r>
          </a:p>
        </p:txBody>
      </p:sp>
      <p:sp>
        <p:nvSpPr>
          <p:cNvPr id="616" name="Shape 33"/>
          <p:cNvSpPr/>
          <p:nvPr/>
        </p:nvSpPr>
        <p:spPr>
          <a:xfrm>
            <a:off x="2240278" y="2084832"/>
            <a:ext cx="987554" cy="31089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17" name="Text 34"/>
          <p:cNvSpPr txBox="1"/>
          <p:nvPr/>
        </p:nvSpPr>
        <p:spPr>
          <a:xfrm>
            <a:off x="2240278" y="2176779"/>
            <a:ext cx="98755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$25,000</a:t>
            </a:r>
          </a:p>
        </p:txBody>
      </p:sp>
      <p:sp>
        <p:nvSpPr>
          <p:cNvPr id="618" name="Shape 35"/>
          <p:cNvSpPr/>
          <p:nvPr/>
        </p:nvSpPr>
        <p:spPr>
          <a:xfrm>
            <a:off x="3246120" y="2084832"/>
            <a:ext cx="987554" cy="31089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19" name="Text 36"/>
          <p:cNvSpPr txBox="1"/>
          <p:nvPr/>
        </p:nvSpPr>
        <p:spPr>
          <a:xfrm>
            <a:off x="3246120" y="2176779"/>
            <a:ext cx="98755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Nigeria</a:t>
            </a:r>
          </a:p>
        </p:txBody>
      </p:sp>
      <p:sp>
        <p:nvSpPr>
          <p:cNvPr id="620" name="Shape 37"/>
          <p:cNvSpPr/>
          <p:nvPr/>
        </p:nvSpPr>
        <p:spPr>
          <a:xfrm>
            <a:off x="228599" y="2414016"/>
            <a:ext cx="987554" cy="310898"/>
          </a:xfrm>
          <a:prstGeom prst="rect">
            <a:avLst/>
          </a:prstGeom>
          <a:solidFill>
            <a:srgbClr val="EEF3F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21" name="Text 38"/>
          <p:cNvSpPr txBox="1"/>
          <p:nvPr/>
        </p:nvSpPr>
        <p:spPr>
          <a:xfrm>
            <a:off x="228599" y="2505964"/>
            <a:ext cx="98755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TXN004</a:t>
            </a:r>
          </a:p>
        </p:txBody>
      </p:sp>
      <p:sp>
        <p:nvSpPr>
          <p:cNvPr id="622" name="Shape 39"/>
          <p:cNvSpPr/>
          <p:nvPr/>
        </p:nvSpPr>
        <p:spPr>
          <a:xfrm>
            <a:off x="1234438" y="2414016"/>
            <a:ext cx="987554" cy="310898"/>
          </a:xfrm>
          <a:prstGeom prst="rect">
            <a:avLst/>
          </a:prstGeom>
          <a:solidFill>
            <a:srgbClr val="EEF3F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23" name="Text 40"/>
          <p:cNvSpPr txBox="1"/>
          <p:nvPr/>
        </p:nvSpPr>
        <p:spPr>
          <a:xfrm>
            <a:off x="1234438" y="2505964"/>
            <a:ext cx="98755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C004</a:t>
            </a:r>
          </a:p>
        </p:txBody>
      </p:sp>
      <p:sp>
        <p:nvSpPr>
          <p:cNvPr id="624" name="Shape 41"/>
          <p:cNvSpPr/>
          <p:nvPr/>
        </p:nvSpPr>
        <p:spPr>
          <a:xfrm>
            <a:off x="2240278" y="2414016"/>
            <a:ext cx="987554" cy="310898"/>
          </a:xfrm>
          <a:prstGeom prst="rect">
            <a:avLst/>
          </a:prstGeom>
          <a:solidFill>
            <a:srgbClr val="EEF3F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25" name="Text 42"/>
          <p:cNvSpPr txBox="1"/>
          <p:nvPr/>
        </p:nvSpPr>
        <p:spPr>
          <a:xfrm>
            <a:off x="2240278" y="2505964"/>
            <a:ext cx="98755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$8,000</a:t>
            </a:r>
          </a:p>
        </p:txBody>
      </p:sp>
      <p:sp>
        <p:nvSpPr>
          <p:cNvPr id="626" name="Shape 43"/>
          <p:cNvSpPr/>
          <p:nvPr/>
        </p:nvSpPr>
        <p:spPr>
          <a:xfrm>
            <a:off x="3246120" y="2414016"/>
            <a:ext cx="987554" cy="310898"/>
          </a:xfrm>
          <a:prstGeom prst="rect">
            <a:avLst/>
          </a:prstGeom>
          <a:solidFill>
            <a:srgbClr val="EEF3F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27" name="Text 44"/>
          <p:cNvSpPr txBox="1"/>
          <p:nvPr/>
        </p:nvSpPr>
        <p:spPr>
          <a:xfrm>
            <a:off x="3246120" y="2505964"/>
            <a:ext cx="98755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India</a:t>
            </a:r>
          </a:p>
        </p:txBody>
      </p:sp>
      <p:sp>
        <p:nvSpPr>
          <p:cNvPr id="628" name="Shape 45"/>
          <p:cNvSpPr/>
          <p:nvPr/>
        </p:nvSpPr>
        <p:spPr>
          <a:xfrm>
            <a:off x="228599" y="2743200"/>
            <a:ext cx="987554" cy="31089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29" name="Text 46"/>
          <p:cNvSpPr txBox="1"/>
          <p:nvPr/>
        </p:nvSpPr>
        <p:spPr>
          <a:xfrm>
            <a:off x="228599" y="2835148"/>
            <a:ext cx="98755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TXN005</a:t>
            </a:r>
          </a:p>
        </p:txBody>
      </p:sp>
      <p:sp>
        <p:nvSpPr>
          <p:cNvPr id="630" name="Shape 47"/>
          <p:cNvSpPr/>
          <p:nvPr/>
        </p:nvSpPr>
        <p:spPr>
          <a:xfrm>
            <a:off x="1234438" y="2743200"/>
            <a:ext cx="987554" cy="31089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31" name="Text 48"/>
          <p:cNvSpPr txBox="1"/>
          <p:nvPr/>
        </p:nvSpPr>
        <p:spPr>
          <a:xfrm>
            <a:off x="1234438" y="2835148"/>
            <a:ext cx="98755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C005</a:t>
            </a:r>
          </a:p>
        </p:txBody>
      </p:sp>
      <p:sp>
        <p:nvSpPr>
          <p:cNvPr id="632" name="Shape 49"/>
          <p:cNvSpPr/>
          <p:nvPr/>
        </p:nvSpPr>
        <p:spPr>
          <a:xfrm>
            <a:off x="2240278" y="2743200"/>
            <a:ext cx="987554" cy="31089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33" name="Text 50"/>
          <p:cNvSpPr txBox="1"/>
          <p:nvPr/>
        </p:nvSpPr>
        <p:spPr>
          <a:xfrm>
            <a:off x="2240278" y="2835148"/>
            <a:ext cx="98755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$12,000</a:t>
            </a:r>
          </a:p>
        </p:txBody>
      </p:sp>
      <p:sp>
        <p:nvSpPr>
          <p:cNvPr id="634" name="Shape 51"/>
          <p:cNvSpPr/>
          <p:nvPr/>
        </p:nvSpPr>
        <p:spPr>
          <a:xfrm>
            <a:off x="3246120" y="2743200"/>
            <a:ext cx="987554" cy="31089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35" name="Text 52"/>
          <p:cNvSpPr txBox="1"/>
          <p:nvPr/>
        </p:nvSpPr>
        <p:spPr>
          <a:xfrm>
            <a:off x="3246120" y="2835148"/>
            <a:ext cx="98755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North Korea</a:t>
            </a:r>
          </a:p>
        </p:txBody>
      </p:sp>
      <p:sp>
        <p:nvSpPr>
          <p:cNvPr id="636" name="Shape 53"/>
          <p:cNvSpPr/>
          <p:nvPr/>
        </p:nvSpPr>
        <p:spPr>
          <a:xfrm>
            <a:off x="228599" y="3108960"/>
            <a:ext cx="4023362" cy="329186"/>
          </a:xfrm>
          <a:prstGeom prst="rect">
            <a:avLst/>
          </a:prstGeom>
          <a:solidFill>
            <a:srgbClr val="0099A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37" name="Text 54"/>
          <p:cNvSpPr txBox="1"/>
          <p:nvPr/>
        </p:nvSpPr>
        <p:spPr>
          <a:xfrm>
            <a:off x="228599" y="3205015"/>
            <a:ext cx="402336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QUERY INPUT (role: compliance_officer)</a:t>
            </a:r>
          </a:p>
        </p:txBody>
      </p:sp>
      <p:sp>
        <p:nvSpPr>
          <p:cNvPr id="638" name="Shape 55"/>
          <p:cNvSpPr/>
          <p:nvPr/>
        </p:nvSpPr>
        <p:spPr>
          <a:xfrm>
            <a:off x="228599" y="3456432"/>
            <a:ext cx="4023362" cy="365762"/>
          </a:xfrm>
          <a:prstGeom prst="rect">
            <a:avLst/>
          </a:prstGeom>
          <a:solidFill>
            <a:srgbClr val="1E1E2E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39" name="Text 56"/>
          <p:cNvSpPr txBox="1"/>
          <p:nvPr/>
        </p:nvSpPr>
        <p:spPr>
          <a:xfrm>
            <a:off x="274319" y="3569460"/>
            <a:ext cx="3931923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F0C06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"Analyze AML risk for high value transaction"</a:t>
            </a:r>
          </a:p>
        </p:txBody>
      </p:sp>
      <p:sp>
        <p:nvSpPr>
          <p:cNvPr id="640" name="Shape 57"/>
          <p:cNvSpPr/>
          <p:nvPr/>
        </p:nvSpPr>
        <p:spPr>
          <a:xfrm>
            <a:off x="4434840" y="777240"/>
            <a:ext cx="4480561" cy="329186"/>
          </a:xfrm>
          <a:prstGeom prst="rect">
            <a:avLst/>
          </a:prstGeom>
          <a:solidFill>
            <a:srgbClr val="00AA66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41" name="Text 58"/>
          <p:cNvSpPr txBox="1"/>
          <p:nvPr/>
        </p:nvSpPr>
        <p:spPr>
          <a:xfrm>
            <a:off x="4434840" y="873296"/>
            <a:ext cx="4480561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OUTPUT — MCP System Results (5 Transactions)</a:t>
            </a:r>
          </a:p>
        </p:txBody>
      </p:sp>
      <p:sp>
        <p:nvSpPr>
          <p:cNvPr id="642" name="Shape 59"/>
          <p:cNvSpPr/>
          <p:nvPr/>
        </p:nvSpPr>
        <p:spPr>
          <a:xfrm>
            <a:off x="4462271" y="1133855"/>
            <a:ext cx="713234" cy="274322"/>
          </a:xfrm>
          <a:prstGeom prst="rect">
            <a:avLst/>
          </a:prstGeom>
          <a:solidFill>
            <a:srgbClr val="334466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43" name="Text 60"/>
          <p:cNvSpPr txBox="1"/>
          <p:nvPr/>
        </p:nvSpPr>
        <p:spPr>
          <a:xfrm>
            <a:off x="4462271" y="1207516"/>
            <a:ext cx="71323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TXN</a:t>
            </a:r>
          </a:p>
        </p:txBody>
      </p:sp>
      <p:sp>
        <p:nvSpPr>
          <p:cNvPr id="644" name="Shape 61"/>
          <p:cNvSpPr/>
          <p:nvPr/>
        </p:nvSpPr>
        <p:spPr>
          <a:xfrm>
            <a:off x="5202935" y="1133855"/>
            <a:ext cx="475488" cy="274322"/>
          </a:xfrm>
          <a:prstGeom prst="rect">
            <a:avLst/>
          </a:prstGeom>
          <a:solidFill>
            <a:srgbClr val="334466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45" name="Text 62"/>
          <p:cNvSpPr txBox="1"/>
          <p:nvPr/>
        </p:nvSpPr>
        <p:spPr>
          <a:xfrm>
            <a:off x="5202935" y="1207516"/>
            <a:ext cx="47548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Score</a:t>
            </a:r>
          </a:p>
        </p:txBody>
      </p:sp>
      <p:sp>
        <p:nvSpPr>
          <p:cNvPr id="646" name="Shape 63"/>
          <p:cNvSpPr/>
          <p:nvPr/>
        </p:nvSpPr>
        <p:spPr>
          <a:xfrm>
            <a:off x="5705854" y="1133855"/>
            <a:ext cx="566930" cy="274322"/>
          </a:xfrm>
          <a:prstGeom prst="rect">
            <a:avLst/>
          </a:prstGeom>
          <a:solidFill>
            <a:srgbClr val="334466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47" name="Text 64"/>
          <p:cNvSpPr txBox="1"/>
          <p:nvPr/>
        </p:nvSpPr>
        <p:spPr>
          <a:xfrm>
            <a:off x="5705854" y="1207516"/>
            <a:ext cx="56693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Band</a:t>
            </a:r>
          </a:p>
        </p:txBody>
      </p:sp>
      <p:sp>
        <p:nvSpPr>
          <p:cNvPr id="648" name="Shape 65"/>
          <p:cNvSpPr/>
          <p:nvPr/>
        </p:nvSpPr>
        <p:spPr>
          <a:xfrm>
            <a:off x="6300215" y="1133855"/>
            <a:ext cx="1901952" cy="274322"/>
          </a:xfrm>
          <a:prstGeom prst="rect">
            <a:avLst/>
          </a:prstGeom>
          <a:solidFill>
            <a:srgbClr val="334466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49" name="Text 66"/>
          <p:cNvSpPr txBox="1"/>
          <p:nvPr/>
        </p:nvSpPr>
        <p:spPr>
          <a:xfrm>
            <a:off x="6300215" y="1207516"/>
            <a:ext cx="19019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Flags</a:t>
            </a:r>
          </a:p>
        </p:txBody>
      </p:sp>
      <p:sp>
        <p:nvSpPr>
          <p:cNvPr id="650" name="Shape 67"/>
          <p:cNvSpPr/>
          <p:nvPr/>
        </p:nvSpPr>
        <p:spPr>
          <a:xfrm>
            <a:off x="8229599" y="1133855"/>
            <a:ext cx="749811" cy="274322"/>
          </a:xfrm>
          <a:prstGeom prst="rect">
            <a:avLst/>
          </a:prstGeom>
          <a:solidFill>
            <a:srgbClr val="334466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51" name="Text 68"/>
          <p:cNvSpPr txBox="1"/>
          <p:nvPr/>
        </p:nvSpPr>
        <p:spPr>
          <a:xfrm>
            <a:off x="8229599" y="1207516"/>
            <a:ext cx="74981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Confidence</a:t>
            </a:r>
          </a:p>
        </p:txBody>
      </p:sp>
      <p:sp>
        <p:nvSpPr>
          <p:cNvPr id="652" name="Shape 69"/>
          <p:cNvSpPr/>
          <p:nvPr/>
        </p:nvSpPr>
        <p:spPr>
          <a:xfrm>
            <a:off x="4462271" y="1426463"/>
            <a:ext cx="713234" cy="31089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53" name="Text 70"/>
          <p:cNvSpPr txBox="1"/>
          <p:nvPr/>
        </p:nvSpPr>
        <p:spPr>
          <a:xfrm>
            <a:off x="4462271" y="1518410"/>
            <a:ext cx="71323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TXN001</a:t>
            </a:r>
          </a:p>
        </p:txBody>
      </p:sp>
      <p:sp>
        <p:nvSpPr>
          <p:cNvPr id="654" name="Shape 71"/>
          <p:cNvSpPr/>
          <p:nvPr/>
        </p:nvSpPr>
        <p:spPr>
          <a:xfrm>
            <a:off x="5202935" y="1426463"/>
            <a:ext cx="475488" cy="31089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55" name="Text 72"/>
          <p:cNvSpPr txBox="1"/>
          <p:nvPr/>
        </p:nvSpPr>
        <p:spPr>
          <a:xfrm>
            <a:off x="5202935" y="1518410"/>
            <a:ext cx="47548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656" name="Shape 73"/>
          <p:cNvSpPr/>
          <p:nvPr/>
        </p:nvSpPr>
        <p:spPr>
          <a:xfrm>
            <a:off x="5705854" y="1426463"/>
            <a:ext cx="566930" cy="31089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57" name="Text 74"/>
          <p:cNvSpPr txBox="1"/>
          <p:nvPr/>
        </p:nvSpPr>
        <p:spPr>
          <a:xfrm>
            <a:off x="5705854" y="1518410"/>
            <a:ext cx="56693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E07800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High</a:t>
            </a:r>
          </a:p>
        </p:txBody>
      </p:sp>
      <p:sp>
        <p:nvSpPr>
          <p:cNvPr id="658" name="Shape 75"/>
          <p:cNvSpPr/>
          <p:nvPr/>
        </p:nvSpPr>
        <p:spPr>
          <a:xfrm>
            <a:off x="6300215" y="1426463"/>
            <a:ext cx="1901952" cy="31089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59" name="Text 76"/>
          <p:cNvSpPr txBox="1"/>
          <p:nvPr/>
        </p:nvSpPr>
        <p:spPr>
          <a:xfrm>
            <a:off x="6300215" y="1518410"/>
            <a:ext cx="19019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High Value</a:t>
            </a:r>
          </a:p>
        </p:txBody>
      </p:sp>
      <p:sp>
        <p:nvSpPr>
          <p:cNvPr id="660" name="Shape 77"/>
          <p:cNvSpPr/>
          <p:nvPr/>
        </p:nvSpPr>
        <p:spPr>
          <a:xfrm>
            <a:off x="8229599" y="1426463"/>
            <a:ext cx="749811" cy="31089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61" name="Text 78"/>
          <p:cNvSpPr txBox="1"/>
          <p:nvPr/>
        </p:nvSpPr>
        <p:spPr>
          <a:xfrm>
            <a:off x="8229599" y="1518410"/>
            <a:ext cx="74981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Medium</a:t>
            </a:r>
          </a:p>
        </p:txBody>
      </p:sp>
      <p:sp>
        <p:nvSpPr>
          <p:cNvPr id="662" name="Shape 79"/>
          <p:cNvSpPr/>
          <p:nvPr/>
        </p:nvSpPr>
        <p:spPr>
          <a:xfrm>
            <a:off x="4462271" y="1755648"/>
            <a:ext cx="713234" cy="310898"/>
          </a:xfrm>
          <a:prstGeom prst="rect">
            <a:avLst/>
          </a:prstGeom>
          <a:solidFill>
            <a:srgbClr val="EEF3F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63" name="Text 80"/>
          <p:cNvSpPr txBox="1"/>
          <p:nvPr/>
        </p:nvSpPr>
        <p:spPr>
          <a:xfrm>
            <a:off x="4462271" y="1847595"/>
            <a:ext cx="71323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TXN002</a:t>
            </a:r>
          </a:p>
        </p:txBody>
      </p:sp>
      <p:sp>
        <p:nvSpPr>
          <p:cNvPr id="664" name="Shape 81"/>
          <p:cNvSpPr/>
          <p:nvPr/>
        </p:nvSpPr>
        <p:spPr>
          <a:xfrm>
            <a:off x="5202935" y="1755648"/>
            <a:ext cx="475488" cy="310898"/>
          </a:xfrm>
          <a:prstGeom prst="rect">
            <a:avLst/>
          </a:prstGeom>
          <a:solidFill>
            <a:srgbClr val="EEF3F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65" name="Text 82"/>
          <p:cNvSpPr txBox="1"/>
          <p:nvPr/>
        </p:nvSpPr>
        <p:spPr>
          <a:xfrm>
            <a:off x="5202935" y="1847595"/>
            <a:ext cx="47548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666" name="Shape 83"/>
          <p:cNvSpPr/>
          <p:nvPr/>
        </p:nvSpPr>
        <p:spPr>
          <a:xfrm>
            <a:off x="5705854" y="1755648"/>
            <a:ext cx="566930" cy="310898"/>
          </a:xfrm>
          <a:prstGeom prst="rect">
            <a:avLst/>
          </a:prstGeom>
          <a:solidFill>
            <a:srgbClr val="EEF3F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67" name="Text 84"/>
          <p:cNvSpPr txBox="1"/>
          <p:nvPr/>
        </p:nvSpPr>
        <p:spPr>
          <a:xfrm>
            <a:off x="5705854" y="1847595"/>
            <a:ext cx="56693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00AA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Low</a:t>
            </a:r>
          </a:p>
        </p:txBody>
      </p:sp>
      <p:sp>
        <p:nvSpPr>
          <p:cNvPr id="668" name="Shape 85"/>
          <p:cNvSpPr/>
          <p:nvPr/>
        </p:nvSpPr>
        <p:spPr>
          <a:xfrm>
            <a:off x="6300215" y="1755648"/>
            <a:ext cx="1901952" cy="310898"/>
          </a:xfrm>
          <a:prstGeom prst="rect">
            <a:avLst/>
          </a:prstGeom>
          <a:solidFill>
            <a:srgbClr val="EEF3F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69" name="Text 86"/>
          <p:cNvSpPr txBox="1"/>
          <p:nvPr/>
        </p:nvSpPr>
        <p:spPr>
          <a:xfrm>
            <a:off x="6300215" y="1847595"/>
            <a:ext cx="19019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None</a:t>
            </a:r>
          </a:p>
        </p:txBody>
      </p:sp>
      <p:sp>
        <p:nvSpPr>
          <p:cNvPr id="670" name="Shape 87"/>
          <p:cNvSpPr/>
          <p:nvPr/>
        </p:nvSpPr>
        <p:spPr>
          <a:xfrm>
            <a:off x="8229599" y="1755648"/>
            <a:ext cx="749811" cy="310898"/>
          </a:xfrm>
          <a:prstGeom prst="rect">
            <a:avLst/>
          </a:prstGeom>
          <a:solidFill>
            <a:srgbClr val="EEF3F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71" name="Text 88"/>
          <p:cNvSpPr txBox="1"/>
          <p:nvPr/>
        </p:nvSpPr>
        <p:spPr>
          <a:xfrm>
            <a:off x="8229599" y="1847595"/>
            <a:ext cx="74981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Low</a:t>
            </a:r>
          </a:p>
        </p:txBody>
      </p:sp>
      <p:sp>
        <p:nvSpPr>
          <p:cNvPr id="672" name="Shape 89"/>
          <p:cNvSpPr/>
          <p:nvPr/>
        </p:nvSpPr>
        <p:spPr>
          <a:xfrm>
            <a:off x="4462271" y="2084832"/>
            <a:ext cx="713234" cy="31089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73" name="Text 90"/>
          <p:cNvSpPr txBox="1"/>
          <p:nvPr/>
        </p:nvSpPr>
        <p:spPr>
          <a:xfrm>
            <a:off x="4462271" y="2176779"/>
            <a:ext cx="71323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TXN003</a:t>
            </a:r>
          </a:p>
        </p:txBody>
      </p:sp>
      <p:sp>
        <p:nvSpPr>
          <p:cNvPr id="674" name="Shape 91"/>
          <p:cNvSpPr/>
          <p:nvPr/>
        </p:nvSpPr>
        <p:spPr>
          <a:xfrm>
            <a:off x="5202935" y="2084832"/>
            <a:ext cx="475488" cy="31089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75" name="Text 92"/>
          <p:cNvSpPr txBox="1"/>
          <p:nvPr/>
        </p:nvSpPr>
        <p:spPr>
          <a:xfrm>
            <a:off x="5202935" y="2176779"/>
            <a:ext cx="47548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676" name="Shape 93"/>
          <p:cNvSpPr/>
          <p:nvPr/>
        </p:nvSpPr>
        <p:spPr>
          <a:xfrm>
            <a:off x="5705854" y="2084832"/>
            <a:ext cx="566930" cy="31089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77" name="Text 94"/>
          <p:cNvSpPr txBox="1"/>
          <p:nvPr/>
        </p:nvSpPr>
        <p:spPr>
          <a:xfrm>
            <a:off x="5705854" y="2176779"/>
            <a:ext cx="56693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CC3333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High</a:t>
            </a:r>
          </a:p>
        </p:txBody>
      </p:sp>
      <p:sp>
        <p:nvSpPr>
          <p:cNvPr id="678" name="Shape 95"/>
          <p:cNvSpPr/>
          <p:nvPr/>
        </p:nvSpPr>
        <p:spPr>
          <a:xfrm>
            <a:off x="6300215" y="2084832"/>
            <a:ext cx="1901952" cy="31089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79" name="Text 96"/>
          <p:cNvSpPr txBox="1"/>
          <p:nvPr/>
        </p:nvSpPr>
        <p:spPr>
          <a:xfrm>
            <a:off x="6300215" y="2176779"/>
            <a:ext cx="19019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High Value + Sanctioned</a:t>
            </a:r>
          </a:p>
        </p:txBody>
      </p:sp>
      <p:sp>
        <p:nvSpPr>
          <p:cNvPr id="680" name="Shape 97"/>
          <p:cNvSpPr/>
          <p:nvPr/>
        </p:nvSpPr>
        <p:spPr>
          <a:xfrm>
            <a:off x="8229599" y="2084832"/>
            <a:ext cx="749811" cy="31089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81" name="Text 98"/>
          <p:cNvSpPr txBox="1"/>
          <p:nvPr/>
        </p:nvSpPr>
        <p:spPr>
          <a:xfrm>
            <a:off x="8229599" y="2176779"/>
            <a:ext cx="74981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High</a:t>
            </a:r>
          </a:p>
        </p:txBody>
      </p:sp>
      <p:sp>
        <p:nvSpPr>
          <p:cNvPr id="682" name="Shape 99"/>
          <p:cNvSpPr/>
          <p:nvPr/>
        </p:nvSpPr>
        <p:spPr>
          <a:xfrm>
            <a:off x="4462271" y="2414016"/>
            <a:ext cx="713234" cy="310898"/>
          </a:xfrm>
          <a:prstGeom prst="rect">
            <a:avLst/>
          </a:prstGeom>
          <a:solidFill>
            <a:srgbClr val="EEF3F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83" name="Text 100"/>
          <p:cNvSpPr txBox="1"/>
          <p:nvPr/>
        </p:nvSpPr>
        <p:spPr>
          <a:xfrm>
            <a:off x="4462271" y="2505964"/>
            <a:ext cx="71323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TXN004</a:t>
            </a:r>
          </a:p>
        </p:txBody>
      </p:sp>
      <p:sp>
        <p:nvSpPr>
          <p:cNvPr id="684" name="Shape 101"/>
          <p:cNvSpPr/>
          <p:nvPr/>
        </p:nvSpPr>
        <p:spPr>
          <a:xfrm>
            <a:off x="5202935" y="2414016"/>
            <a:ext cx="475488" cy="310898"/>
          </a:xfrm>
          <a:prstGeom prst="rect">
            <a:avLst/>
          </a:prstGeom>
          <a:solidFill>
            <a:srgbClr val="EEF3F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85" name="Text 102"/>
          <p:cNvSpPr txBox="1"/>
          <p:nvPr/>
        </p:nvSpPr>
        <p:spPr>
          <a:xfrm>
            <a:off x="5202935" y="2505964"/>
            <a:ext cx="47548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686" name="Shape 103"/>
          <p:cNvSpPr/>
          <p:nvPr/>
        </p:nvSpPr>
        <p:spPr>
          <a:xfrm>
            <a:off x="5705854" y="2414016"/>
            <a:ext cx="566930" cy="310898"/>
          </a:xfrm>
          <a:prstGeom prst="rect">
            <a:avLst/>
          </a:prstGeom>
          <a:solidFill>
            <a:srgbClr val="EEF3F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87" name="Text 104"/>
          <p:cNvSpPr txBox="1"/>
          <p:nvPr/>
        </p:nvSpPr>
        <p:spPr>
          <a:xfrm>
            <a:off x="5705854" y="2505964"/>
            <a:ext cx="56693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00AA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Low</a:t>
            </a:r>
          </a:p>
        </p:txBody>
      </p:sp>
      <p:sp>
        <p:nvSpPr>
          <p:cNvPr id="688" name="Shape 105"/>
          <p:cNvSpPr/>
          <p:nvPr/>
        </p:nvSpPr>
        <p:spPr>
          <a:xfrm>
            <a:off x="6300215" y="2414016"/>
            <a:ext cx="1901952" cy="310898"/>
          </a:xfrm>
          <a:prstGeom prst="rect">
            <a:avLst/>
          </a:prstGeom>
          <a:solidFill>
            <a:srgbClr val="EEF3F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89" name="Text 106"/>
          <p:cNvSpPr txBox="1"/>
          <p:nvPr/>
        </p:nvSpPr>
        <p:spPr>
          <a:xfrm>
            <a:off x="6300215" y="2505964"/>
            <a:ext cx="19019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None</a:t>
            </a:r>
          </a:p>
        </p:txBody>
      </p:sp>
      <p:sp>
        <p:nvSpPr>
          <p:cNvPr id="690" name="Shape 107"/>
          <p:cNvSpPr/>
          <p:nvPr/>
        </p:nvSpPr>
        <p:spPr>
          <a:xfrm>
            <a:off x="8229599" y="2414016"/>
            <a:ext cx="749811" cy="310898"/>
          </a:xfrm>
          <a:prstGeom prst="rect">
            <a:avLst/>
          </a:prstGeom>
          <a:solidFill>
            <a:srgbClr val="EEF3F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91" name="Text 108"/>
          <p:cNvSpPr txBox="1"/>
          <p:nvPr/>
        </p:nvSpPr>
        <p:spPr>
          <a:xfrm>
            <a:off x="8229599" y="2505964"/>
            <a:ext cx="74981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Low</a:t>
            </a:r>
          </a:p>
        </p:txBody>
      </p:sp>
      <p:sp>
        <p:nvSpPr>
          <p:cNvPr id="692" name="Shape 109"/>
          <p:cNvSpPr/>
          <p:nvPr/>
        </p:nvSpPr>
        <p:spPr>
          <a:xfrm>
            <a:off x="4462271" y="2743200"/>
            <a:ext cx="713234" cy="31089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93" name="Text 110"/>
          <p:cNvSpPr txBox="1"/>
          <p:nvPr/>
        </p:nvSpPr>
        <p:spPr>
          <a:xfrm>
            <a:off x="4462271" y="2835148"/>
            <a:ext cx="71323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TXN005</a:t>
            </a:r>
          </a:p>
        </p:txBody>
      </p:sp>
      <p:sp>
        <p:nvSpPr>
          <p:cNvPr id="694" name="Shape 111"/>
          <p:cNvSpPr/>
          <p:nvPr/>
        </p:nvSpPr>
        <p:spPr>
          <a:xfrm>
            <a:off x="5202935" y="2743200"/>
            <a:ext cx="475488" cy="31089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95" name="Text 112"/>
          <p:cNvSpPr txBox="1"/>
          <p:nvPr/>
        </p:nvSpPr>
        <p:spPr>
          <a:xfrm>
            <a:off x="5202935" y="2835148"/>
            <a:ext cx="47548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696" name="Shape 113"/>
          <p:cNvSpPr/>
          <p:nvPr/>
        </p:nvSpPr>
        <p:spPr>
          <a:xfrm>
            <a:off x="5705854" y="2743200"/>
            <a:ext cx="566930" cy="31089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97" name="Text 114"/>
          <p:cNvSpPr txBox="1"/>
          <p:nvPr/>
        </p:nvSpPr>
        <p:spPr>
          <a:xfrm>
            <a:off x="5705854" y="2835148"/>
            <a:ext cx="56693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CC3333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High</a:t>
            </a:r>
          </a:p>
        </p:txBody>
      </p:sp>
      <p:sp>
        <p:nvSpPr>
          <p:cNvPr id="698" name="Shape 115"/>
          <p:cNvSpPr/>
          <p:nvPr/>
        </p:nvSpPr>
        <p:spPr>
          <a:xfrm>
            <a:off x="6300215" y="2743200"/>
            <a:ext cx="1901952" cy="31089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99" name="Text 116"/>
          <p:cNvSpPr txBox="1"/>
          <p:nvPr/>
        </p:nvSpPr>
        <p:spPr>
          <a:xfrm>
            <a:off x="6300215" y="2835148"/>
            <a:ext cx="19019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High Value + Sanctioned</a:t>
            </a:r>
          </a:p>
        </p:txBody>
      </p:sp>
      <p:sp>
        <p:nvSpPr>
          <p:cNvPr id="700" name="Shape 117"/>
          <p:cNvSpPr/>
          <p:nvPr/>
        </p:nvSpPr>
        <p:spPr>
          <a:xfrm>
            <a:off x="8229599" y="2743200"/>
            <a:ext cx="749811" cy="31089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01" name="Text 118"/>
          <p:cNvSpPr txBox="1"/>
          <p:nvPr/>
        </p:nvSpPr>
        <p:spPr>
          <a:xfrm>
            <a:off x="8229599" y="2835148"/>
            <a:ext cx="74981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High</a:t>
            </a:r>
          </a:p>
        </p:txBody>
      </p:sp>
      <p:sp>
        <p:nvSpPr>
          <p:cNvPr id="702" name="Shape 119"/>
          <p:cNvSpPr/>
          <p:nvPr/>
        </p:nvSpPr>
        <p:spPr>
          <a:xfrm>
            <a:off x="4462271" y="3072382"/>
            <a:ext cx="1051562" cy="77724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88900" dist="25400" dir="8100000">
              <a:srgbClr val="000000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03" name="Text 120"/>
          <p:cNvSpPr txBox="1"/>
          <p:nvPr/>
        </p:nvSpPr>
        <p:spPr>
          <a:xfrm>
            <a:off x="4462271" y="3135727"/>
            <a:ext cx="1051562" cy="293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200">
                <a:solidFill>
                  <a:srgbClr val="0066CC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704" name="Text 121"/>
          <p:cNvSpPr txBox="1"/>
          <p:nvPr/>
        </p:nvSpPr>
        <p:spPr>
          <a:xfrm>
            <a:off x="4462271" y="3514378"/>
            <a:ext cx="1051562" cy="231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Transactions</a:t>
            </a:r>
          </a:p>
          <a:p>
            <a:pPr algn="ctr">
              <a:defRPr sz="8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Processed</a:t>
            </a:r>
          </a:p>
        </p:txBody>
      </p:sp>
      <p:sp>
        <p:nvSpPr>
          <p:cNvPr id="705" name="Shape 122"/>
          <p:cNvSpPr/>
          <p:nvPr/>
        </p:nvSpPr>
        <p:spPr>
          <a:xfrm>
            <a:off x="5605271" y="3072382"/>
            <a:ext cx="1051562" cy="77724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88900" dist="25400" dir="8100000">
              <a:srgbClr val="000000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06" name="Text 123"/>
          <p:cNvSpPr txBox="1"/>
          <p:nvPr/>
        </p:nvSpPr>
        <p:spPr>
          <a:xfrm>
            <a:off x="5605271" y="3135727"/>
            <a:ext cx="1051562" cy="293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200">
                <a:solidFill>
                  <a:srgbClr val="0066CC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707" name="Text 124"/>
          <p:cNvSpPr txBox="1"/>
          <p:nvPr/>
        </p:nvSpPr>
        <p:spPr>
          <a:xfrm>
            <a:off x="5605271" y="3514378"/>
            <a:ext cx="1051562" cy="231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High Risk</a:t>
            </a:r>
          </a:p>
          <a:p>
            <a:pPr algn="ctr">
              <a:defRPr sz="8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Flagged</a:t>
            </a:r>
          </a:p>
        </p:txBody>
      </p:sp>
      <p:sp>
        <p:nvSpPr>
          <p:cNvPr id="708" name="Shape 125"/>
          <p:cNvSpPr/>
          <p:nvPr/>
        </p:nvSpPr>
        <p:spPr>
          <a:xfrm>
            <a:off x="6748271" y="3072382"/>
            <a:ext cx="1051562" cy="77724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88900" dist="25400" dir="8100000">
              <a:srgbClr val="000000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09" name="Text 126"/>
          <p:cNvSpPr txBox="1"/>
          <p:nvPr/>
        </p:nvSpPr>
        <p:spPr>
          <a:xfrm>
            <a:off x="6748271" y="3135727"/>
            <a:ext cx="1051562" cy="293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200">
                <a:solidFill>
                  <a:srgbClr val="0066CC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710" name="Text 127"/>
          <p:cNvSpPr txBox="1"/>
          <p:nvPr/>
        </p:nvSpPr>
        <p:spPr>
          <a:xfrm>
            <a:off x="6748271" y="3514378"/>
            <a:ext cx="1051562" cy="231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Flags</a:t>
            </a:r>
          </a:p>
          <a:p>
            <a:pPr algn="ctr">
              <a:defRPr sz="8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Triggered</a:t>
            </a:r>
          </a:p>
        </p:txBody>
      </p:sp>
      <p:sp>
        <p:nvSpPr>
          <p:cNvPr id="711" name="Shape 128"/>
          <p:cNvSpPr/>
          <p:nvPr/>
        </p:nvSpPr>
        <p:spPr>
          <a:xfrm>
            <a:off x="7891271" y="3072382"/>
            <a:ext cx="1051562" cy="77724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88900" dist="25400" dir="8100000">
              <a:srgbClr val="000000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12" name="Text 129"/>
          <p:cNvSpPr txBox="1"/>
          <p:nvPr/>
        </p:nvSpPr>
        <p:spPr>
          <a:xfrm>
            <a:off x="7891271" y="3135727"/>
            <a:ext cx="1051562" cy="293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200">
                <a:solidFill>
                  <a:srgbClr val="0066CC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713" name="Text 130"/>
          <p:cNvSpPr txBox="1"/>
          <p:nvPr/>
        </p:nvSpPr>
        <p:spPr>
          <a:xfrm>
            <a:off x="7891271" y="3514378"/>
            <a:ext cx="1051562" cy="231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Sanctioned</a:t>
            </a:r>
          </a:p>
          <a:p>
            <a:pPr algn="ctr">
              <a:defRPr sz="8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Countries</a:t>
            </a:r>
          </a:p>
        </p:txBody>
      </p:sp>
      <p:sp>
        <p:nvSpPr>
          <p:cNvPr id="714" name="Shape 131"/>
          <p:cNvSpPr/>
          <p:nvPr/>
        </p:nvSpPr>
        <p:spPr>
          <a:xfrm>
            <a:off x="228600" y="3950208"/>
            <a:ext cx="8686800" cy="896114"/>
          </a:xfrm>
          <a:prstGeom prst="rect">
            <a:avLst/>
          </a:prstGeom>
          <a:solidFill>
            <a:srgbClr val="1E1E2E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15" name="Text 132"/>
          <p:cNvSpPr txBox="1"/>
          <p:nvPr/>
        </p:nvSpPr>
        <p:spPr>
          <a:xfrm>
            <a:off x="320040" y="3986784"/>
            <a:ext cx="8503920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700">
                <a:solidFill>
                  <a:srgbClr val="A8D8A8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TXN003: {"status":"SUCCESS","txn":{"txn_id":"TXN003","customer_id":"C003****","amount":25000,"country":"Nigeria"},"route":["retriever","reasoner","validator"],"flags":["High Value","Sanctioned","Policy Triggered"],"confidence":"High","risk_score":5,"risk_band":"High","reasoning":{"summary":"Transaction exceeds AML threshold","risk_factors":["High Value Transaction"],"policy_references":["Transactions above 10000 must be flagged","Sanctioned countries require enhanced due diligence"]},"validation":{"rule_hits":{"high_value":true,"sanctioned_country":true,"policy_triggered":true}}}</a:t>
            </a:r>
          </a:p>
        </p:txBody>
      </p:sp>
      <p:sp>
        <p:nvSpPr>
          <p:cNvPr id="716" name="Text 133"/>
          <p:cNvSpPr txBox="1"/>
          <p:nvPr/>
        </p:nvSpPr>
        <p:spPr>
          <a:xfrm>
            <a:off x="0" y="4999988"/>
            <a:ext cx="91440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8899BB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CONFIDENTIAL  |  NTT DATA  |  GenAI AML Risk Workshop 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Shape 0"/>
          <p:cNvSpPr/>
          <p:nvPr/>
        </p:nvSpPr>
        <p:spPr>
          <a:xfrm>
            <a:off x="0" y="-1"/>
            <a:ext cx="9144000" cy="658370"/>
          </a:xfrm>
          <a:prstGeom prst="rect">
            <a:avLst/>
          </a:prstGeom>
          <a:solidFill>
            <a:srgbClr val="0A1628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19" name="Text 1"/>
          <p:cNvSpPr txBox="1"/>
          <p:nvPr/>
        </p:nvSpPr>
        <p:spPr>
          <a:xfrm>
            <a:off x="274319" y="204813"/>
            <a:ext cx="6217923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Security &amp; Governance</a:t>
            </a:r>
          </a:p>
        </p:txBody>
      </p:sp>
      <p:sp>
        <p:nvSpPr>
          <p:cNvPr id="720" name="Text 2"/>
          <p:cNvSpPr txBox="1"/>
          <p:nvPr/>
        </p:nvSpPr>
        <p:spPr>
          <a:xfrm>
            <a:off x="6492240" y="260647"/>
            <a:ext cx="251460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F5A623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Defense-in-Depth — Regulated BFSI Compliance</a:t>
            </a:r>
          </a:p>
        </p:txBody>
      </p:sp>
      <p:sp>
        <p:nvSpPr>
          <p:cNvPr id="721" name="Shape 3"/>
          <p:cNvSpPr/>
          <p:nvPr/>
        </p:nvSpPr>
        <p:spPr>
          <a:xfrm>
            <a:off x="228600" y="804672"/>
            <a:ext cx="2834640" cy="192024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88900" dist="25400" dir="8100000">
              <a:srgbClr val="000000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22" name="Shape 4"/>
          <p:cNvSpPr/>
          <p:nvPr/>
        </p:nvSpPr>
        <p:spPr>
          <a:xfrm>
            <a:off x="228600" y="804672"/>
            <a:ext cx="2834640" cy="347474"/>
          </a:xfrm>
          <a:prstGeom prst="rect">
            <a:avLst/>
          </a:prstGeom>
          <a:solidFill>
            <a:srgbClr val="CC3333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23" name="Text 5"/>
          <p:cNvSpPr txBox="1"/>
          <p:nvPr/>
        </p:nvSpPr>
        <p:spPr>
          <a:xfrm>
            <a:off x="228600" y="914908"/>
            <a:ext cx="28346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Prompt Injection Guard</a:t>
            </a:r>
          </a:p>
        </p:txBody>
      </p:sp>
      <p:sp>
        <p:nvSpPr>
          <p:cNvPr id="724" name="Text 6"/>
          <p:cNvSpPr txBox="1"/>
          <p:nvPr/>
        </p:nvSpPr>
        <p:spPr>
          <a:xfrm>
            <a:off x="320039" y="1362963"/>
            <a:ext cx="26517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4 suspicious patterns detected</a:t>
            </a:r>
          </a:p>
        </p:txBody>
      </p:sp>
      <p:sp>
        <p:nvSpPr>
          <p:cNvPr id="725" name="Text 7"/>
          <p:cNvSpPr txBox="1"/>
          <p:nvPr/>
        </p:nvSpPr>
        <p:spPr>
          <a:xfrm>
            <a:off x="320039" y="1865883"/>
            <a:ext cx="26517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Blocks: 'ignore instructions', 'reveal prompt', 'bypass rules'</a:t>
            </a:r>
          </a:p>
        </p:txBody>
      </p:sp>
      <p:sp>
        <p:nvSpPr>
          <p:cNvPr id="726" name="Text 8"/>
          <p:cNvSpPr txBox="1"/>
          <p:nvPr/>
        </p:nvSpPr>
        <p:spPr>
          <a:xfrm>
            <a:off x="320039" y="2368803"/>
            <a:ext cx="26517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Returns: {status: BLOCKED, reason: 'Injection detected'}</a:t>
            </a:r>
          </a:p>
        </p:txBody>
      </p:sp>
      <p:sp>
        <p:nvSpPr>
          <p:cNvPr id="727" name="Shape 9"/>
          <p:cNvSpPr/>
          <p:nvPr/>
        </p:nvSpPr>
        <p:spPr>
          <a:xfrm>
            <a:off x="3172966" y="804672"/>
            <a:ext cx="2834643" cy="192024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88900" dist="25400" dir="8100000">
              <a:srgbClr val="000000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28" name="Shape 10"/>
          <p:cNvSpPr/>
          <p:nvPr/>
        </p:nvSpPr>
        <p:spPr>
          <a:xfrm>
            <a:off x="3172966" y="804672"/>
            <a:ext cx="2834643" cy="347474"/>
          </a:xfrm>
          <a:prstGeom prst="rect">
            <a:avLst/>
          </a:prstGeom>
          <a:solidFill>
            <a:srgbClr val="E078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29" name="Text 11"/>
          <p:cNvSpPr txBox="1"/>
          <p:nvPr/>
        </p:nvSpPr>
        <p:spPr>
          <a:xfrm>
            <a:off x="3172966" y="914908"/>
            <a:ext cx="283464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Unsafe Query Filter</a:t>
            </a:r>
          </a:p>
        </p:txBody>
      </p:sp>
      <p:sp>
        <p:nvSpPr>
          <p:cNvPr id="730" name="Text 12"/>
          <p:cNvSpPr txBox="1"/>
          <p:nvPr/>
        </p:nvSpPr>
        <p:spPr>
          <a:xfrm>
            <a:off x="3264408" y="1362963"/>
            <a:ext cx="26517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Blocked keywords: confidential, pii, password, api key</a:t>
            </a:r>
          </a:p>
        </p:txBody>
      </p:sp>
      <p:sp>
        <p:nvSpPr>
          <p:cNvPr id="731" name="Text 13"/>
          <p:cNvSpPr txBox="1"/>
          <p:nvPr/>
        </p:nvSpPr>
        <p:spPr>
          <a:xfrm>
            <a:off x="3264408" y="1865883"/>
            <a:ext cx="26517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Pre-execution scan on every query string</a:t>
            </a:r>
          </a:p>
        </p:txBody>
      </p:sp>
      <p:sp>
        <p:nvSpPr>
          <p:cNvPr id="732" name="Text 14"/>
          <p:cNvSpPr txBox="1"/>
          <p:nvPr/>
        </p:nvSpPr>
        <p:spPr>
          <a:xfrm>
            <a:off x="3264408" y="2368803"/>
            <a:ext cx="26517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Returns: {status: BLOCKED, reason: 'Unsafe query'}</a:t>
            </a:r>
          </a:p>
        </p:txBody>
      </p:sp>
      <p:sp>
        <p:nvSpPr>
          <p:cNvPr id="733" name="Shape 15"/>
          <p:cNvSpPr/>
          <p:nvPr/>
        </p:nvSpPr>
        <p:spPr>
          <a:xfrm>
            <a:off x="6117335" y="804672"/>
            <a:ext cx="2834642" cy="192024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88900" dist="25400" dir="8100000">
              <a:srgbClr val="000000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34" name="Shape 16"/>
          <p:cNvSpPr/>
          <p:nvPr/>
        </p:nvSpPr>
        <p:spPr>
          <a:xfrm>
            <a:off x="6117335" y="804672"/>
            <a:ext cx="2834642" cy="347474"/>
          </a:xfrm>
          <a:prstGeom prst="rect">
            <a:avLst/>
          </a:prstGeom>
          <a:solidFill>
            <a:srgbClr val="0066C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35" name="Text 17"/>
          <p:cNvSpPr txBox="1"/>
          <p:nvPr/>
        </p:nvSpPr>
        <p:spPr>
          <a:xfrm>
            <a:off x="6117335" y="914908"/>
            <a:ext cx="28346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RBAC Access Control</a:t>
            </a:r>
          </a:p>
        </p:txBody>
      </p:sp>
      <p:sp>
        <p:nvSpPr>
          <p:cNvPr id="736" name="Text 18"/>
          <p:cNvSpPr txBox="1"/>
          <p:nvPr/>
        </p:nvSpPr>
        <p:spPr>
          <a:xfrm>
            <a:off x="6208776" y="1362963"/>
            <a:ext cx="26517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analyst → view_risk only</a:t>
            </a:r>
          </a:p>
        </p:txBody>
      </p:sp>
      <p:sp>
        <p:nvSpPr>
          <p:cNvPr id="737" name="Text 19"/>
          <p:cNvSpPr txBox="1"/>
          <p:nvPr/>
        </p:nvSpPr>
        <p:spPr>
          <a:xfrm>
            <a:off x="6208776" y="1865883"/>
            <a:ext cx="26517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compliance_officer → view_risk + view_reasoning</a:t>
            </a:r>
          </a:p>
        </p:txBody>
      </p:sp>
      <p:sp>
        <p:nvSpPr>
          <p:cNvPr id="738" name="Text 20"/>
          <p:cNvSpPr txBox="1"/>
          <p:nvPr/>
        </p:nvSpPr>
        <p:spPr>
          <a:xfrm>
            <a:off x="6208776" y="2316514"/>
            <a:ext cx="2651762" cy="231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admin → all permissions  ·  check_access() enforced before routing</a:t>
            </a:r>
          </a:p>
        </p:txBody>
      </p:sp>
      <p:sp>
        <p:nvSpPr>
          <p:cNvPr id="739" name="Shape 21"/>
          <p:cNvSpPr/>
          <p:nvPr/>
        </p:nvSpPr>
        <p:spPr>
          <a:xfrm>
            <a:off x="228600" y="2834639"/>
            <a:ext cx="2834640" cy="192024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88900" dist="25400" dir="8100000">
              <a:srgbClr val="000000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40" name="Shape 22"/>
          <p:cNvSpPr/>
          <p:nvPr/>
        </p:nvSpPr>
        <p:spPr>
          <a:xfrm>
            <a:off x="228600" y="2834638"/>
            <a:ext cx="2834640" cy="347474"/>
          </a:xfrm>
          <a:prstGeom prst="rect">
            <a:avLst/>
          </a:prstGeom>
          <a:solidFill>
            <a:srgbClr val="0099A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41" name="Text 23"/>
          <p:cNvSpPr txBox="1"/>
          <p:nvPr/>
        </p:nvSpPr>
        <p:spPr>
          <a:xfrm>
            <a:off x="228600" y="2944875"/>
            <a:ext cx="28346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PII Data Masking</a:t>
            </a:r>
          </a:p>
        </p:txBody>
      </p:sp>
      <p:sp>
        <p:nvSpPr>
          <p:cNvPr id="742" name="Text 24"/>
          <p:cNvSpPr txBox="1"/>
          <p:nvPr/>
        </p:nvSpPr>
        <p:spPr>
          <a:xfrm>
            <a:off x="320039" y="3392930"/>
            <a:ext cx="26517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customer_id: first 4 chars + '****'</a:t>
            </a:r>
          </a:p>
        </p:txBody>
      </p:sp>
      <p:sp>
        <p:nvSpPr>
          <p:cNvPr id="743" name="Text 25"/>
          <p:cNvSpPr txBox="1"/>
          <p:nvPr/>
        </p:nvSpPr>
        <p:spPr>
          <a:xfrm>
            <a:off x="320039" y="3895850"/>
            <a:ext cx="26517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Applied via mask_sensitive_data() pre-processing</a:t>
            </a:r>
          </a:p>
        </p:txBody>
      </p:sp>
      <p:sp>
        <p:nvSpPr>
          <p:cNvPr id="744" name="Text 26"/>
          <p:cNvSpPr txBox="1"/>
          <p:nvPr/>
        </p:nvSpPr>
        <p:spPr>
          <a:xfrm>
            <a:off x="320039" y="4398771"/>
            <a:ext cx="26517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Enforced before ANY agent receives transaction data</a:t>
            </a:r>
          </a:p>
        </p:txBody>
      </p:sp>
      <p:sp>
        <p:nvSpPr>
          <p:cNvPr id="745" name="Shape 27"/>
          <p:cNvSpPr/>
          <p:nvPr/>
        </p:nvSpPr>
        <p:spPr>
          <a:xfrm>
            <a:off x="3172966" y="2834639"/>
            <a:ext cx="2834643" cy="192024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88900" dist="25400" dir="8100000">
              <a:srgbClr val="000000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46" name="Shape 28"/>
          <p:cNvSpPr/>
          <p:nvPr/>
        </p:nvSpPr>
        <p:spPr>
          <a:xfrm>
            <a:off x="3172966" y="2834638"/>
            <a:ext cx="2834643" cy="347474"/>
          </a:xfrm>
          <a:prstGeom prst="rect">
            <a:avLst/>
          </a:prstGeom>
          <a:solidFill>
            <a:srgbClr val="6633BB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47" name="Text 29"/>
          <p:cNvSpPr txBox="1"/>
          <p:nvPr/>
        </p:nvSpPr>
        <p:spPr>
          <a:xfrm>
            <a:off x="3172966" y="2944875"/>
            <a:ext cx="283464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Audit Logging</a:t>
            </a:r>
          </a:p>
        </p:txBody>
      </p:sp>
      <p:sp>
        <p:nvSpPr>
          <p:cNvPr id="748" name="Text 30"/>
          <p:cNvSpPr txBox="1"/>
          <p:nvPr/>
        </p:nvSpPr>
        <p:spPr>
          <a:xfrm>
            <a:off x="3264408" y="3392930"/>
            <a:ext cx="26517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Every request: txn_id, role, action, timestamp</a:t>
            </a:r>
          </a:p>
        </p:txBody>
      </p:sp>
      <p:sp>
        <p:nvSpPr>
          <p:cNvPr id="749" name="Text 31"/>
          <p:cNvSpPr txBox="1"/>
          <p:nvPr/>
        </p:nvSpPr>
        <p:spPr>
          <a:xfrm>
            <a:off x="3264408" y="3895850"/>
            <a:ext cx="26517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Risk score + flags captured per transaction</a:t>
            </a:r>
          </a:p>
        </p:txBody>
      </p:sp>
      <p:sp>
        <p:nvSpPr>
          <p:cNvPr id="750" name="Text 32"/>
          <p:cNvSpPr txBox="1"/>
          <p:nvPr/>
        </p:nvSpPr>
        <p:spPr>
          <a:xfrm>
            <a:off x="3264408" y="4398771"/>
            <a:ext cx="26517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Structured JSON log: AUDIT_LOG entry per run</a:t>
            </a:r>
          </a:p>
        </p:txBody>
      </p:sp>
      <p:sp>
        <p:nvSpPr>
          <p:cNvPr id="751" name="Shape 33"/>
          <p:cNvSpPr/>
          <p:nvPr/>
        </p:nvSpPr>
        <p:spPr>
          <a:xfrm>
            <a:off x="6117335" y="2834639"/>
            <a:ext cx="2834642" cy="192024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88900" dist="25400" dir="8100000">
              <a:srgbClr val="000000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52" name="Shape 34"/>
          <p:cNvSpPr/>
          <p:nvPr/>
        </p:nvSpPr>
        <p:spPr>
          <a:xfrm>
            <a:off x="6117335" y="2834638"/>
            <a:ext cx="2834642" cy="347474"/>
          </a:xfrm>
          <a:prstGeom prst="rect">
            <a:avLst/>
          </a:prstGeom>
          <a:solidFill>
            <a:srgbClr val="885522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53" name="Text 35"/>
          <p:cNvSpPr txBox="1"/>
          <p:nvPr/>
        </p:nvSpPr>
        <p:spPr>
          <a:xfrm>
            <a:off x="6117335" y="2944875"/>
            <a:ext cx="28346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AI Lineage Tracker</a:t>
            </a:r>
          </a:p>
        </p:txBody>
      </p:sp>
      <p:sp>
        <p:nvSpPr>
          <p:cNvPr id="754" name="Text 36"/>
          <p:cNvSpPr txBox="1"/>
          <p:nvPr/>
        </p:nvSpPr>
        <p:spPr>
          <a:xfrm>
            <a:off x="6208776" y="3392930"/>
            <a:ext cx="26517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Stage-by-stage: retrieval → reasoning → validation → decision</a:t>
            </a:r>
          </a:p>
        </p:txBody>
      </p:sp>
      <p:sp>
        <p:nvSpPr>
          <p:cNvPr id="755" name="Text 37"/>
          <p:cNvSpPr txBox="1"/>
          <p:nvPr/>
        </p:nvSpPr>
        <p:spPr>
          <a:xfrm>
            <a:off x="6208776" y="3895850"/>
            <a:ext cx="26517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Input + output captured per agent call</a:t>
            </a:r>
          </a:p>
        </p:txBody>
      </p:sp>
      <p:sp>
        <p:nvSpPr>
          <p:cNvPr id="756" name="Text 38"/>
          <p:cNvSpPr txBox="1"/>
          <p:nvPr/>
        </p:nvSpPr>
        <p:spPr>
          <a:xfrm>
            <a:off x="6208776" y="4398771"/>
            <a:ext cx="26517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Full reproducibility trail via AILineageTracker.get()</a:t>
            </a:r>
          </a:p>
        </p:txBody>
      </p:sp>
      <p:sp>
        <p:nvSpPr>
          <p:cNvPr id="757" name="Text 39"/>
          <p:cNvSpPr txBox="1"/>
          <p:nvPr/>
        </p:nvSpPr>
        <p:spPr>
          <a:xfrm>
            <a:off x="0" y="4999988"/>
            <a:ext cx="91440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8899BB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CONFIDENTIAL  |  NTT DATA  |  GenAI AML Risk Workshop 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Shape 0"/>
          <p:cNvSpPr/>
          <p:nvPr/>
        </p:nvSpPr>
        <p:spPr>
          <a:xfrm>
            <a:off x="0" y="-1"/>
            <a:ext cx="9144000" cy="658370"/>
          </a:xfrm>
          <a:prstGeom prst="rect">
            <a:avLst/>
          </a:prstGeom>
          <a:solidFill>
            <a:srgbClr val="0A1628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60" name="Text 1"/>
          <p:cNvSpPr txBox="1"/>
          <p:nvPr/>
        </p:nvSpPr>
        <p:spPr>
          <a:xfrm>
            <a:off x="274319" y="204813"/>
            <a:ext cx="6217923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LLMOps &amp; Observability</a:t>
            </a:r>
          </a:p>
        </p:txBody>
      </p:sp>
      <p:sp>
        <p:nvSpPr>
          <p:cNvPr id="761" name="Text 2"/>
          <p:cNvSpPr txBox="1"/>
          <p:nvPr/>
        </p:nvSpPr>
        <p:spPr>
          <a:xfrm>
            <a:off x="6492240" y="178097"/>
            <a:ext cx="2514602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F5A623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Metrics · Lineage · Monitoring · FastAPI /metrics Endpoint</a:t>
            </a:r>
          </a:p>
        </p:txBody>
      </p:sp>
      <p:sp>
        <p:nvSpPr>
          <p:cNvPr id="762" name="Shape 3"/>
          <p:cNvSpPr/>
          <p:nvPr/>
        </p:nvSpPr>
        <p:spPr>
          <a:xfrm>
            <a:off x="228599" y="777240"/>
            <a:ext cx="2084834" cy="96012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88900" dist="25400" dir="8100000">
              <a:srgbClr val="000000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63" name="Shape 4"/>
          <p:cNvSpPr/>
          <p:nvPr/>
        </p:nvSpPr>
        <p:spPr>
          <a:xfrm>
            <a:off x="228599" y="777240"/>
            <a:ext cx="2084834" cy="73154"/>
          </a:xfrm>
          <a:prstGeom prst="rect">
            <a:avLst/>
          </a:prstGeom>
          <a:solidFill>
            <a:srgbClr val="0099A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64" name="Text 5"/>
          <p:cNvSpPr txBox="1"/>
          <p:nvPr/>
        </p:nvSpPr>
        <p:spPr>
          <a:xfrm>
            <a:off x="228599" y="897760"/>
            <a:ext cx="2084834" cy="3533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800">
                <a:solidFill>
                  <a:srgbClr val="0099A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~2ms</a:t>
            </a:r>
          </a:p>
        </p:txBody>
      </p:sp>
      <p:sp>
        <p:nvSpPr>
          <p:cNvPr id="765" name="Text 6"/>
          <p:cNvSpPr txBox="1"/>
          <p:nvPr/>
        </p:nvSpPr>
        <p:spPr>
          <a:xfrm>
            <a:off x="228599" y="1303063"/>
            <a:ext cx="2084834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0A162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Retrieval Time</a:t>
            </a:r>
          </a:p>
        </p:txBody>
      </p:sp>
      <p:sp>
        <p:nvSpPr>
          <p:cNvPr id="766" name="Text 7"/>
          <p:cNvSpPr txBox="1"/>
          <p:nvPr/>
        </p:nvSpPr>
        <p:spPr>
          <a:xfrm>
            <a:off x="228599" y="1500122"/>
            <a:ext cx="208483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8899BB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FAISS IndexFlatL2 search</a:t>
            </a:r>
          </a:p>
        </p:txBody>
      </p:sp>
      <p:sp>
        <p:nvSpPr>
          <p:cNvPr id="767" name="Shape 8"/>
          <p:cNvSpPr/>
          <p:nvPr/>
        </p:nvSpPr>
        <p:spPr>
          <a:xfrm>
            <a:off x="2441448" y="777240"/>
            <a:ext cx="2084834" cy="96012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88900" dist="25400" dir="8100000">
              <a:srgbClr val="000000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68" name="Shape 9"/>
          <p:cNvSpPr/>
          <p:nvPr/>
        </p:nvSpPr>
        <p:spPr>
          <a:xfrm>
            <a:off x="2441448" y="777240"/>
            <a:ext cx="2084834" cy="73154"/>
          </a:xfrm>
          <a:prstGeom prst="rect">
            <a:avLst/>
          </a:prstGeom>
          <a:solidFill>
            <a:srgbClr val="0066C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69" name="Text 10"/>
          <p:cNvSpPr txBox="1"/>
          <p:nvPr/>
        </p:nvSpPr>
        <p:spPr>
          <a:xfrm>
            <a:off x="2441448" y="897760"/>
            <a:ext cx="2084834" cy="3533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800">
                <a:solidFill>
                  <a:srgbClr val="0066CC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~1ms</a:t>
            </a:r>
          </a:p>
        </p:txBody>
      </p:sp>
      <p:sp>
        <p:nvSpPr>
          <p:cNvPr id="770" name="Text 11"/>
          <p:cNvSpPr txBox="1"/>
          <p:nvPr/>
        </p:nvSpPr>
        <p:spPr>
          <a:xfrm>
            <a:off x="2441448" y="1303063"/>
            <a:ext cx="2084834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0A162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Reasoning Time</a:t>
            </a:r>
          </a:p>
        </p:txBody>
      </p:sp>
      <p:sp>
        <p:nvSpPr>
          <p:cNvPr id="771" name="Text 12"/>
          <p:cNvSpPr txBox="1"/>
          <p:nvPr/>
        </p:nvSpPr>
        <p:spPr>
          <a:xfrm>
            <a:off x="2441448" y="1500122"/>
            <a:ext cx="208483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8899BB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ReasonerAgent execution</a:t>
            </a:r>
          </a:p>
        </p:txBody>
      </p:sp>
      <p:sp>
        <p:nvSpPr>
          <p:cNvPr id="772" name="Shape 13"/>
          <p:cNvSpPr/>
          <p:nvPr/>
        </p:nvSpPr>
        <p:spPr>
          <a:xfrm>
            <a:off x="4654296" y="777240"/>
            <a:ext cx="2084834" cy="96012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88900" dist="25400" dir="8100000">
              <a:srgbClr val="000000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73" name="Shape 14"/>
          <p:cNvSpPr/>
          <p:nvPr/>
        </p:nvSpPr>
        <p:spPr>
          <a:xfrm>
            <a:off x="4654296" y="777240"/>
            <a:ext cx="2084834" cy="73154"/>
          </a:xfrm>
          <a:prstGeom prst="rect">
            <a:avLst/>
          </a:prstGeom>
          <a:solidFill>
            <a:srgbClr val="6633BB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74" name="Text 15"/>
          <p:cNvSpPr txBox="1"/>
          <p:nvPr/>
        </p:nvSpPr>
        <p:spPr>
          <a:xfrm>
            <a:off x="4654296" y="897760"/>
            <a:ext cx="2084834" cy="3533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800">
                <a:solidFill>
                  <a:srgbClr val="6633BB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~1ms</a:t>
            </a:r>
          </a:p>
        </p:txBody>
      </p:sp>
      <p:sp>
        <p:nvSpPr>
          <p:cNvPr id="775" name="Text 16"/>
          <p:cNvSpPr txBox="1"/>
          <p:nvPr/>
        </p:nvSpPr>
        <p:spPr>
          <a:xfrm>
            <a:off x="4654296" y="1303063"/>
            <a:ext cx="2084834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0A162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Validation Time</a:t>
            </a:r>
          </a:p>
        </p:txBody>
      </p:sp>
      <p:sp>
        <p:nvSpPr>
          <p:cNvPr id="776" name="Text 17"/>
          <p:cNvSpPr txBox="1"/>
          <p:nvPr/>
        </p:nvSpPr>
        <p:spPr>
          <a:xfrm>
            <a:off x="4654296" y="1500122"/>
            <a:ext cx="208483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8899BB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Rule engine + checks</a:t>
            </a:r>
          </a:p>
        </p:txBody>
      </p:sp>
      <p:sp>
        <p:nvSpPr>
          <p:cNvPr id="777" name="Shape 18"/>
          <p:cNvSpPr/>
          <p:nvPr/>
        </p:nvSpPr>
        <p:spPr>
          <a:xfrm>
            <a:off x="6867142" y="777240"/>
            <a:ext cx="2084834" cy="96012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88900" dist="25400" dir="8100000">
              <a:srgbClr val="000000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78" name="Shape 19"/>
          <p:cNvSpPr/>
          <p:nvPr/>
        </p:nvSpPr>
        <p:spPr>
          <a:xfrm>
            <a:off x="6867142" y="777240"/>
            <a:ext cx="2084834" cy="73154"/>
          </a:xfrm>
          <a:prstGeom prst="rect">
            <a:avLst/>
          </a:prstGeom>
          <a:solidFill>
            <a:srgbClr val="00AA66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79" name="Text 20"/>
          <p:cNvSpPr txBox="1"/>
          <p:nvPr/>
        </p:nvSpPr>
        <p:spPr>
          <a:xfrm>
            <a:off x="6867142" y="897760"/>
            <a:ext cx="2084834" cy="3533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800">
                <a:solidFill>
                  <a:srgbClr val="00AA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&lt;5ms</a:t>
            </a:r>
          </a:p>
        </p:txBody>
      </p:sp>
      <p:sp>
        <p:nvSpPr>
          <p:cNvPr id="780" name="Text 21"/>
          <p:cNvSpPr txBox="1"/>
          <p:nvPr/>
        </p:nvSpPr>
        <p:spPr>
          <a:xfrm>
            <a:off x="6867142" y="1303063"/>
            <a:ext cx="2084834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0A162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E2E Latency</a:t>
            </a:r>
          </a:p>
        </p:txBody>
      </p:sp>
      <p:sp>
        <p:nvSpPr>
          <p:cNvPr id="781" name="Text 22"/>
          <p:cNvSpPr txBox="1"/>
          <p:nvPr/>
        </p:nvSpPr>
        <p:spPr>
          <a:xfrm>
            <a:off x="6867142" y="1500122"/>
            <a:ext cx="208483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8899BB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Full pipeline per txn</a:t>
            </a:r>
          </a:p>
        </p:txBody>
      </p:sp>
      <p:sp>
        <p:nvSpPr>
          <p:cNvPr id="782" name="Shape 23"/>
          <p:cNvSpPr/>
          <p:nvPr/>
        </p:nvSpPr>
        <p:spPr>
          <a:xfrm>
            <a:off x="228600" y="1883664"/>
            <a:ext cx="4251960" cy="320042"/>
          </a:xfrm>
          <a:prstGeom prst="rect">
            <a:avLst/>
          </a:prstGeom>
          <a:solidFill>
            <a:srgbClr val="334466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83" name="Text 24"/>
          <p:cNvSpPr txBox="1"/>
          <p:nvPr/>
        </p:nvSpPr>
        <p:spPr>
          <a:xfrm>
            <a:off x="228600" y="1980183"/>
            <a:ext cx="42519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GET /metrics  — LLMOps Tracker Output</a:t>
            </a:r>
          </a:p>
        </p:txBody>
      </p:sp>
      <p:sp>
        <p:nvSpPr>
          <p:cNvPr id="784" name="Shape 25"/>
          <p:cNvSpPr/>
          <p:nvPr/>
        </p:nvSpPr>
        <p:spPr>
          <a:xfrm>
            <a:off x="228600" y="2221992"/>
            <a:ext cx="4251960" cy="1325882"/>
          </a:xfrm>
          <a:prstGeom prst="rect">
            <a:avLst/>
          </a:prstGeom>
          <a:solidFill>
            <a:srgbClr val="1E1E2E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85" name="Text 26"/>
          <p:cNvSpPr txBox="1"/>
          <p:nvPr/>
        </p:nvSpPr>
        <p:spPr>
          <a:xfrm>
            <a:off x="320039" y="2267711"/>
            <a:ext cx="4114803" cy="1117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900">
                <a:solidFill>
                  <a:srgbClr val="A8D8A8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{</a:t>
            </a:r>
          </a:p>
          <a:p>
            <a:pPr>
              <a:defRPr sz="900">
                <a:solidFill>
                  <a:srgbClr val="A8D8A8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"txn_id": "TXN001",</a:t>
            </a:r>
          </a:p>
          <a:p>
            <a:pPr>
              <a:defRPr sz="900">
                <a:solidFill>
                  <a:srgbClr val="A8D8A8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"retrieval_time": 0.00213,</a:t>
            </a:r>
          </a:p>
          <a:p>
            <a:pPr>
              <a:defRPr sz="900">
                <a:solidFill>
                  <a:srgbClr val="A8D8A8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"reasoning_time": 0.00091,</a:t>
            </a:r>
          </a:p>
          <a:p>
            <a:pPr>
              <a:defRPr sz="900">
                <a:solidFill>
                  <a:srgbClr val="A8D8A8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"validation_time": 0.00078,</a:t>
            </a:r>
          </a:p>
          <a:p>
            <a:pPr>
              <a:defRPr sz="900">
                <a:solidFill>
                  <a:srgbClr val="A8D8A8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"total_flags": 1,</a:t>
            </a:r>
          </a:p>
          <a:p>
            <a:pPr>
              <a:defRPr sz="900">
                <a:solidFill>
                  <a:srgbClr val="A8D8A8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"timestamp": 1746350400.0</a:t>
            </a:r>
          </a:p>
          <a:p>
            <a:pPr>
              <a:defRPr sz="900">
                <a:solidFill>
                  <a:srgbClr val="A8D8A8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}</a:t>
            </a:r>
          </a:p>
        </p:txBody>
      </p:sp>
      <p:sp>
        <p:nvSpPr>
          <p:cNvPr id="786" name="Shape 27"/>
          <p:cNvSpPr/>
          <p:nvPr/>
        </p:nvSpPr>
        <p:spPr>
          <a:xfrm>
            <a:off x="4663440" y="1883664"/>
            <a:ext cx="4251961" cy="320042"/>
          </a:xfrm>
          <a:prstGeom prst="rect">
            <a:avLst/>
          </a:prstGeom>
          <a:solidFill>
            <a:srgbClr val="334466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87" name="Text 28"/>
          <p:cNvSpPr txBox="1"/>
          <p:nvPr/>
        </p:nvSpPr>
        <p:spPr>
          <a:xfrm>
            <a:off x="4663440" y="1980183"/>
            <a:ext cx="42519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GET /lineage/{txn_id}  — AILineageTracker Stages</a:t>
            </a:r>
          </a:p>
        </p:txBody>
      </p:sp>
      <p:sp>
        <p:nvSpPr>
          <p:cNvPr id="788" name="Shape 29"/>
          <p:cNvSpPr/>
          <p:nvPr/>
        </p:nvSpPr>
        <p:spPr>
          <a:xfrm>
            <a:off x="4663440" y="2231134"/>
            <a:ext cx="4251961" cy="31089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89" name="Text 30"/>
          <p:cNvSpPr txBox="1"/>
          <p:nvPr/>
        </p:nvSpPr>
        <p:spPr>
          <a:xfrm>
            <a:off x="4736591" y="2316733"/>
            <a:ext cx="137160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0066C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retrieval</a:t>
            </a:r>
          </a:p>
        </p:txBody>
      </p:sp>
      <p:sp>
        <p:nvSpPr>
          <p:cNvPr id="790" name="Text 31"/>
          <p:cNvSpPr txBox="1"/>
          <p:nvPr/>
        </p:nvSpPr>
        <p:spPr>
          <a:xfrm>
            <a:off x="6172199" y="2323083"/>
            <a:ext cx="269748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Query → FAISS search → top-2 policy docs</a:t>
            </a:r>
          </a:p>
        </p:txBody>
      </p:sp>
      <p:sp>
        <p:nvSpPr>
          <p:cNvPr id="791" name="Shape 32"/>
          <p:cNvSpPr/>
          <p:nvPr/>
        </p:nvSpPr>
        <p:spPr>
          <a:xfrm>
            <a:off x="4663440" y="2560320"/>
            <a:ext cx="4251961" cy="310898"/>
          </a:xfrm>
          <a:prstGeom prst="rect">
            <a:avLst/>
          </a:prstGeom>
          <a:solidFill>
            <a:srgbClr val="EEF3F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92" name="Text 33"/>
          <p:cNvSpPr txBox="1"/>
          <p:nvPr/>
        </p:nvSpPr>
        <p:spPr>
          <a:xfrm>
            <a:off x="4736591" y="2645916"/>
            <a:ext cx="137160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0066C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reasoning</a:t>
            </a:r>
          </a:p>
        </p:txBody>
      </p:sp>
      <p:sp>
        <p:nvSpPr>
          <p:cNvPr id="793" name="Text 34"/>
          <p:cNvSpPr txBox="1"/>
          <p:nvPr/>
        </p:nvSpPr>
        <p:spPr>
          <a:xfrm>
            <a:off x="6172199" y="2652266"/>
            <a:ext cx="269748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Docs + txn → risk narrative, SAR flag</a:t>
            </a:r>
          </a:p>
        </p:txBody>
      </p:sp>
      <p:sp>
        <p:nvSpPr>
          <p:cNvPr id="794" name="Shape 35"/>
          <p:cNvSpPr/>
          <p:nvPr/>
        </p:nvSpPr>
        <p:spPr>
          <a:xfrm>
            <a:off x="4663440" y="2889504"/>
            <a:ext cx="4251961" cy="31089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95" name="Text 36"/>
          <p:cNvSpPr txBox="1"/>
          <p:nvPr/>
        </p:nvSpPr>
        <p:spPr>
          <a:xfrm>
            <a:off x="4736591" y="2975101"/>
            <a:ext cx="137160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0066C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validation</a:t>
            </a:r>
          </a:p>
        </p:txBody>
      </p:sp>
      <p:sp>
        <p:nvSpPr>
          <p:cNvPr id="796" name="Text 37"/>
          <p:cNvSpPr txBox="1"/>
          <p:nvPr/>
        </p:nvSpPr>
        <p:spPr>
          <a:xfrm>
            <a:off x="6172199" y="2981451"/>
            <a:ext cx="269748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Rule engine → flags, confidence, rule_hits</a:t>
            </a:r>
          </a:p>
        </p:txBody>
      </p:sp>
      <p:sp>
        <p:nvSpPr>
          <p:cNvPr id="797" name="Shape 38"/>
          <p:cNvSpPr/>
          <p:nvPr/>
        </p:nvSpPr>
        <p:spPr>
          <a:xfrm>
            <a:off x="4663440" y="3218688"/>
            <a:ext cx="4251961" cy="310898"/>
          </a:xfrm>
          <a:prstGeom prst="rect">
            <a:avLst/>
          </a:prstGeom>
          <a:solidFill>
            <a:srgbClr val="EEF3F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98" name="Text 39"/>
          <p:cNvSpPr txBox="1"/>
          <p:nvPr/>
        </p:nvSpPr>
        <p:spPr>
          <a:xfrm>
            <a:off x="4736591" y="3304285"/>
            <a:ext cx="137160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0066C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final_decision</a:t>
            </a:r>
          </a:p>
        </p:txBody>
      </p:sp>
      <p:sp>
        <p:nvSpPr>
          <p:cNvPr id="799" name="Text 40"/>
          <p:cNvSpPr txBox="1"/>
          <p:nvPr/>
        </p:nvSpPr>
        <p:spPr>
          <a:xfrm>
            <a:off x="6172199" y="3310635"/>
            <a:ext cx="269748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Aggregated: flags, risk_band, lineage</a:t>
            </a:r>
          </a:p>
        </p:txBody>
      </p:sp>
      <p:sp>
        <p:nvSpPr>
          <p:cNvPr id="800" name="Shape 41"/>
          <p:cNvSpPr/>
          <p:nvPr/>
        </p:nvSpPr>
        <p:spPr>
          <a:xfrm>
            <a:off x="228600" y="3639310"/>
            <a:ext cx="8686800" cy="320042"/>
          </a:xfrm>
          <a:prstGeom prst="rect">
            <a:avLst/>
          </a:prstGeom>
          <a:solidFill>
            <a:srgbClr val="0066C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01" name="Text 42"/>
          <p:cNvSpPr txBox="1"/>
          <p:nvPr/>
        </p:nvSpPr>
        <p:spPr>
          <a:xfrm>
            <a:off x="228600" y="3730795"/>
            <a:ext cx="868680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GET /summary  — Aggregate Dashboard Stats</a:t>
            </a:r>
          </a:p>
        </p:txBody>
      </p:sp>
      <p:sp>
        <p:nvSpPr>
          <p:cNvPr id="802" name="Shape 43"/>
          <p:cNvSpPr/>
          <p:nvPr/>
        </p:nvSpPr>
        <p:spPr>
          <a:xfrm>
            <a:off x="228600" y="3986784"/>
            <a:ext cx="1664207" cy="71323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88900" dist="25400" dir="8100000">
              <a:srgbClr val="000000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03" name="Text 44"/>
          <p:cNvSpPr txBox="1"/>
          <p:nvPr/>
        </p:nvSpPr>
        <p:spPr>
          <a:xfrm>
            <a:off x="228600" y="4045292"/>
            <a:ext cx="1664207" cy="248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000">
                <a:solidFill>
                  <a:srgbClr val="0066CC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804" name="Text 45"/>
          <p:cNvSpPr txBox="1"/>
          <p:nvPr/>
        </p:nvSpPr>
        <p:spPr>
          <a:xfrm>
            <a:off x="228600" y="4435347"/>
            <a:ext cx="166420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7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total_transactions</a:t>
            </a:r>
          </a:p>
        </p:txBody>
      </p:sp>
      <p:sp>
        <p:nvSpPr>
          <p:cNvPr id="805" name="Shape 46"/>
          <p:cNvSpPr/>
          <p:nvPr/>
        </p:nvSpPr>
        <p:spPr>
          <a:xfrm>
            <a:off x="1965960" y="3986784"/>
            <a:ext cx="1664208" cy="71323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88900" dist="25400" dir="8100000">
              <a:srgbClr val="000000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06" name="Text 47"/>
          <p:cNvSpPr txBox="1"/>
          <p:nvPr/>
        </p:nvSpPr>
        <p:spPr>
          <a:xfrm>
            <a:off x="1965960" y="4045292"/>
            <a:ext cx="1664208" cy="248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000">
                <a:solidFill>
                  <a:srgbClr val="0066CC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807" name="Text 48"/>
          <p:cNvSpPr txBox="1"/>
          <p:nvPr/>
        </p:nvSpPr>
        <p:spPr>
          <a:xfrm>
            <a:off x="1965960" y="4435347"/>
            <a:ext cx="166420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7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high_risk_count</a:t>
            </a:r>
          </a:p>
        </p:txBody>
      </p:sp>
      <p:sp>
        <p:nvSpPr>
          <p:cNvPr id="808" name="Shape 49"/>
          <p:cNvSpPr/>
          <p:nvPr/>
        </p:nvSpPr>
        <p:spPr>
          <a:xfrm>
            <a:off x="3703320" y="3986784"/>
            <a:ext cx="1664208" cy="71323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88900" dist="25400" dir="8100000">
              <a:srgbClr val="000000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09" name="Text 50"/>
          <p:cNvSpPr txBox="1"/>
          <p:nvPr/>
        </p:nvSpPr>
        <p:spPr>
          <a:xfrm>
            <a:off x="3703320" y="4045292"/>
            <a:ext cx="1664208" cy="248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000">
                <a:solidFill>
                  <a:srgbClr val="0066CC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810" name="Text 51"/>
          <p:cNvSpPr txBox="1"/>
          <p:nvPr/>
        </p:nvSpPr>
        <p:spPr>
          <a:xfrm>
            <a:off x="3703320" y="4435347"/>
            <a:ext cx="166420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7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flagged_count</a:t>
            </a:r>
          </a:p>
        </p:txBody>
      </p:sp>
      <p:sp>
        <p:nvSpPr>
          <p:cNvPr id="811" name="Shape 52"/>
          <p:cNvSpPr/>
          <p:nvPr/>
        </p:nvSpPr>
        <p:spPr>
          <a:xfrm>
            <a:off x="5440679" y="3986784"/>
            <a:ext cx="1664208" cy="71323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88900" dist="25400" dir="8100000">
              <a:srgbClr val="000000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12" name="Text 53"/>
          <p:cNvSpPr txBox="1"/>
          <p:nvPr/>
        </p:nvSpPr>
        <p:spPr>
          <a:xfrm>
            <a:off x="5440679" y="4045292"/>
            <a:ext cx="1664208" cy="248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000">
                <a:solidFill>
                  <a:srgbClr val="0066CC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813" name="Text 54"/>
          <p:cNvSpPr txBox="1"/>
          <p:nvPr/>
        </p:nvSpPr>
        <p:spPr>
          <a:xfrm>
            <a:off x="5440679" y="4435347"/>
            <a:ext cx="166420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7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low_risk_count</a:t>
            </a:r>
          </a:p>
        </p:txBody>
      </p:sp>
      <p:sp>
        <p:nvSpPr>
          <p:cNvPr id="814" name="Shape 55"/>
          <p:cNvSpPr/>
          <p:nvPr/>
        </p:nvSpPr>
        <p:spPr>
          <a:xfrm>
            <a:off x="7178040" y="3986784"/>
            <a:ext cx="1664208" cy="71323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88900" dist="25400" dir="8100000">
              <a:srgbClr val="000000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15" name="Text 56"/>
          <p:cNvSpPr txBox="1"/>
          <p:nvPr/>
        </p:nvSpPr>
        <p:spPr>
          <a:xfrm>
            <a:off x="7178040" y="4045292"/>
            <a:ext cx="1664208" cy="248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000">
                <a:solidFill>
                  <a:srgbClr val="0066CC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2.13 ms</a:t>
            </a:r>
          </a:p>
        </p:txBody>
      </p:sp>
      <p:sp>
        <p:nvSpPr>
          <p:cNvPr id="816" name="Text 57"/>
          <p:cNvSpPr txBox="1"/>
          <p:nvPr/>
        </p:nvSpPr>
        <p:spPr>
          <a:xfrm>
            <a:off x="7178040" y="4435347"/>
            <a:ext cx="166420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7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avg_retrieval_time</a:t>
            </a:r>
          </a:p>
        </p:txBody>
      </p:sp>
      <p:sp>
        <p:nvSpPr>
          <p:cNvPr id="817" name="Text 58"/>
          <p:cNvSpPr txBox="1"/>
          <p:nvPr/>
        </p:nvSpPr>
        <p:spPr>
          <a:xfrm>
            <a:off x="0" y="4999988"/>
            <a:ext cx="91440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8899BB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CONFIDENTIAL  |  NTT DATA  |  GenAI AML Risk Workshop 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Shape 0"/>
          <p:cNvSpPr/>
          <p:nvPr/>
        </p:nvSpPr>
        <p:spPr>
          <a:xfrm>
            <a:off x="0" y="-1"/>
            <a:ext cx="9144000" cy="658370"/>
          </a:xfrm>
          <a:prstGeom prst="rect">
            <a:avLst/>
          </a:prstGeom>
          <a:solidFill>
            <a:srgbClr val="0A1628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20" name="Text 1"/>
          <p:cNvSpPr txBox="1"/>
          <p:nvPr/>
        </p:nvSpPr>
        <p:spPr>
          <a:xfrm>
            <a:off x="274319" y="204813"/>
            <a:ext cx="6217923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Workshop Tracks Overview</a:t>
            </a:r>
          </a:p>
        </p:txBody>
      </p:sp>
      <p:sp>
        <p:nvSpPr>
          <p:cNvPr id="821" name="Text 2"/>
          <p:cNvSpPr txBox="1"/>
          <p:nvPr/>
        </p:nvSpPr>
        <p:spPr>
          <a:xfrm>
            <a:off x="6492240" y="260647"/>
            <a:ext cx="251460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F5A623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7 Technical Capability Tracks</a:t>
            </a:r>
          </a:p>
        </p:txBody>
      </p:sp>
      <p:sp>
        <p:nvSpPr>
          <p:cNvPr id="822" name="Shape 3"/>
          <p:cNvSpPr/>
          <p:nvPr/>
        </p:nvSpPr>
        <p:spPr>
          <a:xfrm>
            <a:off x="164590" y="804672"/>
            <a:ext cx="2103124" cy="201167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88900" dist="25400" dir="8100000">
              <a:srgbClr val="000000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23" name="Shape 4"/>
          <p:cNvSpPr/>
          <p:nvPr/>
        </p:nvSpPr>
        <p:spPr>
          <a:xfrm>
            <a:off x="164590" y="804672"/>
            <a:ext cx="2103124" cy="329186"/>
          </a:xfrm>
          <a:prstGeom prst="rect">
            <a:avLst/>
          </a:prstGeom>
          <a:solidFill>
            <a:srgbClr val="0066C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24" name="Text 5"/>
          <p:cNvSpPr txBox="1"/>
          <p:nvPr/>
        </p:nvSpPr>
        <p:spPr>
          <a:xfrm>
            <a:off x="164590" y="905763"/>
            <a:ext cx="210312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T1  GenAI &amp; Multi-Agent Architecture</a:t>
            </a:r>
          </a:p>
        </p:txBody>
      </p:sp>
      <p:sp>
        <p:nvSpPr>
          <p:cNvPr id="825" name="Text 6"/>
          <p:cNvSpPr txBox="1"/>
          <p:nvPr/>
        </p:nvSpPr>
        <p:spPr>
          <a:xfrm>
            <a:off x="237743" y="1289811"/>
            <a:ext cx="195681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Multi-agent: Retriever, Reasoner, Validator, Router</a:t>
            </a:r>
          </a:p>
        </p:txBody>
      </p:sp>
      <p:sp>
        <p:nvSpPr>
          <p:cNvPr id="826" name="Text 7"/>
          <p:cNvSpPr txBox="1"/>
          <p:nvPr/>
        </p:nvSpPr>
        <p:spPr>
          <a:xfrm>
            <a:off x="237743" y="1651157"/>
            <a:ext cx="1956818" cy="208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MCPContext, MCPToolRegistry, AgentRouter patterns</a:t>
            </a:r>
          </a:p>
        </p:txBody>
      </p:sp>
      <p:sp>
        <p:nvSpPr>
          <p:cNvPr id="827" name="Text 8"/>
          <p:cNvSpPr txBox="1"/>
          <p:nvPr/>
        </p:nvSpPr>
        <p:spPr>
          <a:xfrm>
            <a:off x="237743" y="2094483"/>
            <a:ext cx="195681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Guardrails, RBAC, prompt injection defense</a:t>
            </a:r>
          </a:p>
        </p:txBody>
      </p:sp>
      <p:sp>
        <p:nvSpPr>
          <p:cNvPr id="828" name="Text 9"/>
          <p:cNvSpPr txBox="1"/>
          <p:nvPr/>
        </p:nvSpPr>
        <p:spPr>
          <a:xfrm>
            <a:off x="237743" y="2496818"/>
            <a:ext cx="195681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MCP/A2A communication models</a:t>
            </a:r>
          </a:p>
        </p:txBody>
      </p:sp>
      <p:sp>
        <p:nvSpPr>
          <p:cNvPr id="829" name="Shape 10"/>
          <p:cNvSpPr/>
          <p:nvPr/>
        </p:nvSpPr>
        <p:spPr>
          <a:xfrm>
            <a:off x="2404871" y="804672"/>
            <a:ext cx="2103123" cy="201167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88900" dist="25400" dir="8100000">
              <a:srgbClr val="000000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30" name="Shape 11"/>
          <p:cNvSpPr/>
          <p:nvPr/>
        </p:nvSpPr>
        <p:spPr>
          <a:xfrm>
            <a:off x="2404871" y="804672"/>
            <a:ext cx="2103123" cy="329186"/>
          </a:xfrm>
          <a:prstGeom prst="rect">
            <a:avLst/>
          </a:prstGeom>
          <a:solidFill>
            <a:srgbClr val="0099A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31" name="Text 12"/>
          <p:cNvSpPr txBox="1"/>
          <p:nvPr/>
        </p:nvSpPr>
        <p:spPr>
          <a:xfrm>
            <a:off x="2404871" y="905763"/>
            <a:ext cx="210312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T2  RAG Pipeline Engineering</a:t>
            </a:r>
          </a:p>
        </p:txBody>
      </p:sp>
      <p:sp>
        <p:nvSpPr>
          <p:cNvPr id="832" name="Text 13"/>
          <p:cNvSpPr txBox="1"/>
          <p:nvPr/>
        </p:nvSpPr>
        <p:spPr>
          <a:xfrm>
            <a:off x="2478022" y="1289811"/>
            <a:ext cx="195681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Policy doc ingestion + MiniLM-L6-v2 embedding</a:t>
            </a:r>
          </a:p>
        </p:txBody>
      </p:sp>
      <p:sp>
        <p:nvSpPr>
          <p:cNvPr id="833" name="Text 14"/>
          <p:cNvSpPr txBox="1"/>
          <p:nvPr/>
        </p:nvSpPr>
        <p:spPr>
          <a:xfrm>
            <a:off x="2478022" y="1692146"/>
            <a:ext cx="195681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FAISS IndexFlatL2 vector index, top-k retrieval</a:t>
            </a:r>
          </a:p>
        </p:txBody>
      </p:sp>
      <p:sp>
        <p:nvSpPr>
          <p:cNvPr id="834" name="Text 15"/>
          <p:cNvSpPr txBox="1"/>
          <p:nvPr/>
        </p:nvSpPr>
        <p:spPr>
          <a:xfrm>
            <a:off x="2478022" y="2094483"/>
            <a:ext cx="195681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Retrieval tuning, re-ranking strategies</a:t>
            </a:r>
          </a:p>
        </p:txBody>
      </p:sp>
      <p:sp>
        <p:nvSpPr>
          <p:cNvPr id="835" name="Text 16"/>
          <p:cNvSpPr txBox="1"/>
          <p:nvPr/>
        </p:nvSpPr>
        <p:spPr>
          <a:xfrm>
            <a:off x="2478022" y="2496818"/>
            <a:ext cx="195681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Hallucination &amp; conflicting source handling</a:t>
            </a:r>
          </a:p>
        </p:txBody>
      </p:sp>
      <p:sp>
        <p:nvSpPr>
          <p:cNvPr id="836" name="Shape 17"/>
          <p:cNvSpPr/>
          <p:nvPr/>
        </p:nvSpPr>
        <p:spPr>
          <a:xfrm>
            <a:off x="4645152" y="804672"/>
            <a:ext cx="2103122" cy="201167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88900" dist="25400" dir="8100000">
              <a:srgbClr val="000000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37" name="Shape 18"/>
          <p:cNvSpPr/>
          <p:nvPr/>
        </p:nvSpPr>
        <p:spPr>
          <a:xfrm>
            <a:off x="4645152" y="804672"/>
            <a:ext cx="2103122" cy="329186"/>
          </a:xfrm>
          <a:prstGeom prst="rect">
            <a:avLst/>
          </a:prstGeom>
          <a:solidFill>
            <a:srgbClr val="116644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38" name="Text 19"/>
          <p:cNvSpPr txBox="1"/>
          <p:nvPr/>
        </p:nvSpPr>
        <p:spPr>
          <a:xfrm>
            <a:off x="4645152" y="905763"/>
            <a:ext cx="21031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T3  Data Engineering &amp; Lakehouse</a:t>
            </a:r>
          </a:p>
        </p:txBody>
      </p:sp>
      <p:sp>
        <p:nvSpPr>
          <p:cNvPr id="839" name="Text 20"/>
          <p:cNvSpPr txBox="1"/>
          <p:nvPr/>
        </p:nvSpPr>
        <p:spPr>
          <a:xfrm>
            <a:off x="4718303" y="1289811"/>
            <a:ext cx="195681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Bronze→Silver→Gold Spark pipeline in Databricks</a:t>
            </a:r>
          </a:p>
        </p:txBody>
      </p:sp>
      <p:sp>
        <p:nvSpPr>
          <p:cNvPr id="840" name="Text 21"/>
          <p:cNvSpPr txBox="1"/>
          <p:nvPr/>
        </p:nvSpPr>
        <p:spPr>
          <a:xfrm>
            <a:off x="4718303" y="1651157"/>
            <a:ext cx="1956818" cy="208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PySpark: filter, dropDuplicates, withColumn transforms</a:t>
            </a:r>
          </a:p>
        </p:txBody>
      </p:sp>
      <p:sp>
        <p:nvSpPr>
          <p:cNvPr id="841" name="Text 22"/>
          <p:cNvSpPr txBox="1"/>
          <p:nvPr/>
        </p:nvSpPr>
        <p:spPr>
          <a:xfrm>
            <a:off x="4718303" y="2094483"/>
            <a:ext cx="195681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Risk scoring logic: amount + country factors</a:t>
            </a:r>
          </a:p>
        </p:txBody>
      </p:sp>
      <p:sp>
        <p:nvSpPr>
          <p:cNvPr id="842" name="Text 23"/>
          <p:cNvSpPr txBox="1"/>
          <p:nvPr/>
        </p:nvSpPr>
        <p:spPr>
          <a:xfrm>
            <a:off x="4718303" y="2496818"/>
            <a:ext cx="195681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Delta Lake, lineage, schema enforcement</a:t>
            </a:r>
          </a:p>
        </p:txBody>
      </p:sp>
      <p:sp>
        <p:nvSpPr>
          <p:cNvPr id="843" name="Shape 24"/>
          <p:cNvSpPr/>
          <p:nvPr/>
        </p:nvSpPr>
        <p:spPr>
          <a:xfrm>
            <a:off x="6885430" y="804672"/>
            <a:ext cx="2103122" cy="201167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88900" dist="25400" dir="8100000">
              <a:srgbClr val="000000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44" name="Shape 25"/>
          <p:cNvSpPr/>
          <p:nvPr/>
        </p:nvSpPr>
        <p:spPr>
          <a:xfrm>
            <a:off x="6885430" y="804672"/>
            <a:ext cx="2103122" cy="329186"/>
          </a:xfrm>
          <a:prstGeom prst="rect">
            <a:avLst/>
          </a:prstGeom>
          <a:solidFill>
            <a:srgbClr val="E078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45" name="Text 26"/>
          <p:cNvSpPr txBox="1"/>
          <p:nvPr/>
        </p:nvSpPr>
        <p:spPr>
          <a:xfrm>
            <a:off x="6885430" y="905763"/>
            <a:ext cx="21031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T4  FastAPI REST Layer</a:t>
            </a:r>
          </a:p>
        </p:txBody>
      </p:sp>
      <p:sp>
        <p:nvSpPr>
          <p:cNvPr id="846" name="Text 27"/>
          <p:cNvSpPr txBox="1"/>
          <p:nvPr/>
        </p:nvSpPr>
        <p:spPr>
          <a:xfrm>
            <a:off x="6958583" y="1289811"/>
            <a:ext cx="195681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8 REST endpoints: /transactions, /flags, /summary</a:t>
            </a:r>
          </a:p>
        </p:txBody>
      </p:sp>
      <p:sp>
        <p:nvSpPr>
          <p:cNvPr id="847" name="Text 28"/>
          <p:cNvSpPr txBox="1"/>
          <p:nvPr/>
        </p:nvSpPr>
        <p:spPr>
          <a:xfrm>
            <a:off x="6958583" y="1692146"/>
            <a:ext cx="195681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/lineage, /reasoning, /metrics per txn</a:t>
            </a:r>
          </a:p>
        </p:txBody>
      </p:sp>
      <p:sp>
        <p:nvSpPr>
          <p:cNvPr id="848" name="Text 29"/>
          <p:cNvSpPr txBox="1"/>
          <p:nvPr/>
        </p:nvSpPr>
        <p:spPr>
          <a:xfrm>
            <a:off x="6958583" y="2094483"/>
            <a:ext cx="195681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aml_full_results.json consumed by API</a:t>
            </a:r>
          </a:p>
        </p:txBody>
      </p:sp>
      <p:sp>
        <p:nvSpPr>
          <p:cNvPr id="849" name="Text 30"/>
          <p:cNvSpPr txBox="1"/>
          <p:nvPr/>
        </p:nvSpPr>
        <p:spPr>
          <a:xfrm>
            <a:off x="6958583" y="2496818"/>
            <a:ext cx="195681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CORS middleware, FileResponse dashboard.html</a:t>
            </a:r>
          </a:p>
        </p:txBody>
      </p:sp>
      <p:sp>
        <p:nvSpPr>
          <p:cNvPr id="850" name="Shape 31"/>
          <p:cNvSpPr/>
          <p:nvPr/>
        </p:nvSpPr>
        <p:spPr>
          <a:xfrm>
            <a:off x="164590" y="2953511"/>
            <a:ext cx="2103124" cy="201167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88900" dist="25400" dir="8100000">
              <a:srgbClr val="000000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51" name="Shape 32"/>
          <p:cNvSpPr/>
          <p:nvPr/>
        </p:nvSpPr>
        <p:spPr>
          <a:xfrm>
            <a:off x="164590" y="2953511"/>
            <a:ext cx="2103124" cy="329185"/>
          </a:xfrm>
          <a:prstGeom prst="rect">
            <a:avLst/>
          </a:prstGeom>
          <a:solidFill>
            <a:srgbClr val="6633BB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52" name="Text 33"/>
          <p:cNvSpPr txBox="1"/>
          <p:nvPr/>
        </p:nvSpPr>
        <p:spPr>
          <a:xfrm>
            <a:off x="164590" y="3054604"/>
            <a:ext cx="210312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T5  LLMOps / MLOps / Observability</a:t>
            </a:r>
          </a:p>
        </p:txBody>
      </p:sp>
      <p:sp>
        <p:nvSpPr>
          <p:cNvPr id="853" name="Text 34"/>
          <p:cNvSpPr txBox="1"/>
          <p:nvPr/>
        </p:nvSpPr>
        <p:spPr>
          <a:xfrm>
            <a:off x="237743" y="3397660"/>
            <a:ext cx="1956818" cy="208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LLMOpsTracker: retrieval/reasoning/validation times</a:t>
            </a:r>
          </a:p>
        </p:txBody>
      </p:sp>
      <p:sp>
        <p:nvSpPr>
          <p:cNvPr id="854" name="Text 35"/>
          <p:cNvSpPr txBox="1"/>
          <p:nvPr/>
        </p:nvSpPr>
        <p:spPr>
          <a:xfrm>
            <a:off x="237743" y="3840988"/>
            <a:ext cx="195681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AILineageTracker: full stage-by-stage trace</a:t>
            </a:r>
          </a:p>
        </p:txBody>
      </p:sp>
      <p:sp>
        <p:nvSpPr>
          <p:cNvPr id="855" name="Text 36"/>
          <p:cNvSpPr txBox="1"/>
          <p:nvPr/>
        </p:nvSpPr>
        <p:spPr>
          <a:xfrm>
            <a:off x="237743" y="4243323"/>
            <a:ext cx="195681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Audit logging: every request logged with metadata</a:t>
            </a:r>
          </a:p>
        </p:txBody>
      </p:sp>
      <p:sp>
        <p:nvSpPr>
          <p:cNvPr id="856" name="Text 37"/>
          <p:cNvSpPr txBox="1"/>
          <p:nvPr/>
        </p:nvSpPr>
        <p:spPr>
          <a:xfrm>
            <a:off x="237743" y="4645659"/>
            <a:ext cx="195681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GET /metrics + GET /summary FastAPI endpoints</a:t>
            </a:r>
          </a:p>
        </p:txBody>
      </p:sp>
      <p:sp>
        <p:nvSpPr>
          <p:cNvPr id="857" name="Shape 38"/>
          <p:cNvSpPr/>
          <p:nvPr/>
        </p:nvSpPr>
        <p:spPr>
          <a:xfrm>
            <a:off x="2404871" y="2953511"/>
            <a:ext cx="2103123" cy="201167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88900" dist="25400" dir="8100000">
              <a:srgbClr val="000000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58" name="Shape 39"/>
          <p:cNvSpPr/>
          <p:nvPr/>
        </p:nvSpPr>
        <p:spPr>
          <a:xfrm>
            <a:off x="2404871" y="2953511"/>
            <a:ext cx="2103123" cy="329185"/>
          </a:xfrm>
          <a:prstGeom prst="rect">
            <a:avLst/>
          </a:prstGeom>
          <a:solidFill>
            <a:srgbClr val="CC3333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59" name="Text 40"/>
          <p:cNvSpPr txBox="1"/>
          <p:nvPr/>
        </p:nvSpPr>
        <p:spPr>
          <a:xfrm>
            <a:off x="2404871" y="3054604"/>
            <a:ext cx="210312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T6  Security &amp; Governance</a:t>
            </a:r>
          </a:p>
        </p:txBody>
      </p:sp>
      <p:sp>
        <p:nvSpPr>
          <p:cNvPr id="860" name="Text 41"/>
          <p:cNvSpPr txBox="1"/>
          <p:nvPr/>
        </p:nvSpPr>
        <p:spPr>
          <a:xfrm>
            <a:off x="2478022" y="3438650"/>
            <a:ext cx="195681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Prompt injection guard + unsafe query filter</a:t>
            </a:r>
          </a:p>
        </p:txBody>
      </p:sp>
      <p:sp>
        <p:nvSpPr>
          <p:cNvPr id="861" name="Text 42"/>
          <p:cNvSpPr txBox="1"/>
          <p:nvPr/>
        </p:nvSpPr>
        <p:spPr>
          <a:xfrm>
            <a:off x="2478022" y="3840988"/>
            <a:ext cx="195681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RBAC: analyst/compliance_officer/admin roles</a:t>
            </a:r>
          </a:p>
        </p:txBody>
      </p:sp>
      <p:sp>
        <p:nvSpPr>
          <p:cNvPr id="862" name="Text 43"/>
          <p:cNvSpPr txBox="1"/>
          <p:nvPr/>
        </p:nvSpPr>
        <p:spPr>
          <a:xfrm>
            <a:off x="2478022" y="4243323"/>
            <a:ext cx="195681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PII masking: customer_id truncation</a:t>
            </a:r>
          </a:p>
        </p:txBody>
      </p:sp>
      <p:sp>
        <p:nvSpPr>
          <p:cNvPr id="863" name="Text 44"/>
          <p:cNvSpPr txBox="1"/>
          <p:nvPr/>
        </p:nvSpPr>
        <p:spPr>
          <a:xfrm>
            <a:off x="2478022" y="4645659"/>
            <a:ext cx="195681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Audit trail + responsible AI controls</a:t>
            </a:r>
          </a:p>
        </p:txBody>
      </p:sp>
      <p:sp>
        <p:nvSpPr>
          <p:cNvPr id="864" name="Shape 45"/>
          <p:cNvSpPr/>
          <p:nvPr/>
        </p:nvSpPr>
        <p:spPr>
          <a:xfrm>
            <a:off x="4645152" y="2962655"/>
            <a:ext cx="2103122" cy="201167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88900" dist="25400" dir="8100000">
              <a:srgbClr val="000000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65" name="Shape 46"/>
          <p:cNvSpPr/>
          <p:nvPr/>
        </p:nvSpPr>
        <p:spPr>
          <a:xfrm>
            <a:off x="4645152" y="2953511"/>
            <a:ext cx="2103122" cy="329185"/>
          </a:xfrm>
          <a:prstGeom prst="rect">
            <a:avLst/>
          </a:prstGeom>
          <a:solidFill>
            <a:srgbClr val="885522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66" name="Text 47"/>
          <p:cNvSpPr txBox="1"/>
          <p:nvPr/>
        </p:nvSpPr>
        <p:spPr>
          <a:xfrm>
            <a:off x="4423974" y="3040468"/>
            <a:ext cx="21031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T7  Reporting &amp; Insights</a:t>
            </a:r>
          </a:p>
        </p:txBody>
      </p:sp>
      <p:sp>
        <p:nvSpPr>
          <p:cNvPr id="867" name="Text 48"/>
          <p:cNvSpPr txBox="1"/>
          <p:nvPr/>
        </p:nvSpPr>
        <p:spPr>
          <a:xfrm>
            <a:off x="4718303" y="3438650"/>
            <a:ext cx="195681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GET /dashboard → dashboard.html FileResponse</a:t>
            </a:r>
          </a:p>
        </p:txBody>
      </p:sp>
      <p:sp>
        <p:nvSpPr>
          <p:cNvPr id="868" name="Text 49"/>
          <p:cNvSpPr txBox="1"/>
          <p:nvPr/>
        </p:nvSpPr>
        <p:spPr>
          <a:xfrm>
            <a:off x="4718303" y="3832350"/>
            <a:ext cx="195681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GET /summary: usage, risk, latency aggregate stats</a:t>
            </a:r>
          </a:p>
        </p:txBody>
      </p:sp>
      <p:sp>
        <p:nvSpPr>
          <p:cNvPr id="869" name="Text 50"/>
          <p:cNvSpPr txBox="1"/>
          <p:nvPr/>
        </p:nvSpPr>
        <p:spPr>
          <a:xfrm>
            <a:off x="4718303" y="4230535"/>
            <a:ext cx="195681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Power BI equivalent: risk trends, flag rates</a:t>
            </a:r>
          </a:p>
        </p:txBody>
      </p:sp>
      <p:sp>
        <p:nvSpPr>
          <p:cNvPr id="870" name="Text 51"/>
          <p:cNvSpPr txBox="1"/>
          <p:nvPr/>
        </p:nvSpPr>
        <p:spPr>
          <a:xfrm>
            <a:off x="4718303" y="4627371"/>
            <a:ext cx="195681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Pipeline health SLA adherence dashboard</a:t>
            </a:r>
          </a:p>
        </p:txBody>
      </p:sp>
      <p:sp>
        <p:nvSpPr>
          <p:cNvPr id="871" name="Text 52"/>
          <p:cNvSpPr txBox="1"/>
          <p:nvPr/>
        </p:nvSpPr>
        <p:spPr>
          <a:xfrm>
            <a:off x="0" y="4999988"/>
            <a:ext cx="91440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8899BB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CONFIDENTIAL  |  NTT DATA  |  GenAI AML Risk Workshop 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Shape 0"/>
          <p:cNvSpPr/>
          <p:nvPr/>
        </p:nvSpPr>
        <p:spPr>
          <a:xfrm>
            <a:off x="0" y="-1"/>
            <a:ext cx="9144000" cy="658370"/>
          </a:xfrm>
          <a:prstGeom prst="rect">
            <a:avLst/>
          </a:prstGeom>
          <a:solidFill>
            <a:srgbClr val="0A1628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74" name="Text 1"/>
          <p:cNvSpPr txBox="1"/>
          <p:nvPr/>
        </p:nvSpPr>
        <p:spPr>
          <a:xfrm>
            <a:off x="274319" y="204813"/>
            <a:ext cx="6217923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Production Readiness Roadmap</a:t>
            </a:r>
          </a:p>
        </p:txBody>
      </p:sp>
      <p:sp>
        <p:nvSpPr>
          <p:cNvPr id="875" name="Text 2"/>
          <p:cNvSpPr txBox="1"/>
          <p:nvPr/>
        </p:nvSpPr>
        <p:spPr>
          <a:xfrm>
            <a:off x="6492240" y="178098"/>
            <a:ext cx="2514602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F5A623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Phase 2 Enhancements — Architecture Decisions &amp; Enterprise Upgrade Path</a:t>
            </a:r>
          </a:p>
        </p:txBody>
      </p:sp>
      <p:sp>
        <p:nvSpPr>
          <p:cNvPr id="876" name="Shape 3"/>
          <p:cNvSpPr/>
          <p:nvPr/>
        </p:nvSpPr>
        <p:spPr>
          <a:xfrm>
            <a:off x="164590" y="804672"/>
            <a:ext cx="2103124" cy="201167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88900" dist="25400" dir="8100000">
              <a:srgbClr val="000000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77" name="Shape 4"/>
          <p:cNvSpPr/>
          <p:nvPr/>
        </p:nvSpPr>
        <p:spPr>
          <a:xfrm>
            <a:off x="164590" y="804672"/>
            <a:ext cx="2103124" cy="329186"/>
          </a:xfrm>
          <a:prstGeom prst="rect">
            <a:avLst/>
          </a:prstGeom>
          <a:solidFill>
            <a:srgbClr val="0066C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78" name="Text 5"/>
          <p:cNvSpPr txBox="1"/>
          <p:nvPr/>
        </p:nvSpPr>
        <p:spPr>
          <a:xfrm>
            <a:off x="164590" y="905763"/>
            <a:ext cx="210312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T2  RAG Pipeline — Phase 2 Enhancements</a:t>
            </a:r>
          </a:p>
        </p:txBody>
      </p:sp>
      <p:sp>
        <p:nvSpPr>
          <p:cNvPr id="879" name="Text 6"/>
          <p:cNvSpPr txBox="1"/>
          <p:nvPr/>
        </p:nvSpPr>
        <p:spPr>
          <a:xfrm>
            <a:off x="237743" y="1243626"/>
            <a:ext cx="1956818" cy="2193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▸ Decision: 4 hardcoded sentences chosen for speed; real corpus needs chunking</a:t>
            </a:r>
          </a:p>
        </p:txBody>
      </p:sp>
      <p:sp>
        <p:nvSpPr>
          <p:cNvPr id="880" name="Text 7"/>
          <p:cNvSpPr txBox="1"/>
          <p:nvPr/>
        </p:nvSpPr>
        <p:spPr>
          <a:xfrm>
            <a:off x="237743" y="1645961"/>
            <a:ext cx="1956818" cy="2193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▸ Phase 2: 200-300 word chunking + metadata tagging on AML policy PDFs</a:t>
            </a:r>
          </a:p>
        </p:txBody>
      </p:sp>
      <p:sp>
        <p:nvSpPr>
          <p:cNvPr id="881" name="Text 8"/>
          <p:cNvSpPr txBox="1"/>
          <p:nvPr/>
        </p:nvSpPr>
        <p:spPr>
          <a:xfrm>
            <a:off x="237743" y="2048297"/>
            <a:ext cx="1956818" cy="2193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▸ Phase 2: Cross-encoder re-ranking for top-k precision improvement</a:t>
            </a:r>
          </a:p>
        </p:txBody>
      </p:sp>
      <p:sp>
        <p:nvSpPr>
          <p:cNvPr id="882" name="Text 9"/>
          <p:cNvSpPr txBox="1"/>
          <p:nvPr/>
        </p:nvSpPr>
        <p:spPr>
          <a:xfrm>
            <a:off x="237743" y="2450633"/>
            <a:ext cx="1956818" cy="2193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▸ Phase 2: Databricks Vector Search replaces in-memory FAISS for persistence</a:t>
            </a:r>
          </a:p>
        </p:txBody>
      </p:sp>
      <p:sp>
        <p:nvSpPr>
          <p:cNvPr id="883" name="Shape 10"/>
          <p:cNvSpPr/>
          <p:nvPr/>
        </p:nvSpPr>
        <p:spPr>
          <a:xfrm>
            <a:off x="2404871" y="804672"/>
            <a:ext cx="2103123" cy="201167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88900" dist="25400" dir="8100000">
              <a:srgbClr val="000000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84" name="Shape 11"/>
          <p:cNvSpPr/>
          <p:nvPr/>
        </p:nvSpPr>
        <p:spPr>
          <a:xfrm>
            <a:off x="2404871" y="804672"/>
            <a:ext cx="2103123" cy="329186"/>
          </a:xfrm>
          <a:prstGeom prst="rect">
            <a:avLst/>
          </a:prstGeom>
          <a:solidFill>
            <a:srgbClr val="0099A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85" name="Text 12"/>
          <p:cNvSpPr txBox="1"/>
          <p:nvPr/>
        </p:nvSpPr>
        <p:spPr>
          <a:xfrm>
            <a:off x="2404871" y="905763"/>
            <a:ext cx="210312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T5  LLMOps — Phase 2 Enhancements</a:t>
            </a:r>
          </a:p>
        </p:txBody>
      </p:sp>
      <p:sp>
        <p:nvSpPr>
          <p:cNvPr id="886" name="Text 13"/>
          <p:cNvSpPr txBox="1"/>
          <p:nvPr/>
        </p:nvSpPr>
        <p:spPr>
          <a:xfrm>
            <a:off x="2478022" y="1243626"/>
            <a:ext cx="1956818" cy="2193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▸ Decision: logging.info() chosen for simplicity in prototype phase</a:t>
            </a:r>
          </a:p>
        </p:txBody>
      </p:sp>
      <p:sp>
        <p:nvSpPr>
          <p:cNvPr id="887" name="Text 14"/>
          <p:cNvSpPr txBox="1"/>
          <p:nvPr/>
        </p:nvSpPr>
        <p:spPr>
          <a:xfrm>
            <a:off x="2478022" y="1645961"/>
            <a:ext cx="1956818" cy="2193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▸ Phase 2: MLflow Model Registry for prompt versioning + experiment tracking</a:t>
            </a:r>
          </a:p>
        </p:txBody>
      </p:sp>
      <p:sp>
        <p:nvSpPr>
          <p:cNvPr id="888" name="Text 15"/>
          <p:cNvSpPr txBox="1"/>
          <p:nvPr/>
        </p:nvSpPr>
        <p:spPr>
          <a:xfrm>
            <a:off x="2478022" y="2048297"/>
            <a:ext cx="1956818" cy="2193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▸ Phase 2: Prometheus + Grafana for latency trend monitoring and SLA alerts</a:t>
            </a:r>
          </a:p>
        </p:txBody>
      </p:sp>
      <p:sp>
        <p:nvSpPr>
          <p:cNvPr id="889" name="Text 16"/>
          <p:cNvSpPr txBox="1"/>
          <p:nvPr/>
        </p:nvSpPr>
        <p:spPr>
          <a:xfrm>
            <a:off x="2478022" y="2450633"/>
            <a:ext cx="1956818" cy="2193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▸ Phase 2: GitHub Actions CI/CD pipeline with automated test gates</a:t>
            </a:r>
          </a:p>
        </p:txBody>
      </p:sp>
      <p:sp>
        <p:nvSpPr>
          <p:cNvPr id="890" name="Shape 17"/>
          <p:cNvSpPr/>
          <p:nvPr/>
        </p:nvSpPr>
        <p:spPr>
          <a:xfrm>
            <a:off x="4645152" y="804672"/>
            <a:ext cx="2103122" cy="201167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88900" dist="25400" dir="8100000">
              <a:srgbClr val="000000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91" name="Shape 18"/>
          <p:cNvSpPr/>
          <p:nvPr/>
        </p:nvSpPr>
        <p:spPr>
          <a:xfrm>
            <a:off x="4645152" y="804672"/>
            <a:ext cx="2103122" cy="329186"/>
          </a:xfrm>
          <a:prstGeom prst="rect">
            <a:avLst/>
          </a:prstGeom>
          <a:solidFill>
            <a:srgbClr val="116644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92" name="Text 19"/>
          <p:cNvSpPr txBox="1"/>
          <p:nvPr/>
        </p:nvSpPr>
        <p:spPr>
          <a:xfrm>
            <a:off x="4645152" y="853475"/>
            <a:ext cx="2103122" cy="231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T7  Reporting &amp; Dashboard — Phase 2 Enhancements</a:t>
            </a:r>
          </a:p>
        </p:txBody>
      </p:sp>
      <p:sp>
        <p:nvSpPr>
          <p:cNvPr id="893" name="Text 20"/>
          <p:cNvSpPr txBox="1"/>
          <p:nvPr/>
        </p:nvSpPr>
        <p:spPr>
          <a:xfrm>
            <a:off x="4718303" y="1243626"/>
            <a:ext cx="1956818" cy="2193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▸ Decision: Static dashboard.html chosen for rapid demo delivery</a:t>
            </a:r>
          </a:p>
        </p:txBody>
      </p:sp>
      <p:sp>
        <p:nvSpPr>
          <p:cNvPr id="894" name="Text 21"/>
          <p:cNvSpPr txBox="1"/>
          <p:nvPr/>
        </p:nvSpPr>
        <p:spPr>
          <a:xfrm>
            <a:off x="4718303" y="1645961"/>
            <a:ext cx="1956818" cy="2193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▸ Phase 2: Power BI Premium with live DirectQuery on Delta Gold tables</a:t>
            </a:r>
          </a:p>
        </p:txBody>
      </p:sp>
      <p:sp>
        <p:nvSpPr>
          <p:cNvPr id="895" name="Text 22"/>
          <p:cNvSpPr txBox="1"/>
          <p:nvPr/>
        </p:nvSpPr>
        <p:spPr>
          <a:xfrm>
            <a:off x="4718303" y="2048297"/>
            <a:ext cx="1956818" cy="2193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▸ Phase 2: Latency trend charts, SLA adherence, flag rate over time</a:t>
            </a:r>
          </a:p>
        </p:txBody>
      </p:sp>
      <p:sp>
        <p:nvSpPr>
          <p:cNvPr id="896" name="Text 23"/>
          <p:cNvSpPr txBox="1"/>
          <p:nvPr/>
        </p:nvSpPr>
        <p:spPr>
          <a:xfrm>
            <a:off x="4718303" y="2450633"/>
            <a:ext cx="1956818" cy="2193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▸ Phase 2: Grafana + OpenTelemetry for pipeline health and AI ops monitoring</a:t>
            </a:r>
          </a:p>
        </p:txBody>
      </p:sp>
      <p:sp>
        <p:nvSpPr>
          <p:cNvPr id="897" name="Shape 24"/>
          <p:cNvSpPr/>
          <p:nvPr/>
        </p:nvSpPr>
        <p:spPr>
          <a:xfrm>
            <a:off x="6885430" y="804672"/>
            <a:ext cx="2103122" cy="201167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88900" dist="25400" dir="8100000">
              <a:srgbClr val="000000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98" name="Shape 25"/>
          <p:cNvSpPr/>
          <p:nvPr/>
        </p:nvSpPr>
        <p:spPr>
          <a:xfrm>
            <a:off x="6885430" y="804672"/>
            <a:ext cx="2103122" cy="329186"/>
          </a:xfrm>
          <a:prstGeom prst="rect">
            <a:avLst/>
          </a:prstGeom>
          <a:solidFill>
            <a:srgbClr val="E078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99" name="Text 26"/>
          <p:cNvSpPr txBox="1"/>
          <p:nvPr/>
        </p:nvSpPr>
        <p:spPr>
          <a:xfrm>
            <a:off x="6885430" y="853475"/>
            <a:ext cx="2103122" cy="231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Architecture Decisions — Why We Built It This Way</a:t>
            </a:r>
          </a:p>
        </p:txBody>
      </p:sp>
      <p:sp>
        <p:nvSpPr>
          <p:cNvPr id="900" name="Text 27"/>
          <p:cNvSpPr txBox="1"/>
          <p:nvPr/>
        </p:nvSpPr>
        <p:spPr>
          <a:xfrm>
            <a:off x="6958583" y="1243626"/>
            <a:ext cx="1956818" cy="2193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▸ FAISS over Databricks Vector Search: zero infra setup, instant local demo</a:t>
            </a:r>
          </a:p>
        </p:txBody>
      </p:sp>
      <p:sp>
        <p:nvSpPr>
          <p:cNvPr id="901" name="Text 28"/>
          <p:cNvSpPr txBox="1"/>
          <p:nvPr/>
        </p:nvSpPr>
        <p:spPr>
          <a:xfrm>
            <a:off x="6958583" y="1645961"/>
            <a:ext cx="1956818" cy="2193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▸ Custom MCP over LangGraph: illustrates agent patterns without framework lock-in</a:t>
            </a:r>
          </a:p>
        </p:txBody>
      </p:sp>
      <p:sp>
        <p:nvSpPr>
          <p:cNvPr id="902" name="Text 29"/>
          <p:cNvSpPr txBox="1"/>
          <p:nvPr/>
        </p:nvSpPr>
        <p:spPr>
          <a:xfrm>
            <a:off x="6958583" y="2048297"/>
            <a:ext cx="1956818" cy="2193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▸ Rule-based Reasoner: transparent, auditable logic — no LLM hallucination risk</a:t>
            </a:r>
          </a:p>
        </p:txBody>
      </p:sp>
      <p:sp>
        <p:nvSpPr>
          <p:cNvPr id="903" name="Text 30"/>
          <p:cNvSpPr txBox="1"/>
          <p:nvPr/>
        </p:nvSpPr>
        <p:spPr>
          <a:xfrm>
            <a:off x="6958583" y="2450633"/>
            <a:ext cx="1956818" cy="2193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▸ Static JSON API: decouples pipeline from serving; easy to swap for live DB</a:t>
            </a:r>
          </a:p>
        </p:txBody>
      </p:sp>
      <p:sp>
        <p:nvSpPr>
          <p:cNvPr id="904" name="Shape 31"/>
          <p:cNvSpPr/>
          <p:nvPr/>
        </p:nvSpPr>
        <p:spPr>
          <a:xfrm>
            <a:off x="164590" y="2953511"/>
            <a:ext cx="2103124" cy="201167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88900" dist="25400" dir="8100000">
              <a:srgbClr val="000000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05" name="Shape 32"/>
          <p:cNvSpPr/>
          <p:nvPr/>
        </p:nvSpPr>
        <p:spPr>
          <a:xfrm>
            <a:off x="164590" y="2953511"/>
            <a:ext cx="2103124" cy="329185"/>
          </a:xfrm>
          <a:prstGeom prst="rect">
            <a:avLst/>
          </a:prstGeom>
          <a:solidFill>
            <a:srgbClr val="6633BB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06" name="Text 33"/>
          <p:cNvSpPr txBox="1"/>
          <p:nvPr/>
        </p:nvSpPr>
        <p:spPr>
          <a:xfrm>
            <a:off x="164590" y="3054604"/>
            <a:ext cx="210312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Known Trade-offs &amp; Constraints</a:t>
            </a:r>
          </a:p>
        </p:txBody>
      </p:sp>
      <p:sp>
        <p:nvSpPr>
          <p:cNvPr id="907" name="Text 34"/>
          <p:cNvSpPr txBox="1"/>
          <p:nvPr/>
        </p:nvSpPr>
        <p:spPr>
          <a:xfrm>
            <a:off x="237743" y="3392464"/>
            <a:ext cx="1956818" cy="2193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▸ Simulated data — production needs real core banking feed integration</a:t>
            </a:r>
          </a:p>
        </p:txBody>
      </p:sp>
      <p:sp>
        <p:nvSpPr>
          <p:cNvPr id="908" name="Text 35"/>
          <p:cNvSpPr txBox="1"/>
          <p:nvPr/>
        </p:nvSpPr>
        <p:spPr>
          <a:xfrm>
            <a:off x="237743" y="3794802"/>
            <a:ext cx="1956818" cy="2193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▸ FAISS index lost on restart — not suitable for 24/7 production workload</a:t>
            </a:r>
          </a:p>
        </p:txBody>
      </p:sp>
      <p:sp>
        <p:nvSpPr>
          <p:cNvPr id="909" name="Text 36"/>
          <p:cNvSpPr txBox="1"/>
          <p:nvPr/>
        </p:nvSpPr>
        <p:spPr>
          <a:xfrm>
            <a:off x="237743" y="4197137"/>
            <a:ext cx="1956818" cy="2193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▸ No real LLM call in Reasoner — GPT-4o/DBRX needed for complex SAR narratives</a:t>
            </a:r>
          </a:p>
        </p:txBody>
      </p:sp>
      <p:sp>
        <p:nvSpPr>
          <p:cNvPr id="910" name="Text 37"/>
          <p:cNvSpPr txBox="1"/>
          <p:nvPr/>
        </p:nvSpPr>
        <p:spPr>
          <a:xfrm>
            <a:off x="237743" y="4599473"/>
            <a:ext cx="1956818" cy="2193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▸ No Delta Lake persistence — Gold layer lost on Spark session end</a:t>
            </a:r>
          </a:p>
        </p:txBody>
      </p:sp>
      <p:sp>
        <p:nvSpPr>
          <p:cNvPr id="911" name="Shape 38"/>
          <p:cNvSpPr/>
          <p:nvPr/>
        </p:nvSpPr>
        <p:spPr>
          <a:xfrm>
            <a:off x="2404871" y="2953511"/>
            <a:ext cx="2103123" cy="201167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88900" dist="25400" dir="8100000">
              <a:srgbClr val="000000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12" name="Shape 39"/>
          <p:cNvSpPr/>
          <p:nvPr/>
        </p:nvSpPr>
        <p:spPr>
          <a:xfrm>
            <a:off x="2404871" y="2953511"/>
            <a:ext cx="2103123" cy="329185"/>
          </a:xfrm>
          <a:prstGeom prst="rect">
            <a:avLst/>
          </a:prstGeom>
          <a:solidFill>
            <a:srgbClr val="CC3333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13" name="Text 40"/>
          <p:cNvSpPr txBox="1"/>
          <p:nvPr/>
        </p:nvSpPr>
        <p:spPr>
          <a:xfrm>
            <a:off x="2404871" y="3054604"/>
            <a:ext cx="210312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Deployment Approach — Local to Production</a:t>
            </a:r>
          </a:p>
        </p:txBody>
      </p:sp>
      <p:sp>
        <p:nvSpPr>
          <p:cNvPr id="914" name="Text 41"/>
          <p:cNvSpPr txBox="1"/>
          <p:nvPr/>
        </p:nvSpPr>
        <p:spPr>
          <a:xfrm>
            <a:off x="2478022" y="3392465"/>
            <a:ext cx="1956818" cy="2193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▸ Local: uvicorn main:app on localhost:8000 — zero infra, instant start</a:t>
            </a:r>
          </a:p>
        </p:txBody>
      </p:sp>
      <p:sp>
        <p:nvSpPr>
          <p:cNvPr id="915" name="Text 42"/>
          <p:cNvSpPr txBox="1"/>
          <p:nvPr/>
        </p:nvSpPr>
        <p:spPr>
          <a:xfrm>
            <a:off x="2478022" y="3794802"/>
            <a:ext cx="1956818" cy="2193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▸ Phase 2: Docker container → Azure Container Apps with autoscaling</a:t>
            </a:r>
          </a:p>
        </p:txBody>
      </p:sp>
      <p:sp>
        <p:nvSpPr>
          <p:cNvPr id="916" name="Text 43"/>
          <p:cNvSpPr txBox="1"/>
          <p:nvPr/>
        </p:nvSpPr>
        <p:spPr>
          <a:xfrm>
            <a:off x="2478022" y="4197137"/>
            <a:ext cx="1956818" cy="2193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▸ Phase 2: Azure API Management for auth, rate limiting, and versioning</a:t>
            </a:r>
          </a:p>
        </p:txBody>
      </p:sp>
      <p:sp>
        <p:nvSpPr>
          <p:cNvPr id="917" name="Text 44"/>
          <p:cNvSpPr txBox="1"/>
          <p:nvPr/>
        </p:nvSpPr>
        <p:spPr>
          <a:xfrm>
            <a:off x="2478022" y="4599473"/>
            <a:ext cx="1956818" cy="2193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▸ Phase 2: Databricks Asset Bundles + GitHub Actions for blue-green deploys</a:t>
            </a:r>
          </a:p>
        </p:txBody>
      </p:sp>
      <p:sp>
        <p:nvSpPr>
          <p:cNvPr id="918" name="Shape 45"/>
          <p:cNvSpPr/>
          <p:nvPr/>
        </p:nvSpPr>
        <p:spPr>
          <a:xfrm>
            <a:off x="4645152" y="2962655"/>
            <a:ext cx="2103122" cy="201167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88900" dist="25400" dir="8100000">
              <a:srgbClr val="000000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19" name="Shape 46"/>
          <p:cNvSpPr/>
          <p:nvPr/>
        </p:nvSpPr>
        <p:spPr>
          <a:xfrm>
            <a:off x="4645152" y="2953511"/>
            <a:ext cx="2103122" cy="329185"/>
          </a:xfrm>
          <a:prstGeom prst="rect">
            <a:avLst/>
          </a:prstGeom>
          <a:solidFill>
            <a:srgbClr val="885522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20" name="Text 47"/>
          <p:cNvSpPr txBox="1"/>
          <p:nvPr/>
        </p:nvSpPr>
        <p:spPr>
          <a:xfrm>
            <a:off x="4645152" y="3031236"/>
            <a:ext cx="21031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Next Steps — Enterprise Readiness Checklist</a:t>
            </a:r>
          </a:p>
        </p:txBody>
      </p:sp>
      <p:sp>
        <p:nvSpPr>
          <p:cNvPr id="921" name="Text 48"/>
          <p:cNvSpPr txBox="1"/>
          <p:nvPr/>
        </p:nvSpPr>
        <p:spPr>
          <a:xfrm>
            <a:off x="4718303" y="3392465"/>
            <a:ext cx="1956818" cy="2193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▸ Integrate real AML policy PDF corpus with chunking pipeline</a:t>
            </a:r>
          </a:p>
        </p:txBody>
      </p:sp>
      <p:sp>
        <p:nvSpPr>
          <p:cNvPr id="922" name="Text 49"/>
          <p:cNvSpPr txBox="1"/>
          <p:nvPr/>
        </p:nvSpPr>
        <p:spPr>
          <a:xfrm>
            <a:off x="4718303" y="3786165"/>
            <a:ext cx="1956818" cy="2193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▸ Replace rule-based Reasoner with GPT-4o grounded generation</a:t>
            </a:r>
          </a:p>
        </p:txBody>
      </p:sp>
      <p:sp>
        <p:nvSpPr>
          <p:cNvPr id="923" name="Text 50"/>
          <p:cNvSpPr txBox="1"/>
          <p:nvPr/>
        </p:nvSpPr>
        <p:spPr>
          <a:xfrm>
            <a:off x="4718303" y="4184349"/>
            <a:ext cx="1956818" cy="2193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▸ Add MLflow + CI/CD pipeline for full LLMOps maturity</a:t>
            </a:r>
          </a:p>
        </p:txBody>
      </p:sp>
      <p:sp>
        <p:nvSpPr>
          <p:cNvPr id="924" name="Text 51"/>
          <p:cNvSpPr txBox="1"/>
          <p:nvPr/>
        </p:nvSpPr>
        <p:spPr>
          <a:xfrm>
            <a:off x="4718303" y="4581185"/>
            <a:ext cx="1956818" cy="2193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▸ Migrate to Databricks Vector Search + Delta Lake for production persistence</a:t>
            </a:r>
          </a:p>
        </p:txBody>
      </p:sp>
      <p:sp>
        <p:nvSpPr>
          <p:cNvPr id="925" name="Text 52"/>
          <p:cNvSpPr txBox="1"/>
          <p:nvPr/>
        </p:nvSpPr>
        <p:spPr>
          <a:xfrm>
            <a:off x="0" y="4999988"/>
            <a:ext cx="91440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8899BB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CONFIDENTIAL  |  NTT DATA  |  GenAI AML Risk Workshop 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Shape 0"/>
          <p:cNvSpPr/>
          <p:nvPr/>
        </p:nvSpPr>
        <p:spPr>
          <a:xfrm>
            <a:off x="0" y="-1"/>
            <a:ext cx="9144000" cy="658370"/>
          </a:xfrm>
          <a:prstGeom prst="rect">
            <a:avLst/>
          </a:prstGeom>
          <a:solidFill>
            <a:srgbClr val="0A1628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28" name="Text 1"/>
          <p:cNvSpPr txBox="1"/>
          <p:nvPr/>
        </p:nvSpPr>
        <p:spPr>
          <a:xfrm>
            <a:off x="274319" y="204813"/>
            <a:ext cx="6217923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Root Cause Analysis (RCA)</a:t>
            </a:r>
          </a:p>
        </p:txBody>
      </p:sp>
      <p:sp>
        <p:nvSpPr>
          <p:cNvPr id="929" name="Text 2"/>
          <p:cNvSpPr txBox="1"/>
          <p:nvPr/>
        </p:nvSpPr>
        <p:spPr>
          <a:xfrm>
            <a:off x="6492240" y="260647"/>
            <a:ext cx="251460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F5A623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Troubleshooting &amp; Diagnostic Framework</a:t>
            </a:r>
          </a:p>
        </p:txBody>
      </p:sp>
      <p:sp>
        <p:nvSpPr>
          <p:cNvPr id="930" name="Shape 3"/>
          <p:cNvSpPr/>
          <p:nvPr/>
        </p:nvSpPr>
        <p:spPr>
          <a:xfrm>
            <a:off x="228600" y="777240"/>
            <a:ext cx="8686800" cy="274322"/>
          </a:xfrm>
          <a:prstGeom prst="rect">
            <a:avLst/>
          </a:prstGeom>
          <a:solidFill>
            <a:srgbClr val="334466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31" name="Text 4"/>
          <p:cNvSpPr txBox="1"/>
          <p:nvPr/>
        </p:nvSpPr>
        <p:spPr>
          <a:xfrm>
            <a:off x="228600" y="850899"/>
            <a:ext cx="86868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RCA Discipline: Identify Symptom → Isolate Layer → Find Root Cause → Fix → Verify → Document</a:t>
            </a:r>
          </a:p>
        </p:txBody>
      </p:sp>
      <p:sp>
        <p:nvSpPr>
          <p:cNvPr id="932" name="Shape 5"/>
          <p:cNvSpPr/>
          <p:nvPr/>
        </p:nvSpPr>
        <p:spPr>
          <a:xfrm>
            <a:off x="182880" y="1124711"/>
            <a:ext cx="2834640" cy="171907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88900" dist="25400" dir="8100000">
              <a:srgbClr val="000000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33" name="Shape 6"/>
          <p:cNvSpPr/>
          <p:nvPr/>
        </p:nvSpPr>
        <p:spPr>
          <a:xfrm>
            <a:off x="182878" y="1124711"/>
            <a:ext cx="566931" cy="1719073"/>
          </a:xfrm>
          <a:prstGeom prst="rect">
            <a:avLst/>
          </a:prstGeom>
          <a:solidFill>
            <a:srgbClr val="CC3333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34" name="Text 7"/>
          <p:cNvSpPr txBox="1"/>
          <p:nvPr/>
        </p:nvSpPr>
        <p:spPr>
          <a:xfrm>
            <a:off x="182878" y="1335532"/>
            <a:ext cx="56693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RCA-01</a:t>
            </a:r>
          </a:p>
        </p:txBody>
      </p:sp>
      <p:sp>
        <p:nvSpPr>
          <p:cNvPr id="935" name="Text 8"/>
          <p:cNvSpPr txBox="1"/>
          <p:nvPr/>
        </p:nvSpPr>
        <p:spPr>
          <a:xfrm>
            <a:off x="822960" y="1253236"/>
            <a:ext cx="212140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0A162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Wrong Risk Score</a:t>
            </a:r>
          </a:p>
        </p:txBody>
      </p:sp>
      <p:sp>
        <p:nvSpPr>
          <p:cNvPr id="936" name="Text 9"/>
          <p:cNvSpPr txBox="1"/>
          <p:nvPr/>
        </p:nvSpPr>
        <p:spPr>
          <a:xfrm>
            <a:off x="822960" y="1609850"/>
            <a:ext cx="212140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Symptom: TXN003 scored LOW instead of HIGH for Nigeria</a:t>
            </a:r>
          </a:p>
        </p:txBody>
      </p:sp>
      <p:sp>
        <p:nvSpPr>
          <p:cNvPr id="937" name="Text 10"/>
          <p:cNvSpPr txBox="1"/>
          <p:nvPr/>
        </p:nvSpPr>
        <p:spPr>
          <a:xfrm>
            <a:off x="822960" y="2030475"/>
            <a:ext cx="212140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CC3333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Cause: HIGH_RISK_COUNTRIES list missing 'Nigeria'</a:t>
            </a:r>
          </a:p>
        </p:txBody>
      </p:sp>
      <p:sp>
        <p:nvSpPr>
          <p:cNvPr id="938" name="Text 11"/>
          <p:cNvSpPr txBox="1"/>
          <p:nvPr/>
        </p:nvSpPr>
        <p:spPr>
          <a:xfrm>
            <a:off x="822960" y="2478532"/>
            <a:ext cx="212140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00AA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Fix: Add Nigeria to country list; rerun Gold layer</a:t>
            </a:r>
          </a:p>
        </p:txBody>
      </p:sp>
      <p:sp>
        <p:nvSpPr>
          <p:cNvPr id="939" name="Shape 12"/>
          <p:cNvSpPr/>
          <p:nvPr/>
        </p:nvSpPr>
        <p:spPr>
          <a:xfrm>
            <a:off x="3172966" y="1124711"/>
            <a:ext cx="2834643" cy="171907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88900" dist="25400" dir="8100000">
              <a:srgbClr val="000000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40" name="Shape 13"/>
          <p:cNvSpPr/>
          <p:nvPr/>
        </p:nvSpPr>
        <p:spPr>
          <a:xfrm>
            <a:off x="3172966" y="1124711"/>
            <a:ext cx="566930" cy="1719073"/>
          </a:xfrm>
          <a:prstGeom prst="rect">
            <a:avLst/>
          </a:prstGeom>
          <a:solidFill>
            <a:srgbClr val="E078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41" name="Text 14"/>
          <p:cNvSpPr txBox="1"/>
          <p:nvPr/>
        </p:nvSpPr>
        <p:spPr>
          <a:xfrm>
            <a:off x="3172966" y="1335532"/>
            <a:ext cx="56693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RCA-02</a:t>
            </a:r>
          </a:p>
        </p:txBody>
      </p:sp>
      <p:sp>
        <p:nvSpPr>
          <p:cNvPr id="942" name="Text 15"/>
          <p:cNvSpPr txBox="1"/>
          <p:nvPr/>
        </p:nvSpPr>
        <p:spPr>
          <a:xfrm>
            <a:off x="3813047" y="1253236"/>
            <a:ext cx="212141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0A162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SAR Flag Mismatch</a:t>
            </a:r>
          </a:p>
        </p:txBody>
      </p:sp>
      <p:sp>
        <p:nvSpPr>
          <p:cNvPr id="943" name="Text 16"/>
          <p:cNvSpPr txBox="1"/>
          <p:nvPr/>
        </p:nvSpPr>
        <p:spPr>
          <a:xfrm>
            <a:off x="3813047" y="1609850"/>
            <a:ext cx="212141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Symptom: Reasoner SAR=True, Validator SAR=False</a:t>
            </a:r>
          </a:p>
        </p:txBody>
      </p:sp>
      <p:sp>
        <p:nvSpPr>
          <p:cNvPr id="944" name="Text 17"/>
          <p:cNvSpPr txBox="1"/>
          <p:nvPr/>
        </p:nvSpPr>
        <p:spPr>
          <a:xfrm>
            <a:off x="3813047" y="1989485"/>
            <a:ext cx="2121410" cy="208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CC3333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Cause: Reasoner used cached prompt v1.0 (threshold=40) vs Validator threshold=60</a:t>
            </a:r>
          </a:p>
        </p:txBody>
      </p:sp>
      <p:sp>
        <p:nvSpPr>
          <p:cNvPr id="945" name="Text 18"/>
          <p:cNvSpPr txBox="1"/>
          <p:nvPr/>
        </p:nvSpPr>
        <p:spPr>
          <a:xfrm>
            <a:off x="3813047" y="2478532"/>
            <a:ext cx="212141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00AA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Fix: Pin prompt version in MLflow; single threshold config</a:t>
            </a:r>
          </a:p>
        </p:txBody>
      </p:sp>
      <p:sp>
        <p:nvSpPr>
          <p:cNvPr id="946" name="Shape 19"/>
          <p:cNvSpPr/>
          <p:nvPr/>
        </p:nvSpPr>
        <p:spPr>
          <a:xfrm>
            <a:off x="6163054" y="1124711"/>
            <a:ext cx="2834642" cy="171907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88900" dist="25400" dir="8100000">
              <a:srgbClr val="000000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47" name="Shape 20"/>
          <p:cNvSpPr/>
          <p:nvPr/>
        </p:nvSpPr>
        <p:spPr>
          <a:xfrm>
            <a:off x="6163054" y="1124711"/>
            <a:ext cx="566930" cy="1719073"/>
          </a:xfrm>
          <a:prstGeom prst="rect">
            <a:avLst/>
          </a:prstGeom>
          <a:solidFill>
            <a:srgbClr val="0099A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48" name="Text 21"/>
          <p:cNvSpPr txBox="1"/>
          <p:nvPr/>
        </p:nvSpPr>
        <p:spPr>
          <a:xfrm>
            <a:off x="6163054" y="1335532"/>
            <a:ext cx="56693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RCA-03</a:t>
            </a:r>
          </a:p>
        </p:txBody>
      </p:sp>
      <p:sp>
        <p:nvSpPr>
          <p:cNvPr id="949" name="Text 22"/>
          <p:cNvSpPr txBox="1"/>
          <p:nvPr/>
        </p:nvSpPr>
        <p:spPr>
          <a:xfrm>
            <a:off x="6803135" y="1253236"/>
            <a:ext cx="212141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0A162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RAG Retrieval Miss</a:t>
            </a:r>
          </a:p>
        </p:txBody>
      </p:sp>
      <p:sp>
        <p:nvSpPr>
          <p:cNvPr id="950" name="Text 23"/>
          <p:cNvSpPr txBox="1"/>
          <p:nvPr/>
        </p:nvSpPr>
        <p:spPr>
          <a:xfrm>
            <a:off x="6803135" y="1568861"/>
            <a:ext cx="2121410" cy="208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Symptom: TXN005 retrieved BSA_SAR instead of CRYPTO_AML</a:t>
            </a:r>
          </a:p>
        </p:txBody>
      </p:sp>
      <p:sp>
        <p:nvSpPr>
          <p:cNvPr id="951" name="Text 24"/>
          <p:cNvSpPr txBox="1"/>
          <p:nvPr/>
        </p:nvSpPr>
        <p:spPr>
          <a:xfrm>
            <a:off x="6803135" y="1989485"/>
            <a:ext cx="2121410" cy="208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CC3333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Cause: FAISS L2 distance closer to SAR doc for NK crypto query</a:t>
            </a:r>
          </a:p>
        </p:txBody>
      </p:sp>
      <p:sp>
        <p:nvSpPr>
          <p:cNvPr id="952" name="Text 25"/>
          <p:cNvSpPr txBox="1"/>
          <p:nvPr/>
        </p:nvSpPr>
        <p:spPr>
          <a:xfrm>
            <a:off x="6803135" y="2437541"/>
            <a:ext cx="2121410" cy="208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00AA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Fix: Add metadata filter: merchant_category=crypto forces CRYPTO_AML</a:t>
            </a:r>
          </a:p>
        </p:txBody>
      </p:sp>
      <p:sp>
        <p:nvSpPr>
          <p:cNvPr id="953" name="Shape 26"/>
          <p:cNvSpPr/>
          <p:nvPr/>
        </p:nvSpPr>
        <p:spPr>
          <a:xfrm>
            <a:off x="182880" y="2935222"/>
            <a:ext cx="2834640" cy="171907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88900" dist="25400" dir="8100000">
              <a:srgbClr val="000000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54" name="Shape 27"/>
          <p:cNvSpPr/>
          <p:nvPr/>
        </p:nvSpPr>
        <p:spPr>
          <a:xfrm>
            <a:off x="182878" y="2935222"/>
            <a:ext cx="566931" cy="1719074"/>
          </a:xfrm>
          <a:prstGeom prst="rect">
            <a:avLst/>
          </a:prstGeom>
          <a:solidFill>
            <a:srgbClr val="6633BB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55" name="Text 28"/>
          <p:cNvSpPr txBox="1"/>
          <p:nvPr/>
        </p:nvSpPr>
        <p:spPr>
          <a:xfrm>
            <a:off x="182878" y="3146044"/>
            <a:ext cx="56693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RCA-04</a:t>
            </a:r>
          </a:p>
        </p:txBody>
      </p:sp>
      <p:sp>
        <p:nvSpPr>
          <p:cNvPr id="956" name="Text 29"/>
          <p:cNvSpPr txBox="1"/>
          <p:nvPr/>
        </p:nvSpPr>
        <p:spPr>
          <a:xfrm>
            <a:off x="822960" y="3063748"/>
            <a:ext cx="212140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0A162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PII Leaked</a:t>
            </a:r>
          </a:p>
        </p:txBody>
      </p:sp>
      <p:sp>
        <p:nvSpPr>
          <p:cNvPr id="957" name="Text 30"/>
          <p:cNvSpPr txBox="1"/>
          <p:nvPr/>
        </p:nvSpPr>
        <p:spPr>
          <a:xfrm>
            <a:off x="822960" y="3379373"/>
            <a:ext cx="2121408" cy="208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Symptom: API response contained raw NRIC in Reasoner output</a:t>
            </a:r>
          </a:p>
        </p:txBody>
      </p:sp>
      <p:sp>
        <p:nvSpPr>
          <p:cNvPr id="958" name="Text 31"/>
          <p:cNvSpPr txBox="1"/>
          <p:nvPr/>
        </p:nvSpPr>
        <p:spPr>
          <a:xfrm>
            <a:off x="822960" y="3799997"/>
            <a:ext cx="2121408" cy="208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CC3333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Cause: guardrail_output() not applied after reasoner_agent()</a:t>
            </a:r>
          </a:p>
        </p:txBody>
      </p:sp>
      <p:sp>
        <p:nvSpPr>
          <p:cNvPr id="959" name="Text 32"/>
          <p:cNvSpPr txBox="1"/>
          <p:nvPr/>
        </p:nvSpPr>
        <p:spPr>
          <a:xfrm>
            <a:off x="822960" y="4248053"/>
            <a:ext cx="2121408" cy="208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00AA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Fix: Wrap ALL agent outputs with guardrail_output(); add integration test</a:t>
            </a:r>
          </a:p>
        </p:txBody>
      </p:sp>
      <p:sp>
        <p:nvSpPr>
          <p:cNvPr id="960" name="Shape 33"/>
          <p:cNvSpPr/>
          <p:nvPr/>
        </p:nvSpPr>
        <p:spPr>
          <a:xfrm>
            <a:off x="3172966" y="2935222"/>
            <a:ext cx="2834643" cy="171907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88900" dist="25400" dir="8100000">
              <a:srgbClr val="000000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61" name="Shape 34"/>
          <p:cNvSpPr/>
          <p:nvPr/>
        </p:nvSpPr>
        <p:spPr>
          <a:xfrm>
            <a:off x="3172966" y="2935222"/>
            <a:ext cx="566930" cy="1719074"/>
          </a:xfrm>
          <a:prstGeom prst="rect">
            <a:avLst/>
          </a:prstGeom>
          <a:solidFill>
            <a:srgbClr val="0066C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62" name="Text 35"/>
          <p:cNvSpPr txBox="1"/>
          <p:nvPr/>
        </p:nvSpPr>
        <p:spPr>
          <a:xfrm>
            <a:off x="3172966" y="3146044"/>
            <a:ext cx="56693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RCA-05</a:t>
            </a:r>
          </a:p>
        </p:txBody>
      </p:sp>
      <p:sp>
        <p:nvSpPr>
          <p:cNvPr id="963" name="Text 36"/>
          <p:cNvSpPr txBox="1"/>
          <p:nvPr/>
        </p:nvSpPr>
        <p:spPr>
          <a:xfrm>
            <a:off x="3813047" y="3063748"/>
            <a:ext cx="212141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0A162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Pipeline DQ Fail</a:t>
            </a:r>
          </a:p>
        </p:txBody>
      </p:sp>
      <p:sp>
        <p:nvSpPr>
          <p:cNvPr id="964" name="Text 37"/>
          <p:cNvSpPr txBox="1"/>
          <p:nvPr/>
        </p:nvSpPr>
        <p:spPr>
          <a:xfrm>
            <a:off x="3813047" y="3420364"/>
            <a:ext cx="212141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Symptom: Silver layer had 8 records instead of 6</a:t>
            </a:r>
          </a:p>
        </p:txBody>
      </p:sp>
      <p:sp>
        <p:nvSpPr>
          <p:cNvPr id="965" name="Text 38"/>
          <p:cNvSpPr txBox="1"/>
          <p:nvPr/>
        </p:nvSpPr>
        <p:spPr>
          <a:xfrm>
            <a:off x="3813047" y="3799997"/>
            <a:ext cx="2121410" cy="208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CC3333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Cause: dropDuplicates([txn_id]) run before withColumn() changed row hash</a:t>
            </a:r>
          </a:p>
        </p:txBody>
      </p:sp>
      <p:sp>
        <p:nvSpPr>
          <p:cNvPr id="966" name="Text 39"/>
          <p:cNvSpPr txBox="1"/>
          <p:nvPr/>
        </p:nvSpPr>
        <p:spPr>
          <a:xfrm>
            <a:off x="3813047" y="4248053"/>
            <a:ext cx="2121410" cy="208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00AA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Fix: Reorder: transforms first, then deduplicate on source keys only</a:t>
            </a:r>
          </a:p>
        </p:txBody>
      </p:sp>
      <p:sp>
        <p:nvSpPr>
          <p:cNvPr id="967" name="Shape 40"/>
          <p:cNvSpPr/>
          <p:nvPr/>
        </p:nvSpPr>
        <p:spPr>
          <a:xfrm>
            <a:off x="6163054" y="2935222"/>
            <a:ext cx="2834642" cy="171907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88900" dist="25400" dir="8100000">
              <a:srgbClr val="000000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68" name="Shape 41"/>
          <p:cNvSpPr/>
          <p:nvPr/>
        </p:nvSpPr>
        <p:spPr>
          <a:xfrm>
            <a:off x="6163054" y="2935222"/>
            <a:ext cx="566930" cy="1719074"/>
          </a:xfrm>
          <a:prstGeom prst="rect">
            <a:avLst/>
          </a:prstGeom>
          <a:solidFill>
            <a:srgbClr val="CC3333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69" name="Text 42"/>
          <p:cNvSpPr txBox="1"/>
          <p:nvPr/>
        </p:nvSpPr>
        <p:spPr>
          <a:xfrm>
            <a:off x="6163054" y="3146044"/>
            <a:ext cx="56693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RCA-06</a:t>
            </a:r>
          </a:p>
        </p:txBody>
      </p:sp>
      <p:sp>
        <p:nvSpPr>
          <p:cNvPr id="970" name="Text 43"/>
          <p:cNvSpPr txBox="1"/>
          <p:nvPr/>
        </p:nvSpPr>
        <p:spPr>
          <a:xfrm>
            <a:off x="6803135" y="3063748"/>
            <a:ext cx="212141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0A162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RBAC Bypass</a:t>
            </a:r>
          </a:p>
        </p:txBody>
      </p:sp>
      <p:sp>
        <p:nvSpPr>
          <p:cNvPr id="971" name="Text 44"/>
          <p:cNvSpPr txBox="1"/>
          <p:nvPr/>
        </p:nvSpPr>
        <p:spPr>
          <a:xfrm>
            <a:off x="6803135" y="3379373"/>
            <a:ext cx="2121410" cy="208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Symptom: Analyst received CRITICAL txn with unmasked name</a:t>
            </a:r>
          </a:p>
        </p:txBody>
      </p:sp>
      <p:sp>
        <p:nvSpPr>
          <p:cNvPr id="972" name="Text 45"/>
          <p:cNvSpPr txBox="1"/>
          <p:nvPr/>
        </p:nvSpPr>
        <p:spPr>
          <a:xfrm>
            <a:off x="6803135" y="3799997"/>
            <a:ext cx="2121410" cy="208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CC3333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Cause: Router sent CRITICAL txn to validator_agent despite analyst role check</a:t>
            </a:r>
          </a:p>
        </p:txBody>
      </p:sp>
      <p:sp>
        <p:nvSpPr>
          <p:cNvPr id="973" name="Text 46"/>
          <p:cNvSpPr txBox="1"/>
          <p:nvPr/>
        </p:nvSpPr>
        <p:spPr>
          <a:xfrm>
            <a:off x="6803135" y="4248053"/>
            <a:ext cx="2121410" cy="208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00AA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Fix: RBAC check must precede routing; add role assertion in unit tests</a:t>
            </a:r>
          </a:p>
        </p:txBody>
      </p:sp>
      <p:sp>
        <p:nvSpPr>
          <p:cNvPr id="974" name="Text 47"/>
          <p:cNvSpPr txBox="1"/>
          <p:nvPr/>
        </p:nvSpPr>
        <p:spPr>
          <a:xfrm>
            <a:off x="0" y="4999988"/>
            <a:ext cx="91440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8899BB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CONFIDENTIAL  |  NTT DATA  |  GenAI AML Risk Workshop 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Shape 0"/>
          <p:cNvSpPr/>
          <p:nvPr/>
        </p:nvSpPr>
        <p:spPr>
          <a:xfrm>
            <a:off x="0" y="-1"/>
            <a:ext cx="9144000" cy="658370"/>
          </a:xfrm>
          <a:prstGeom prst="rect">
            <a:avLst/>
          </a:prstGeom>
          <a:solidFill>
            <a:srgbClr val="0A1628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77" name="Text 1"/>
          <p:cNvSpPr txBox="1"/>
          <p:nvPr/>
        </p:nvSpPr>
        <p:spPr>
          <a:xfrm>
            <a:off x="274319" y="204813"/>
            <a:ext cx="6217923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Evaluation Dimensions &amp; Scoring</a:t>
            </a:r>
          </a:p>
        </p:txBody>
      </p:sp>
      <p:sp>
        <p:nvSpPr>
          <p:cNvPr id="978" name="Text 2"/>
          <p:cNvSpPr txBox="1"/>
          <p:nvPr/>
        </p:nvSpPr>
        <p:spPr>
          <a:xfrm>
            <a:off x="6492240" y="178097"/>
            <a:ext cx="2514602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F5A623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Assessment Framework — NTT DATA Capability Validation</a:t>
            </a:r>
          </a:p>
        </p:txBody>
      </p:sp>
      <p:sp>
        <p:nvSpPr>
          <p:cNvPr id="979" name="Shape 3"/>
          <p:cNvSpPr/>
          <p:nvPr/>
        </p:nvSpPr>
        <p:spPr>
          <a:xfrm>
            <a:off x="228600" y="804672"/>
            <a:ext cx="8686800" cy="51206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88900" dist="25400" dir="8100000">
              <a:srgbClr val="000000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80" name="Text 4"/>
          <p:cNvSpPr txBox="1"/>
          <p:nvPr/>
        </p:nvSpPr>
        <p:spPr>
          <a:xfrm>
            <a:off x="292606" y="992168"/>
            <a:ext cx="2560324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0A162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Architecture Depth</a:t>
            </a:r>
          </a:p>
        </p:txBody>
      </p:sp>
      <p:sp>
        <p:nvSpPr>
          <p:cNvPr id="981" name="Text 5"/>
          <p:cNvSpPr txBox="1"/>
          <p:nvPr/>
        </p:nvSpPr>
        <p:spPr>
          <a:xfrm>
            <a:off x="2926078" y="997202"/>
            <a:ext cx="466344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Design clarity, component separation, trade-off articulation</a:t>
            </a:r>
          </a:p>
        </p:txBody>
      </p:sp>
      <p:sp>
        <p:nvSpPr>
          <p:cNvPr id="982" name="Shape 6"/>
          <p:cNvSpPr/>
          <p:nvPr/>
        </p:nvSpPr>
        <p:spPr>
          <a:xfrm>
            <a:off x="7662671" y="804672"/>
            <a:ext cx="1252730" cy="512066"/>
          </a:xfrm>
          <a:prstGeom prst="rect">
            <a:avLst/>
          </a:prstGeom>
          <a:solidFill>
            <a:srgbClr val="0066C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83" name="Text 7"/>
          <p:cNvSpPr txBox="1"/>
          <p:nvPr/>
        </p:nvSpPr>
        <p:spPr>
          <a:xfrm>
            <a:off x="7662671" y="956127"/>
            <a:ext cx="1252730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25%</a:t>
            </a:r>
          </a:p>
        </p:txBody>
      </p:sp>
      <p:sp>
        <p:nvSpPr>
          <p:cNvPr id="984" name="Shape 8"/>
          <p:cNvSpPr/>
          <p:nvPr/>
        </p:nvSpPr>
        <p:spPr>
          <a:xfrm>
            <a:off x="228600" y="1371600"/>
            <a:ext cx="8686800" cy="512064"/>
          </a:xfrm>
          <a:prstGeom prst="rect">
            <a:avLst/>
          </a:prstGeom>
          <a:solidFill>
            <a:srgbClr val="EEF3FA"/>
          </a:solidFill>
          <a:ln w="12700">
            <a:miter lim="400000"/>
          </a:ln>
          <a:effectLst>
            <a:outerShdw sx="100000" sy="100000" kx="0" ky="0" algn="b" rotWithShape="0" blurRad="88900" dist="25400" dir="8100000">
              <a:srgbClr val="000000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85" name="Text 9"/>
          <p:cNvSpPr txBox="1"/>
          <p:nvPr/>
        </p:nvSpPr>
        <p:spPr>
          <a:xfrm>
            <a:off x="292606" y="1559096"/>
            <a:ext cx="2560324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0A162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Implementation</a:t>
            </a:r>
          </a:p>
        </p:txBody>
      </p:sp>
      <p:sp>
        <p:nvSpPr>
          <p:cNvPr id="986" name="Text 10"/>
          <p:cNvSpPr txBox="1"/>
          <p:nvPr/>
        </p:nvSpPr>
        <p:spPr>
          <a:xfrm>
            <a:off x="2926078" y="1564130"/>
            <a:ext cx="466344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Working code, correct patterns, production-quality logic</a:t>
            </a:r>
          </a:p>
        </p:txBody>
      </p:sp>
      <p:sp>
        <p:nvSpPr>
          <p:cNvPr id="987" name="Shape 11"/>
          <p:cNvSpPr/>
          <p:nvPr/>
        </p:nvSpPr>
        <p:spPr>
          <a:xfrm>
            <a:off x="7662671" y="1371600"/>
            <a:ext cx="1252730" cy="512064"/>
          </a:xfrm>
          <a:prstGeom prst="rect">
            <a:avLst/>
          </a:prstGeom>
          <a:solidFill>
            <a:srgbClr val="0066C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88" name="Text 12"/>
          <p:cNvSpPr txBox="1"/>
          <p:nvPr/>
        </p:nvSpPr>
        <p:spPr>
          <a:xfrm>
            <a:off x="7662671" y="1523055"/>
            <a:ext cx="1252730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20%</a:t>
            </a:r>
          </a:p>
        </p:txBody>
      </p:sp>
      <p:sp>
        <p:nvSpPr>
          <p:cNvPr id="989" name="Shape 13"/>
          <p:cNvSpPr/>
          <p:nvPr/>
        </p:nvSpPr>
        <p:spPr>
          <a:xfrm>
            <a:off x="228600" y="1938527"/>
            <a:ext cx="8686800" cy="51206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88900" dist="25400" dir="8100000">
              <a:srgbClr val="000000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90" name="Text 14"/>
          <p:cNvSpPr txBox="1"/>
          <p:nvPr/>
        </p:nvSpPr>
        <p:spPr>
          <a:xfrm>
            <a:off x="292606" y="2126023"/>
            <a:ext cx="2560324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0A162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GenAI Patterns</a:t>
            </a:r>
          </a:p>
        </p:txBody>
      </p:sp>
      <p:sp>
        <p:nvSpPr>
          <p:cNvPr id="991" name="Text 15"/>
          <p:cNvSpPr txBox="1"/>
          <p:nvPr/>
        </p:nvSpPr>
        <p:spPr>
          <a:xfrm>
            <a:off x="2926078" y="2131059"/>
            <a:ext cx="466344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RAG, Agents, MCP/A2A — depth of understanding and application</a:t>
            </a:r>
          </a:p>
        </p:txBody>
      </p:sp>
      <p:sp>
        <p:nvSpPr>
          <p:cNvPr id="992" name="Shape 16"/>
          <p:cNvSpPr/>
          <p:nvPr/>
        </p:nvSpPr>
        <p:spPr>
          <a:xfrm>
            <a:off x="7662671" y="1938527"/>
            <a:ext cx="1252730" cy="512066"/>
          </a:xfrm>
          <a:prstGeom prst="rect">
            <a:avLst/>
          </a:prstGeom>
          <a:solidFill>
            <a:srgbClr val="0066C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93" name="Text 17"/>
          <p:cNvSpPr txBox="1"/>
          <p:nvPr/>
        </p:nvSpPr>
        <p:spPr>
          <a:xfrm>
            <a:off x="7662671" y="2089983"/>
            <a:ext cx="1252730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20%</a:t>
            </a:r>
          </a:p>
        </p:txBody>
      </p:sp>
      <p:sp>
        <p:nvSpPr>
          <p:cNvPr id="994" name="Shape 18"/>
          <p:cNvSpPr/>
          <p:nvPr/>
        </p:nvSpPr>
        <p:spPr>
          <a:xfrm>
            <a:off x="228600" y="2505455"/>
            <a:ext cx="8686800" cy="512066"/>
          </a:xfrm>
          <a:prstGeom prst="rect">
            <a:avLst/>
          </a:prstGeom>
          <a:solidFill>
            <a:srgbClr val="EEF3FA"/>
          </a:solidFill>
          <a:ln w="12700">
            <a:miter lim="400000"/>
          </a:ln>
          <a:effectLst>
            <a:outerShdw sx="100000" sy="100000" kx="0" ky="0" algn="b" rotWithShape="0" blurRad="88900" dist="25400" dir="8100000">
              <a:srgbClr val="000000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95" name="Text 19"/>
          <p:cNvSpPr txBox="1"/>
          <p:nvPr/>
        </p:nvSpPr>
        <p:spPr>
          <a:xfrm>
            <a:off x="292606" y="2692951"/>
            <a:ext cx="2560324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0A162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Data Engineering</a:t>
            </a:r>
          </a:p>
        </p:txBody>
      </p:sp>
      <p:sp>
        <p:nvSpPr>
          <p:cNvPr id="996" name="Text 20"/>
          <p:cNvSpPr txBox="1"/>
          <p:nvPr/>
        </p:nvSpPr>
        <p:spPr>
          <a:xfrm>
            <a:off x="2926078" y="2697987"/>
            <a:ext cx="466344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Pipeline maturity, quality controls, lineage discipline</a:t>
            </a:r>
          </a:p>
        </p:txBody>
      </p:sp>
      <p:sp>
        <p:nvSpPr>
          <p:cNvPr id="997" name="Shape 21"/>
          <p:cNvSpPr/>
          <p:nvPr/>
        </p:nvSpPr>
        <p:spPr>
          <a:xfrm>
            <a:off x="7662671" y="2505455"/>
            <a:ext cx="1252730" cy="512066"/>
          </a:xfrm>
          <a:prstGeom prst="rect">
            <a:avLst/>
          </a:prstGeom>
          <a:solidFill>
            <a:srgbClr val="0066C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98" name="Text 22"/>
          <p:cNvSpPr txBox="1"/>
          <p:nvPr/>
        </p:nvSpPr>
        <p:spPr>
          <a:xfrm>
            <a:off x="7662671" y="2656911"/>
            <a:ext cx="1252730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15%</a:t>
            </a:r>
          </a:p>
        </p:txBody>
      </p:sp>
      <p:sp>
        <p:nvSpPr>
          <p:cNvPr id="999" name="Shape 23"/>
          <p:cNvSpPr/>
          <p:nvPr/>
        </p:nvSpPr>
        <p:spPr>
          <a:xfrm>
            <a:off x="228600" y="3072383"/>
            <a:ext cx="8686800" cy="51206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88900" dist="25400" dir="8100000">
              <a:srgbClr val="000000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00" name="Text 24"/>
          <p:cNvSpPr txBox="1"/>
          <p:nvPr/>
        </p:nvSpPr>
        <p:spPr>
          <a:xfrm>
            <a:off x="292606" y="3259880"/>
            <a:ext cx="2560324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0A162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Production Readiness</a:t>
            </a:r>
          </a:p>
        </p:txBody>
      </p:sp>
      <p:sp>
        <p:nvSpPr>
          <p:cNvPr id="1001" name="Text 25"/>
          <p:cNvSpPr txBox="1"/>
          <p:nvPr/>
        </p:nvSpPr>
        <p:spPr>
          <a:xfrm>
            <a:off x="2926078" y="3264915"/>
            <a:ext cx="466344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CI/CD, monitoring, security, scalability design</a:t>
            </a:r>
          </a:p>
        </p:txBody>
      </p:sp>
      <p:sp>
        <p:nvSpPr>
          <p:cNvPr id="1002" name="Shape 26"/>
          <p:cNvSpPr/>
          <p:nvPr/>
        </p:nvSpPr>
        <p:spPr>
          <a:xfrm>
            <a:off x="7662671" y="3072383"/>
            <a:ext cx="1252730" cy="512066"/>
          </a:xfrm>
          <a:prstGeom prst="rect">
            <a:avLst/>
          </a:prstGeom>
          <a:solidFill>
            <a:srgbClr val="0066C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03" name="Text 27"/>
          <p:cNvSpPr txBox="1"/>
          <p:nvPr/>
        </p:nvSpPr>
        <p:spPr>
          <a:xfrm>
            <a:off x="7662671" y="3223839"/>
            <a:ext cx="1252730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10%</a:t>
            </a:r>
          </a:p>
        </p:txBody>
      </p:sp>
      <p:sp>
        <p:nvSpPr>
          <p:cNvPr id="1004" name="Shape 28"/>
          <p:cNvSpPr/>
          <p:nvPr/>
        </p:nvSpPr>
        <p:spPr>
          <a:xfrm>
            <a:off x="228600" y="3639310"/>
            <a:ext cx="8686800" cy="512066"/>
          </a:xfrm>
          <a:prstGeom prst="rect">
            <a:avLst/>
          </a:prstGeom>
          <a:solidFill>
            <a:srgbClr val="EEF3FA"/>
          </a:solidFill>
          <a:ln w="12700">
            <a:miter lim="400000"/>
          </a:ln>
          <a:effectLst>
            <a:outerShdw sx="100000" sy="100000" kx="0" ky="0" algn="b" rotWithShape="0" blurRad="88900" dist="25400" dir="8100000">
              <a:srgbClr val="000000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05" name="Text 29"/>
          <p:cNvSpPr txBox="1"/>
          <p:nvPr/>
        </p:nvSpPr>
        <p:spPr>
          <a:xfrm>
            <a:off x="292606" y="3826807"/>
            <a:ext cx="2560324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0A162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Troubleshooting / RCA</a:t>
            </a:r>
          </a:p>
        </p:txBody>
      </p:sp>
      <p:sp>
        <p:nvSpPr>
          <p:cNvPr id="1006" name="Text 30"/>
          <p:cNvSpPr txBox="1"/>
          <p:nvPr/>
        </p:nvSpPr>
        <p:spPr>
          <a:xfrm>
            <a:off x="2926078" y="3831842"/>
            <a:ext cx="466344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Diagnostic discipline, root cause identification, fix quality</a:t>
            </a:r>
          </a:p>
        </p:txBody>
      </p:sp>
      <p:sp>
        <p:nvSpPr>
          <p:cNvPr id="1007" name="Shape 31"/>
          <p:cNvSpPr/>
          <p:nvPr/>
        </p:nvSpPr>
        <p:spPr>
          <a:xfrm>
            <a:off x="7662671" y="3639310"/>
            <a:ext cx="1252730" cy="512066"/>
          </a:xfrm>
          <a:prstGeom prst="rect">
            <a:avLst/>
          </a:prstGeom>
          <a:solidFill>
            <a:srgbClr val="0066C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08" name="Text 32"/>
          <p:cNvSpPr txBox="1"/>
          <p:nvPr/>
        </p:nvSpPr>
        <p:spPr>
          <a:xfrm>
            <a:off x="7662671" y="3790767"/>
            <a:ext cx="1252730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5%</a:t>
            </a:r>
          </a:p>
        </p:txBody>
      </p:sp>
      <p:sp>
        <p:nvSpPr>
          <p:cNvPr id="1009" name="Shape 33"/>
          <p:cNvSpPr/>
          <p:nvPr/>
        </p:nvSpPr>
        <p:spPr>
          <a:xfrm>
            <a:off x="228600" y="4206240"/>
            <a:ext cx="8686800" cy="51206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88900" dist="25400" dir="8100000">
              <a:srgbClr val="000000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10" name="Text 34"/>
          <p:cNvSpPr txBox="1"/>
          <p:nvPr/>
        </p:nvSpPr>
        <p:spPr>
          <a:xfrm>
            <a:off x="292606" y="4393736"/>
            <a:ext cx="2560324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0A162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Executive Communication</a:t>
            </a:r>
          </a:p>
        </p:txBody>
      </p:sp>
      <p:sp>
        <p:nvSpPr>
          <p:cNvPr id="1011" name="Text 35"/>
          <p:cNvSpPr txBox="1"/>
          <p:nvPr/>
        </p:nvSpPr>
        <p:spPr>
          <a:xfrm>
            <a:off x="2926078" y="4398771"/>
            <a:ext cx="466344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3446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Clarity of articulation, slide quality, stakeholder narrative</a:t>
            </a:r>
          </a:p>
        </p:txBody>
      </p:sp>
      <p:sp>
        <p:nvSpPr>
          <p:cNvPr id="1012" name="Shape 36"/>
          <p:cNvSpPr/>
          <p:nvPr/>
        </p:nvSpPr>
        <p:spPr>
          <a:xfrm>
            <a:off x="7662671" y="4206240"/>
            <a:ext cx="1252730" cy="512066"/>
          </a:xfrm>
          <a:prstGeom prst="rect">
            <a:avLst/>
          </a:prstGeom>
          <a:solidFill>
            <a:srgbClr val="0066C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13" name="Text 37"/>
          <p:cNvSpPr txBox="1"/>
          <p:nvPr/>
        </p:nvSpPr>
        <p:spPr>
          <a:xfrm>
            <a:off x="7662671" y="4357694"/>
            <a:ext cx="1252730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5%</a:t>
            </a:r>
          </a:p>
        </p:txBody>
      </p:sp>
      <p:sp>
        <p:nvSpPr>
          <p:cNvPr id="1014" name="Text 38"/>
          <p:cNvSpPr txBox="1"/>
          <p:nvPr/>
        </p:nvSpPr>
        <p:spPr>
          <a:xfrm>
            <a:off x="0" y="4999988"/>
            <a:ext cx="91440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8899BB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CONFIDENTIAL  |  NTT DATA  |  GenAI AML Risk Workshop 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Shape 0"/>
          <p:cNvSpPr/>
          <p:nvPr/>
        </p:nvSpPr>
        <p:spPr>
          <a:xfrm>
            <a:off x="-1" y="0"/>
            <a:ext cx="164594" cy="5143500"/>
          </a:xfrm>
          <a:prstGeom prst="rect">
            <a:avLst/>
          </a:prstGeom>
          <a:solidFill>
            <a:srgbClr val="0066C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17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D1F3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18" name="Text 2"/>
          <p:cNvSpPr txBox="1"/>
          <p:nvPr/>
        </p:nvSpPr>
        <p:spPr>
          <a:xfrm>
            <a:off x="320039" y="378767"/>
            <a:ext cx="3657603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F5A623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NTT DATA</a:t>
            </a:r>
          </a:p>
        </p:txBody>
      </p:sp>
      <p:sp>
        <p:nvSpPr>
          <p:cNvPr id="1019" name="Text 3"/>
          <p:cNvSpPr txBox="1"/>
          <p:nvPr/>
        </p:nvSpPr>
        <p:spPr>
          <a:xfrm>
            <a:off x="320039" y="825940"/>
            <a:ext cx="6400803" cy="5426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42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Thank You</a:t>
            </a:r>
          </a:p>
        </p:txBody>
      </p:sp>
      <p:sp>
        <p:nvSpPr>
          <p:cNvPr id="1020" name="Text 4"/>
          <p:cNvSpPr txBox="1"/>
          <p:nvPr/>
        </p:nvSpPr>
        <p:spPr>
          <a:xfrm>
            <a:off x="320039" y="1613206"/>
            <a:ext cx="6400803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200">
                <a:solidFill>
                  <a:srgbClr val="0099A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Building Enterprise-Grade Data &amp; AI — Not Just Theory, But Execution.</a:t>
            </a:r>
          </a:p>
        </p:txBody>
      </p:sp>
      <p:sp>
        <p:nvSpPr>
          <p:cNvPr id="1021" name="Text 5"/>
          <p:cNvSpPr txBox="1"/>
          <p:nvPr/>
        </p:nvSpPr>
        <p:spPr>
          <a:xfrm>
            <a:off x="320038" y="2090850"/>
            <a:ext cx="3017523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F5A623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What We Demonstrated</a:t>
            </a:r>
          </a:p>
        </p:txBody>
      </p:sp>
      <p:sp>
        <p:nvSpPr>
          <p:cNvPr id="1022" name="Text 6"/>
          <p:cNvSpPr txBox="1"/>
          <p:nvPr/>
        </p:nvSpPr>
        <p:spPr>
          <a:xfrm>
            <a:off x="320040" y="2460244"/>
            <a:ext cx="309067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End-to-end GenAI AML system: design → code</a:t>
            </a:r>
          </a:p>
        </p:txBody>
      </p:sp>
      <p:sp>
        <p:nvSpPr>
          <p:cNvPr id="1023" name="Text 7"/>
          <p:cNvSpPr txBox="1"/>
          <p:nvPr/>
        </p:nvSpPr>
        <p:spPr>
          <a:xfrm>
            <a:off x="320040" y="2862578"/>
            <a:ext cx="309067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RAG + Multi-Agent + MCP orchestration</a:t>
            </a:r>
          </a:p>
        </p:txBody>
      </p:sp>
      <p:sp>
        <p:nvSpPr>
          <p:cNvPr id="1024" name="Text 8"/>
          <p:cNvSpPr txBox="1"/>
          <p:nvPr/>
        </p:nvSpPr>
        <p:spPr>
          <a:xfrm>
            <a:off x="320040" y="3264915"/>
            <a:ext cx="309067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Lakehouse pipeline: Bronze→Silver→Gold</a:t>
            </a:r>
          </a:p>
        </p:txBody>
      </p:sp>
      <p:sp>
        <p:nvSpPr>
          <p:cNvPr id="1025" name="Text 9"/>
          <p:cNvSpPr txBox="1"/>
          <p:nvPr/>
        </p:nvSpPr>
        <p:spPr>
          <a:xfrm>
            <a:off x="320040" y="3667250"/>
            <a:ext cx="309067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FastAPI REST layer with 8 live endpoints</a:t>
            </a:r>
          </a:p>
        </p:txBody>
      </p:sp>
      <p:sp>
        <p:nvSpPr>
          <p:cNvPr id="1026" name="Text 10"/>
          <p:cNvSpPr txBox="1"/>
          <p:nvPr/>
        </p:nvSpPr>
        <p:spPr>
          <a:xfrm>
            <a:off x="320040" y="4069588"/>
            <a:ext cx="309067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Security, LLMOps &amp; observability built-in</a:t>
            </a:r>
          </a:p>
        </p:txBody>
      </p:sp>
      <p:sp>
        <p:nvSpPr>
          <p:cNvPr id="1027" name="Text 11"/>
          <p:cNvSpPr txBox="1"/>
          <p:nvPr/>
        </p:nvSpPr>
        <p:spPr>
          <a:xfrm>
            <a:off x="3520440" y="2090850"/>
            <a:ext cx="301752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F5A623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Enterprise Readiness</a:t>
            </a:r>
          </a:p>
        </p:txBody>
      </p:sp>
      <p:sp>
        <p:nvSpPr>
          <p:cNvPr id="1028" name="Text 12"/>
          <p:cNvSpPr txBox="1"/>
          <p:nvPr/>
        </p:nvSpPr>
        <p:spPr>
          <a:xfrm>
            <a:off x="3520440" y="2460244"/>
            <a:ext cx="309067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Clear upgrade path: prototype → production</a:t>
            </a:r>
          </a:p>
        </p:txBody>
      </p:sp>
      <p:sp>
        <p:nvSpPr>
          <p:cNvPr id="1029" name="Text 13"/>
          <p:cNvSpPr txBox="1"/>
          <p:nvPr/>
        </p:nvSpPr>
        <p:spPr>
          <a:xfrm>
            <a:off x="3520440" y="2862578"/>
            <a:ext cx="309067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Databricks + Azure cloud-native architecture</a:t>
            </a:r>
          </a:p>
        </p:txBody>
      </p:sp>
      <p:sp>
        <p:nvSpPr>
          <p:cNvPr id="1030" name="Text 14"/>
          <p:cNvSpPr txBox="1"/>
          <p:nvPr/>
        </p:nvSpPr>
        <p:spPr>
          <a:xfrm>
            <a:off x="3520440" y="3264915"/>
            <a:ext cx="309067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RBAC, audit trail, regulatory compliance</a:t>
            </a:r>
          </a:p>
        </p:txBody>
      </p:sp>
      <p:sp>
        <p:nvSpPr>
          <p:cNvPr id="1031" name="Text 15"/>
          <p:cNvSpPr txBox="1"/>
          <p:nvPr/>
        </p:nvSpPr>
        <p:spPr>
          <a:xfrm>
            <a:off x="3520440" y="3667250"/>
            <a:ext cx="309067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CI/CD, monitoring and cost tracking framework</a:t>
            </a:r>
          </a:p>
        </p:txBody>
      </p:sp>
      <p:sp>
        <p:nvSpPr>
          <p:cNvPr id="1032" name="Text 16"/>
          <p:cNvSpPr txBox="1"/>
          <p:nvPr/>
        </p:nvSpPr>
        <p:spPr>
          <a:xfrm>
            <a:off x="3520440" y="4069588"/>
            <a:ext cx="309067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Full local→enterprise component mapping</a:t>
            </a:r>
          </a:p>
        </p:txBody>
      </p:sp>
      <p:sp>
        <p:nvSpPr>
          <p:cNvPr id="1033" name="Text 17"/>
          <p:cNvSpPr txBox="1"/>
          <p:nvPr/>
        </p:nvSpPr>
        <p:spPr>
          <a:xfrm>
            <a:off x="6949440" y="1750148"/>
            <a:ext cx="1965962" cy="248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Questions?</a:t>
            </a:r>
          </a:p>
        </p:txBody>
      </p:sp>
      <p:sp>
        <p:nvSpPr>
          <p:cNvPr id="1034" name="Text 18"/>
          <p:cNvSpPr txBox="1"/>
          <p:nvPr/>
        </p:nvSpPr>
        <p:spPr>
          <a:xfrm>
            <a:off x="6949440" y="2173146"/>
            <a:ext cx="196596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i="1" sz="1100">
                <a:solidFill>
                  <a:srgbClr val="F5A623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Open Discussion</a:t>
            </a:r>
          </a:p>
        </p:txBody>
      </p:sp>
      <p:sp>
        <p:nvSpPr>
          <p:cNvPr id="1035" name="Text 19"/>
          <p:cNvSpPr txBox="1"/>
          <p:nvPr/>
        </p:nvSpPr>
        <p:spPr>
          <a:xfrm>
            <a:off x="320040" y="4823967"/>
            <a:ext cx="713231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8899BB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NTT DATA  |  Data &amp; AI Practice  ·  Technical Capability Workshop 2026  ·  Enterprise Delivery Track</a:t>
            </a:r>
          </a:p>
        </p:txBody>
      </p:sp>
      <p:sp>
        <p:nvSpPr>
          <p:cNvPr id="1036" name="Text 20"/>
          <p:cNvSpPr txBox="1"/>
          <p:nvPr/>
        </p:nvSpPr>
        <p:spPr>
          <a:xfrm>
            <a:off x="320040" y="4974844"/>
            <a:ext cx="850392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8899BB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CONFIDENTIAL  |  NTT DATA SERVICES  |  NOT FOR DISTRIBUTION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