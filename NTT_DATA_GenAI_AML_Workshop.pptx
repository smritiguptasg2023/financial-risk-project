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1F3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2"/>
          <p:cNvSpPr txBox="1"/>
          <p:nvPr/>
        </p:nvSpPr>
        <p:spPr>
          <a:xfrm>
            <a:off x="320040" y="378767"/>
            <a:ext cx="3657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5A623"/>
                </a:solidFill>
              </a:defRPr>
            </a:lvl1pPr>
          </a:lstStyle>
          <a:p>
            <a:pPr/>
            <a:r>
              <a:t>NTT DATA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320040" y="731519"/>
            <a:ext cx="6400801" cy="11324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4000">
                <a:solidFill>
                  <a:srgbClr val="FFFFFF"/>
                </a:solidFill>
              </a:defRPr>
            </a:pPr>
            <a:r>
              <a:t>GenAI AML Risk</a:t>
            </a:r>
          </a:p>
          <a:p>
            <a:pPr>
              <a:defRPr b="1" sz="4000">
                <a:solidFill>
                  <a:srgbClr val="FFFFFF"/>
                </a:solidFill>
              </a:defRPr>
            </a:pPr>
            <a:r>
              <a:t>Detection Platform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320040" y="2516046"/>
            <a:ext cx="6400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0099AA"/>
                </a:solidFill>
              </a:defRPr>
            </a:lvl1pPr>
          </a:lstStyle>
          <a:p>
            <a:pPr/>
            <a:r>
              <a:t>MCP Orchestration  ·  RAG Pipeline  ·  Multi-Agent System  ·  FastAPI REST Layer  ·  Lakehouse Architecture</a:t>
            </a:r>
          </a:p>
        </p:txBody>
      </p:sp>
      <p:sp>
        <p:nvSpPr>
          <p:cNvPr id="25" name="Shape 5"/>
          <p:cNvSpPr/>
          <p:nvPr/>
        </p:nvSpPr>
        <p:spPr>
          <a:xfrm>
            <a:off x="320040" y="2971800"/>
            <a:ext cx="1920240" cy="292609"/>
          </a:xfrm>
          <a:prstGeom prst="roundRect">
            <a:avLst>
              <a:gd name="adj" fmla="val 25000"/>
            </a:avLst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Text 6"/>
          <p:cNvSpPr txBox="1"/>
          <p:nvPr/>
        </p:nvSpPr>
        <p:spPr>
          <a:xfrm>
            <a:off x="320040" y="3054604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BFSI Domain</a:t>
            </a:r>
          </a:p>
        </p:txBody>
      </p:sp>
      <p:sp>
        <p:nvSpPr>
          <p:cNvPr id="27" name="Shape 7"/>
          <p:cNvSpPr/>
          <p:nvPr/>
        </p:nvSpPr>
        <p:spPr>
          <a:xfrm>
            <a:off x="2404872" y="2971800"/>
            <a:ext cx="1920240" cy="292609"/>
          </a:xfrm>
          <a:prstGeom prst="roundRect">
            <a:avLst>
              <a:gd name="adj" fmla="val 25000"/>
            </a:avLst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8"/>
          <p:cNvSpPr txBox="1"/>
          <p:nvPr/>
        </p:nvSpPr>
        <p:spPr>
          <a:xfrm>
            <a:off x="2404872" y="3054604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Enterprise Architecture</a:t>
            </a:r>
          </a:p>
        </p:txBody>
      </p:sp>
      <p:sp>
        <p:nvSpPr>
          <p:cNvPr id="29" name="Shape 9"/>
          <p:cNvSpPr/>
          <p:nvPr/>
        </p:nvSpPr>
        <p:spPr>
          <a:xfrm>
            <a:off x="4489703" y="2971800"/>
            <a:ext cx="1920241" cy="292609"/>
          </a:xfrm>
          <a:prstGeom prst="roundRect">
            <a:avLst>
              <a:gd name="adj" fmla="val 25000"/>
            </a:avLst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Text 10"/>
          <p:cNvSpPr txBox="1"/>
          <p:nvPr/>
        </p:nvSpPr>
        <p:spPr>
          <a:xfrm>
            <a:off x="4489703" y="3054604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Databricks + Azure</a:t>
            </a:r>
          </a:p>
        </p:txBody>
      </p:sp>
      <p:sp>
        <p:nvSpPr>
          <p:cNvPr id="31" name="Shape 11"/>
          <p:cNvSpPr/>
          <p:nvPr/>
        </p:nvSpPr>
        <p:spPr>
          <a:xfrm>
            <a:off x="320040" y="3383279"/>
            <a:ext cx="1920240" cy="292609"/>
          </a:xfrm>
          <a:prstGeom prst="roundRect">
            <a:avLst>
              <a:gd name="adj" fmla="val 25000"/>
            </a:avLst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12"/>
          <p:cNvSpPr txBox="1"/>
          <p:nvPr/>
        </p:nvSpPr>
        <p:spPr>
          <a:xfrm>
            <a:off x="320040" y="3466083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Production Ready</a:t>
            </a:r>
          </a:p>
        </p:txBody>
      </p:sp>
      <p:sp>
        <p:nvSpPr>
          <p:cNvPr id="33" name="Shape 13"/>
          <p:cNvSpPr/>
          <p:nvPr/>
        </p:nvSpPr>
        <p:spPr>
          <a:xfrm>
            <a:off x="2404872" y="3383279"/>
            <a:ext cx="1920240" cy="292609"/>
          </a:xfrm>
          <a:prstGeom prst="roundRect">
            <a:avLst>
              <a:gd name="adj" fmla="val 25000"/>
            </a:avLst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14"/>
          <p:cNvSpPr txBox="1"/>
          <p:nvPr/>
        </p:nvSpPr>
        <p:spPr>
          <a:xfrm>
            <a:off x="2404872" y="3466083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LLMOps Enabled</a:t>
            </a:r>
          </a:p>
        </p:txBody>
      </p:sp>
      <p:sp>
        <p:nvSpPr>
          <p:cNvPr id="35" name="Shape 15"/>
          <p:cNvSpPr/>
          <p:nvPr/>
        </p:nvSpPr>
        <p:spPr>
          <a:xfrm>
            <a:off x="4489703" y="3383279"/>
            <a:ext cx="1920241" cy="292609"/>
          </a:xfrm>
          <a:prstGeom prst="roundRect">
            <a:avLst>
              <a:gd name="adj" fmla="val 25000"/>
            </a:avLst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16"/>
          <p:cNvSpPr txBox="1"/>
          <p:nvPr/>
        </p:nvSpPr>
        <p:spPr>
          <a:xfrm>
            <a:off x="4489703" y="3466083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FastAPI + REST</a:t>
            </a:r>
          </a:p>
        </p:txBody>
      </p:sp>
      <p:sp>
        <p:nvSpPr>
          <p:cNvPr id="37" name="Text 17"/>
          <p:cNvSpPr txBox="1"/>
          <p:nvPr/>
        </p:nvSpPr>
        <p:spPr>
          <a:xfrm>
            <a:off x="320039" y="4123734"/>
            <a:ext cx="621792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899BB"/>
                </a:solidFill>
              </a:defRPr>
            </a:lvl1pPr>
          </a:lstStyle>
          <a:p>
            <a:pPr/>
            <a:r>
              <a:t>End-to-end enterprise Anti-Money Laundering platform: Databricks Lakehouse · RAG policy retrieval · MCP multi-agent orchestration · FastAPI REST layer · LLMOps observability — designed for regulated BFSI environments.</a:t>
            </a:r>
          </a:p>
        </p:txBody>
      </p:sp>
      <p:sp>
        <p:nvSpPr>
          <p:cNvPr id="38" name="Text 18"/>
          <p:cNvSpPr txBox="1"/>
          <p:nvPr/>
        </p:nvSpPr>
        <p:spPr>
          <a:xfrm>
            <a:off x="320040" y="4828539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9BB"/>
                </a:solidFill>
              </a:defRPr>
            </a:lvl1pPr>
          </a:lstStyle>
          <a:p>
            <a:pPr/>
            <a:r>
              <a:t>Technical Capability Workshop  |  Data &amp; AI Practice  ·  NTT DATA  ·  May 2026</a:t>
            </a:r>
          </a:p>
        </p:txBody>
      </p:sp>
      <p:sp>
        <p:nvSpPr>
          <p:cNvPr id="39" name="Text 19"/>
          <p:cNvSpPr txBox="1"/>
          <p:nvPr/>
        </p:nvSpPr>
        <p:spPr>
          <a:xfrm>
            <a:off x="6949440" y="4828539"/>
            <a:ext cx="20116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CONFIDENTIAL  |  NTT DATA SERVICES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1"/>
          <p:cNvSpPr txBox="1"/>
          <p:nvPr/>
        </p:nvSpPr>
        <p:spPr>
          <a:xfrm>
            <a:off x="274320" y="195932"/>
            <a:ext cx="457200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43" name="Text 2"/>
          <p:cNvSpPr txBox="1"/>
          <p:nvPr/>
        </p:nvSpPr>
        <p:spPr>
          <a:xfrm>
            <a:off x="4572000" y="275766"/>
            <a:ext cx="4297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F5A623"/>
                </a:solidFill>
              </a:defRPr>
            </a:lvl1pPr>
          </a:lstStyle>
          <a:p>
            <a:pPr/>
            <a:r>
              <a:t>Workshop Structure &amp; Presentation Flow</a:t>
            </a:r>
          </a:p>
        </p:txBody>
      </p:sp>
      <p:sp>
        <p:nvSpPr>
          <p:cNvPr id="44" name="Shape 3"/>
          <p:cNvSpPr/>
          <p:nvPr/>
        </p:nvSpPr>
        <p:spPr>
          <a:xfrm>
            <a:off x="228600" y="822960"/>
            <a:ext cx="4251960" cy="7498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" name="Shape 4"/>
          <p:cNvSpPr/>
          <p:nvPr/>
        </p:nvSpPr>
        <p:spPr>
          <a:xfrm>
            <a:off x="228600" y="822960"/>
            <a:ext cx="347473" cy="749809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5"/>
          <p:cNvSpPr txBox="1"/>
          <p:nvPr/>
        </p:nvSpPr>
        <p:spPr>
          <a:xfrm>
            <a:off x="228600" y="1103184"/>
            <a:ext cx="34747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7" name="Text 6"/>
          <p:cNvSpPr txBox="1"/>
          <p:nvPr/>
        </p:nvSpPr>
        <p:spPr>
          <a:xfrm>
            <a:off x="640079" y="961566"/>
            <a:ext cx="37490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A1628"/>
                </a:solidFill>
              </a:defRPr>
            </a:lvl1pPr>
          </a:lstStyle>
          <a:p>
            <a:pPr/>
            <a:r>
              <a:t>Objective &amp; Problem Statement</a:t>
            </a:r>
          </a:p>
        </p:txBody>
      </p:sp>
      <p:sp>
        <p:nvSpPr>
          <p:cNvPr id="48" name="Text 7"/>
          <p:cNvSpPr txBox="1"/>
          <p:nvPr/>
        </p:nvSpPr>
        <p:spPr>
          <a:xfrm>
            <a:off x="640079" y="1289811"/>
            <a:ext cx="3749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Why AML matters in BFSI; workshop goals</a:t>
            </a:r>
          </a:p>
        </p:txBody>
      </p:sp>
      <p:sp>
        <p:nvSpPr>
          <p:cNvPr id="49" name="Shape 8"/>
          <p:cNvSpPr/>
          <p:nvPr/>
        </p:nvSpPr>
        <p:spPr>
          <a:xfrm>
            <a:off x="4709159" y="822960"/>
            <a:ext cx="4251961" cy="7498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" name="Shape 9"/>
          <p:cNvSpPr/>
          <p:nvPr/>
        </p:nvSpPr>
        <p:spPr>
          <a:xfrm>
            <a:off x="4709159" y="822960"/>
            <a:ext cx="347473" cy="749809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10"/>
          <p:cNvSpPr txBox="1"/>
          <p:nvPr/>
        </p:nvSpPr>
        <p:spPr>
          <a:xfrm>
            <a:off x="4709159" y="1103184"/>
            <a:ext cx="34747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52" name="Text 11"/>
          <p:cNvSpPr txBox="1"/>
          <p:nvPr/>
        </p:nvSpPr>
        <p:spPr>
          <a:xfrm>
            <a:off x="5120640" y="961566"/>
            <a:ext cx="37490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A1628"/>
                </a:solidFill>
              </a:defRPr>
            </a:lvl1pPr>
          </a:lstStyle>
          <a:p>
            <a:pPr/>
            <a:r>
              <a:t>High Level Design (HLD)</a:t>
            </a:r>
          </a:p>
        </p:txBody>
      </p:sp>
      <p:sp>
        <p:nvSpPr>
          <p:cNvPr id="53" name="Text 12"/>
          <p:cNvSpPr txBox="1"/>
          <p:nvPr/>
        </p:nvSpPr>
        <p:spPr>
          <a:xfrm>
            <a:off x="5120640" y="1289811"/>
            <a:ext cx="3749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System components, data flows, architectural decisions</a:t>
            </a:r>
          </a:p>
        </p:txBody>
      </p:sp>
      <p:sp>
        <p:nvSpPr>
          <p:cNvPr id="54" name="Shape 13"/>
          <p:cNvSpPr/>
          <p:nvPr/>
        </p:nvSpPr>
        <p:spPr>
          <a:xfrm>
            <a:off x="228600" y="1673351"/>
            <a:ext cx="4251960" cy="7498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" name="Shape 14"/>
          <p:cNvSpPr/>
          <p:nvPr/>
        </p:nvSpPr>
        <p:spPr>
          <a:xfrm>
            <a:off x="228600" y="1673351"/>
            <a:ext cx="347473" cy="749809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15"/>
          <p:cNvSpPr txBox="1"/>
          <p:nvPr/>
        </p:nvSpPr>
        <p:spPr>
          <a:xfrm>
            <a:off x="228600" y="1953576"/>
            <a:ext cx="34747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57" name="Text 16"/>
          <p:cNvSpPr txBox="1"/>
          <p:nvPr/>
        </p:nvSpPr>
        <p:spPr>
          <a:xfrm>
            <a:off x="640079" y="1811958"/>
            <a:ext cx="37490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A1628"/>
                </a:solidFill>
              </a:defRPr>
            </a:lvl1pPr>
          </a:lstStyle>
          <a:p>
            <a:pPr/>
            <a:r>
              <a:t>Low Level Design (LLD)</a:t>
            </a:r>
          </a:p>
        </p:txBody>
      </p:sp>
      <p:sp>
        <p:nvSpPr>
          <p:cNvPr id="58" name="Text 17"/>
          <p:cNvSpPr txBox="1"/>
          <p:nvPr/>
        </p:nvSpPr>
        <p:spPr>
          <a:xfrm>
            <a:off x="640079" y="2140204"/>
            <a:ext cx="3749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Lakehouse layers, RAG pipeline, Multi-Agent MCP</a:t>
            </a:r>
          </a:p>
        </p:txBody>
      </p:sp>
      <p:sp>
        <p:nvSpPr>
          <p:cNvPr id="59" name="Shape 18"/>
          <p:cNvSpPr/>
          <p:nvPr/>
        </p:nvSpPr>
        <p:spPr>
          <a:xfrm>
            <a:off x="4709159" y="1673351"/>
            <a:ext cx="4251961" cy="7498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" name="Shape 19"/>
          <p:cNvSpPr/>
          <p:nvPr/>
        </p:nvSpPr>
        <p:spPr>
          <a:xfrm>
            <a:off x="4709159" y="1673351"/>
            <a:ext cx="347473" cy="749809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20"/>
          <p:cNvSpPr txBox="1"/>
          <p:nvPr/>
        </p:nvSpPr>
        <p:spPr>
          <a:xfrm>
            <a:off x="4709159" y="1953576"/>
            <a:ext cx="34747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2" name="Text 21"/>
          <p:cNvSpPr txBox="1"/>
          <p:nvPr/>
        </p:nvSpPr>
        <p:spPr>
          <a:xfrm>
            <a:off x="5120640" y="1811958"/>
            <a:ext cx="37490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A1628"/>
                </a:solidFill>
              </a:defRPr>
            </a:lvl1pPr>
          </a:lstStyle>
          <a:p>
            <a:pPr/>
            <a:r>
              <a:t>FastAPI REST Layer</a:t>
            </a:r>
          </a:p>
        </p:txBody>
      </p:sp>
      <p:sp>
        <p:nvSpPr>
          <p:cNvPr id="63" name="Text 22"/>
          <p:cNvSpPr txBox="1"/>
          <p:nvPr/>
        </p:nvSpPr>
        <p:spPr>
          <a:xfrm>
            <a:off x="5120640" y="2140204"/>
            <a:ext cx="3749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API endpoints, routes, JSON response schema</a:t>
            </a:r>
          </a:p>
        </p:txBody>
      </p:sp>
      <p:sp>
        <p:nvSpPr>
          <p:cNvPr id="64" name="Shape 23"/>
          <p:cNvSpPr/>
          <p:nvPr/>
        </p:nvSpPr>
        <p:spPr>
          <a:xfrm>
            <a:off x="228600" y="2523744"/>
            <a:ext cx="4251960" cy="7498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" name="Shape 24"/>
          <p:cNvSpPr/>
          <p:nvPr/>
        </p:nvSpPr>
        <p:spPr>
          <a:xfrm>
            <a:off x="228600" y="2523744"/>
            <a:ext cx="347473" cy="749809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25"/>
          <p:cNvSpPr txBox="1"/>
          <p:nvPr/>
        </p:nvSpPr>
        <p:spPr>
          <a:xfrm>
            <a:off x="228600" y="2803968"/>
            <a:ext cx="34747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67" name="Text 26"/>
          <p:cNvSpPr txBox="1"/>
          <p:nvPr/>
        </p:nvSpPr>
        <p:spPr>
          <a:xfrm>
            <a:off x="640079" y="2662350"/>
            <a:ext cx="374904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A1628"/>
                </a:solidFill>
              </a:defRPr>
            </a:lvl1pPr>
          </a:lstStyle>
          <a:p>
            <a:pPr/>
            <a:r>
              <a:t>Input / Output Walkthrough</a:t>
            </a:r>
          </a:p>
        </p:txBody>
      </p:sp>
      <p:sp>
        <p:nvSpPr>
          <p:cNvPr id="68" name="Text 27"/>
          <p:cNvSpPr txBox="1"/>
          <p:nvPr/>
        </p:nvSpPr>
        <p:spPr>
          <a:xfrm>
            <a:off x="640079" y="2990596"/>
            <a:ext cx="3749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Live transaction inputs &amp; system outputs with actual results</a:t>
            </a:r>
          </a:p>
        </p:txBody>
      </p:sp>
      <p:sp>
        <p:nvSpPr>
          <p:cNvPr id="69" name="Shape 28"/>
          <p:cNvSpPr/>
          <p:nvPr/>
        </p:nvSpPr>
        <p:spPr>
          <a:xfrm>
            <a:off x="4709159" y="2523744"/>
            <a:ext cx="4251961" cy="7498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" name="Shape 29"/>
          <p:cNvSpPr/>
          <p:nvPr/>
        </p:nvSpPr>
        <p:spPr>
          <a:xfrm>
            <a:off x="4709159" y="2523744"/>
            <a:ext cx="347473" cy="749809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30"/>
          <p:cNvSpPr txBox="1"/>
          <p:nvPr/>
        </p:nvSpPr>
        <p:spPr>
          <a:xfrm>
            <a:off x="4709159" y="2803968"/>
            <a:ext cx="34747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72" name="Text 31"/>
          <p:cNvSpPr txBox="1"/>
          <p:nvPr/>
        </p:nvSpPr>
        <p:spPr>
          <a:xfrm>
            <a:off x="5120640" y="2662350"/>
            <a:ext cx="374904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A1628"/>
                </a:solidFill>
              </a:defRPr>
            </a:lvl1pPr>
          </a:lstStyle>
          <a:p>
            <a:pPr/>
            <a:r>
              <a:t>Security &amp; Governance</a:t>
            </a:r>
          </a:p>
        </p:txBody>
      </p:sp>
      <p:sp>
        <p:nvSpPr>
          <p:cNvPr id="73" name="Text 32"/>
          <p:cNvSpPr txBox="1"/>
          <p:nvPr/>
        </p:nvSpPr>
        <p:spPr>
          <a:xfrm>
            <a:off x="5120640" y="2990596"/>
            <a:ext cx="3749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RBAC, prompt injection defense, audit trail, data masking</a:t>
            </a:r>
          </a:p>
        </p:txBody>
      </p:sp>
      <p:sp>
        <p:nvSpPr>
          <p:cNvPr id="74" name="Shape 33"/>
          <p:cNvSpPr/>
          <p:nvPr/>
        </p:nvSpPr>
        <p:spPr>
          <a:xfrm>
            <a:off x="228600" y="3374135"/>
            <a:ext cx="4251960" cy="7498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" name="Shape 34"/>
          <p:cNvSpPr/>
          <p:nvPr/>
        </p:nvSpPr>
        <p:spPr>
          <a:xfrm>
            <a:off x="228600" y="3374135"/>
            <a:ext cx="347473" cy="749809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35"/>
          <p:cNvSpPr txBox="1"/>
          <p:nvPr/>
        </p:nvSpPr>
        <p:spPr>
          <a:xfrm>
            <a:off x="228600" y="3654360"/>
            <a:ext cx="34747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77" name="Text 36"/>
          <p:cNvSpPr txBox="1"/>
          <p:nvPr/>
        </p:nvSpPr>
        <p:spPr>
          <a:xfrm>
            <a:off x="640079" y="3512742"/>
            <a:ext cx="37490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A1628"/>
                </a:solidFill>
              </a:defRPr>
            </a:lvl1pPr>
          </a:lstStyle>
          <a:p>
            <a:pPr/>
            <a:r>
              <a:t>LLMOps &amp; Observability</a:t>
            </a:r>
          </a:p>
        </p:txBody>
      </p:sp>
      <p:sp>
        <p:nvSpPr>
          <p:cNvPr id="78" name="Text 37"/>
          <p:cNvSpPr txBox="1"/>
          <p:nvPr/>
        </p:nvSpPr>
        <p:spPr>
          <a:xfrm>
            <a:off x="640079" y="3840988"/>
            <a:ext cx="3749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Latency tracking, quality metrics, CI/CD</a:t>
            </a:r>
          </a:p>
        </p:txBody>
      </p:sp>
      <p:sp>
        <p:nvSpPr>
          <p:cNvPr id="79" name="Shape 38"/>
          <p:cNvSpPr/>
          <p:nvPr/>
        </p:nvSpPr>
        <p:spPr>
          <a:xfrm>
            <a:off x="4709159" y="3374135"/>
            <a:ext cx="4251961" cy="7498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" name="Shape 39"/>
          <p:cNvSpPr/>
          <p:nvPr/>
        </p:nvSpPr>
        <p:spPr>
          <a:xfrm>
            <a:off x="4709159" y="3374135"/>
            <a:ext cx="347473" cy="749809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Text 40"/>
          <p:cNvSpPr txBox="1"/>
          <p:nvPr/>
        </p:nvSpPr>
        <p:spPr>
          <a:xfrm>
            <a:off x="4709159" y="3654360"/>
            <a:ext cx="34747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82" name="Text 41"/>
          <p:cNvSpPr txBox="1"/>
          <p:nvPr/>
        </p:nvSpPr>
        <p:spPr>
          <a:xfrm>
            <a:off x="5120640" y="3512742"/>
            <a:ext cx="37490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A1628"/>
                </a:solidFill>
              </a:defRPr>
            </a:lvl1pPr>
          </a:lstStyle>
          <a:p>
            <a:pPr/>
            <a:r>
              <a:t>Workshop Tracks Overview</a:t>
            </a:r>
          </a:p>
        </p:txBody>
      </p:sp>
      <p:sp>
        <p:nvSpPr>
          <p:cNvPr id="83" name="Text 42"/>
          <p:cNvSpPr txBox="1"/>
          <p:nvPr/>
        </p:nvSpPr>
        <p:spPr>
          <a:xfrm>
            <a:off x="5120640" y="3840988"/>
            <a:ext cx="3749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7 technical capability tracks and deliverables</a:t>
            </a:r>
          </a:p>
        </p:txBody>
      </p:sp>
      <p:sp>
        <p:nvSpPr>
          <p:cNvPr id="84" name="Shape 43"/>
          <p:cNvSpPr/>
          <p:nvPr/>
        </p:nvSpPr>
        <p:spPr>
          <a:xfrm>
            <a:off x="228600" y="4224528"/>
            <a:ext cx="4251960" cy="7498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" name="Shape 44"/>
          <p:cNvSpPr/>
          <p:nvPr/>
        </p:nvSpPr>
        <p:spPr>
          <a:xfrm>
            <a:off x="228600" y="4224528"/>
            <a:ext cx="347473" cy="749809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45"/>
          <p:cNvSpPr txBox="1"/>
          <p:nvPr/>
        </p:nvSpPr>
        <p:spPr>
          <a:xfrm>
            <a:off x="228600" y="4504752"/>
            <a:ext cx="34747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87" name="Text 46"/>
          <p:cNvSpPr txBox="1"/>
          <p:nvPr/>
        </p:nvSpPr>
        <p:spPr>
          <a:xfrm>
            <a:off x="640079" y="4363134"/>
            <a:ext cx="37490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A1628"/>
                </a:solidFill>
              </a:defRPr>
            </a:lvl1pPr>
          </a:lstStyle>
          <a:p>
            <a:pPr/>
            <a:r>
              <a:t>RCA &amp; Troubleshooting</a:t>
            </a:r>
          </a:p>
        </p:txBody>
      </p:sp>
      <p:sp>
        <p:nvSpPr>
          <p:cNvPr id="88" name="Text 47"/>
          <p:cNvSpPr txBox="1"/>
          <p:nvPr/>
        </p:nvSpPr>
        <p:spPr>
          <a:xfrm>
            <a:off x="640079" y="4691379"/>
            <a:ext cx="3749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Root cause analysis framework with documented cases</a:t>
            </a:r>
          </a:p>
        </p:txBody>
      </p:sp>
      <p:sp>
        <p:nvSpPr>
          <p:cNvPr id="89" name="Shape 48"/>
          <p:cNvSpPr/>
          <p:nvPr/>
        </p:nvSpPr>
        <p:spPr>
          <a:xfrm>
            <a:off x="4709159" y="4224528"/>
            <a:ext cx="4251961" cy="7498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" name="Shape 49"/>
          <p:cNvSpPr/>
          <p:nvPr/>
        </p:nvSpPr>
        <p:spPr>
          <a:xfrm>
            <a:off x="4709159" y="4224528"/>
            <a:ext cx="347473" cy="749809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50"/>
          <p:cNvSpPr txBox="1"/>
          <p:nvPr/>
        </p:nvSpPr>
        <p:spPr>
          <a:xfrm>
            <a:off x="4709159" y="4504752"/>
            <a:ext cx="34747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92" name="Text 51"/>
          <p:cNvSpPr txBox="1"/>
          <p:nvPr/>
        </p:nvSpPr>
        <p:spPr>
          <a:xfrm>
            <a:off x="5120640" y="4363134"/>
            <a:ext cx="37490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A1628"/>
                </a:solidFill>
              </a:defRPr>
            </a:lvl1pPr>
          </a:lstStyle>
          <a:p>
            <a:pPr/>
            <a:r>
              <a:t>Evaluation &amp; Next Steps</a:t>
            </a:r>
          </a:p>
        </p:txBody>
      </p:sp>
      <p:sp>
        <p:nvSpPr>
          <p:cNvPr id="93" name="Text 52"/>
          <p:cNvSpPr txBox="1"/>
          <p:nvPr/>
        </p:nvSpPr>
        <p:spPr>
          <a:xfrm>
            <a:off x="5120640" y="4691379"/>
            <a:ext cx="3749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Scoring dimensions, roadmap, timeline</a:t>
            </a:r>
          </a:p>
        </p:txBody>
      </p:sp>
      <p:sp>
        <p:nvSpPr>
          <p:cNvPr id="94" name="Text 53"/>
          <p:cNvSpPr txBox="1"/>
          <p:nvPr/>
        </p:nvSpPr>
        <p:spPr>
          <a:xfrm>
            <a:off x="0" y="4999989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1"/>
          <p:cNvSpPr txBox="1"/>
          <p:nvPr/>
        </p:nvSpPr>
        <p:spPr>
          <a:xfrm>
            <a:off x="274320" y="218529"/>
            <a:ext cx="64008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Objective &amp; Problem Statement</a:t>
            </a:r>
          </a:p>
        </p:txBody>
      </p:sp>
      <p:sp>
        <p:nvSpPr>
          <p:cNvPr id="98" name="Text 2"/>
          <p:cNvSpPr txBox="1"/>
          <p:nvPr/>
        </p:nvSpPr>
        <p:spPr>
          <a:xfrm>
            <a:off x="6400800" y="274364"/>
            <a:ext cx="25603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</a:defRPr>
            </a:lvl1pPr>
          </a:lstStyle>
          <a:p>
            <a:pPr/>
            <a:r>
              <a:t>Enterprise AML in BFSI — The Challenge</a:t>
            </a:r>
          </a:p>
        </p:txBody>
      </p:sp>
      <p:sp>
        <p:nvSpPr>
          <p:cNvPr id="99" name="Shape 3"/>
          <p:cNvSpPr/>
          <p:nvPr/>
        </p:nvSpPr>
        <p:spPr>
          <a:xfrm>
            <a:off x="228600" y="804672"/>
            <a:ext cx="4114800" cy="365761"/>
          </a:xfrm>
          <a:prstGeom prst="rect">
            <a:avLst/>
          </a:prstGeom>
          <a:solidFill>
            <a:srgbClr val="CC33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4"/>
          <p:cNvSpPr txBox="1"/>
          <p:nvPr/>
        </p:nvSpPr>
        <p:spPr>
          <a:xfrm>
            <a:off x="228600" y="909119"/>
            <a:ext cx="41148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101" name="Shape 5"/>
          <p:cNvSpPr/>
          <p:nvPr/>
        </p:nvSpPr>
        <p:spPr>
          <a:xfrm>
            <a:off x="228600" y="1243583"/>
            <a:ext cx="4114800" cy="40233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" name="Text 6"/>
          <p:cNvSpPr txBox="1"/>
          <p:nvPr/>
        </p:nvSpPr>
        <p:spPr>
          <a:xfrm>
            <a:off x="292607" y="1376216"/>
            <a:ext cx="39776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✗  Financial institutions process millions of transactions daily</a:t>
            </a:r>
          </a:p>
        </p:txBody>
      </p:sp>
      <p:sp>
        <p:nvSpPr>
          <p:cNvPr id="103" name="Shape 7"/>
          <p:cNvSpPr/>
          <p:nvPr/>
        </p:nvSpPr>
        <p:spPr>
          <a:xfrm>
            <a:off x="228600" y="1719072"/>
            <a:ext cx="4114800" cy="402337"/>
          </a:xfrm>
          <a:prstGeom prst="rect">
            <a:avLst/>
          </a:prstGeom>
          <a:solidFill>
            <a:srgbClr val="F8EAEA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" name="Text 8"/>
          <p:cNvSpPr txBox="1"/>
          <p:nvPr/>
        </p:nvSpPr>
        <p:spPr>
          <a:xfrm>
            <a:off x="292607" y="1851704"/>
            <a:ext cx="39776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✗  Manual AML review is slow, inconsistent, and error-prone</a:t>
            </a:r>
          </a:p>
        </p:txBody>
      </p:sp>
      <p:sp>
        <p:nvSpPr>
          <p:cNvPr id="105" name="Shape 9"/>
          <p:cNvSpPr/>
          <p:nvPr/>
        </p:nvSpPr>
        <p:spPr>
          <a:xfrm>
            <a:off x="228600" y="2194560"/>
            <a:ext cx="4114800" cy="40233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" name="Text 10"/>
          <p:cNvSpPr txBox="1"/>
          <p:nvPr/>
        </p:nvSpPr>
        <p:spPr>
          <a:xfrm>
            <a:off x="292607" y="2327192"/>
            <a:ext cx="39776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✗  Regulatory fines for non-compliance: $1B+ globally per year</a:t>
            </a:r>
          </a:p>
        </p:txBody>
      </p:sp>
      <p:sp>
        <p:nvSpPr>
          <p:cNvPr id="107" name="Shape 11"/>
          <p:cNvSpPr/>
          <p:nvPr/>
        </p:nvSpPr>
        <p:spPr>
          <a:xfrm>
            <a:off x="228600" y="2670048"/>
            <a:ext cx="4114800" cy="402337"/>
          </a:xfrm>
          <a:prstGeom prst="rect">
            <a:avLst/>
          </a:prstGeom>
          <a:solidFill>
            <a:srgbClr val="F8EAEA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" name="Text 12"/>
          <p:cNvSpPr txBox="1"/>
          <p:nvPr/>
        </p:nvSpPr>
        <p:spPr>
          <a:xfrm>
            <a:off x="292607" y="2802680"/>
            <a:ext cx="39776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✗  Rule-based systems miss complex, evolving fraud patterns</a:t>
            </a:r>
          </a:p>
        </p:txBody>
      </p:sp>
      <p:sp>
        <p:nvSpPr>
          <p:cNvPr id="109" name="Shape 13"/>
          <p:cNvSpPr/>
          <p:nvPr/>
        </p:nvSpPr>
        <p:spPr>
          <a:xfrm>
            <a:off x="228600" y="3145535"/>
            <a:ext cx="4114800" cy="40233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" name="Text 14"/>
          <p:cNvSpPr txBox="1"/>
          <p:nvPr/>
        </p:nvSpPr>
        <p:spPr>
          <a:xfrm>
            <a:off x="292607" y="3278168"/>
            <a:ext cx="39776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✗  Lack of explainability in AI decisions creates audit risk</a:t>
            </a:r>
          </a:p>
        </p:txBody>
      </p:sp>
      <p:sp>
        <p:nvSpPr>
          <p:cNvPr id="111" name="Shape 15"/>
          <p:cNvSpPr/>
          <p:nvPr/>
        </p:nvSpPr>
        <p:spPr>
          <a:xfrm>
            <a:off x="228600" y="3621023"/>
            <a:ext cx="4114800" cy="402337"/>
          </a:xfrm>
          <a:prstGeom prst="rect">
            <a:avLst/>
          </a:prstGeom>
          <a:solidFill>
            <a:srgbClr val="F8EAEA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" name="Text 16"/>
          <p:cNvSpPr txBox="1"/>
          <p:nvPr/>
        </p:nvSpPr>
        <p:spPr>
          <a:xfrm>
            <a:off x="292607" y="3753656"/>
            <a:ext cx="39776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✗  Siloed data across core banking, cards, and payments</a:t>
            </a:r>
          </a:p>
        </p:txBody>
      </p:sp>
      <p:sp>
        <p:nvSpPr>
          <p:cNvPr id="113" name="Shape 17"/>
          <p:cNvSpPr/>
          <p:nvPr/>
        </p:nvSpPr>
        <p:spPr>
          <a:xfrm>
            <a:off x="228600" y="4096511"/>
            <a:ext cx="4114800" cy="40233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" name="Text 18"/>
          <p:cNvSpPr txBox="1"/>
          <p:nvPr/>
        </p:nvSpPr>
        <p:spPr>
          <a:xfrm>
            <a:off x="292607" y="4229144"/>
            <a:ext cx="39776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✗  No unified observability across AI and data pipelines</a:t>
            </a:r>
          </a:p>
        </p:txBody>
      </p:sp>
      <p:sp>
        <p:nvSpPr>
          <p:cNvPr id="115" name="Shape 19"/>
          <p:cNvSpPr/>
          <p:nvPr/>
        </p:nvSpPr>
        <p:spPr>
          <a:xfrm>
            <a:off x="4800600" y="804672"/>
            <a:ext cx="4114800" cy="365761"/>
          </a:xfrm>
          <a:prstGeom prst="rect">
            <a:avLst/>
          </a:prstGeom>
          <a:solidFill>
            <a:srgbClr val="00AA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 20"/>
          <p:cNvSpPr txBox="1"/>
          <p:nvPr/>
        </p:nvSpPr>
        <p:spPr>
          <a:xfrm>
            <a:off x="4800600" y="909119"/>
            <a:ext cx="41148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OUR SOLUTION</a:t>
            </a:r>
          </a:p>
        </p:txBody>
      </p:sp>
      <p:sp>
        <p:nvSpPr>
          <p:cNvPr id="117" name="Shape 21"/>
          <p:cNvSpPr/>
          <p:nvPr/>
        </p:nvSpPr>
        <p:spPr>
          <a:xfrm>
            <a:off x="4800600" y="1243583"/>
            <a:ext cx="4114800" cy="40233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" name="Text 22"/>
          <p:cNvSpPr txBox="1"/>
          <p:nvPr/>
        </p:nvSpPr>
        <p:spPr>
          <a:xfrm>
            <a:off x="4864608" y="1366071"/>
            <a:ext cx="3977641" cy="15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✓  Lakehouse: unified Bronze→Silver→Gold data platform</a:t>
            </a:r>
          </a:p>
        </p:txBody>
      </p:sp>
      <p:sp>
        <p:nvSpPr>
          <p:cNvPr id="119" name="Shape 23"/>
          <p:cNvSpPr/>
          <p:nvPr/>
        </p:nvSpPr>
        <p:spPr>
          <a:xfrm>
            <a:off x="4800600" y="1719072"/>
            <a:ext cx="4114800" cy="402337"/>
          </a:xfrm>
          <a:prstGeom prst="rect">
            <a:avLst/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" name="Text 24"/>
          <p:cNvSpPr txBox="1"/>
          <p:nvPr/>
        </p:nvSpPr>
        <p:spPr>
          <a:xfrm>
            <a:off x="4864608" y="1841559"/>
            <a:ext cx="3977641" cy="15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✓  RAG pipeline retrieves relevant AML policies in real-time</a:t>
            </a:r>
          </a:p>
        </p:txBody>
      </p:sp>
      <p:sp>
        <p:nvSpPr>
          <p:cNvPr id="121" name="Shape 25"/>
          <p:cNvSpPr/>
          <p:nvPr/>
        </p:nvSpPr>
        <p:spPr>
          <a:xfrm>
            <a:off x="4800600" y="2194560"/>
            <a:ext cx="4114800" cy="40233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" name="Text 26"/>
          <p:cNvSpPr txBox="1"/>
          <p:nvPr/>
        </p:nvSpPr>
        <p:spPr>
          <a:xfrm>
            <a:off x="4864608" y="2317047"/>
            <a:ext cx="3977641" cy="15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✓  Multi-agent: Retriever, Reasoner, Validator, Router agents</a:t>
            </a:r>
          </a:p>
        </p:txBody>
      </p:sp>
      <p:sp>
        <p:nvSpPr>
          <p:cNvPr id="123" name="Shape 27"/>
          <p:cNvSpPr/>
          <p:nvPr/>
        </p:nvSpPr>
        <p:spPr>
          <a:xfrm>
            <a:off x="4800600" y="2670048"/>
            <a:ext cx="4114800" cy="402337"/>
          </a:xfrm>
          <a:prstGeom prst="rect">
            <a:avLst/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" name="Text 28"/>
          <p:cNvSpPr txBox="1"/>
          <p:nvPr/>
        </p:nvSpPr>
        <p:spPr>
          <a:xfrm>
            <a:off x="4864608" y="2792535"/>
            <a:ext cx="3977641" cy="15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✓  MCP orchestration with shared context propagation</a:t>
            </a:r>
          </a:p>
        </p:txBody>
      </p:sp>
      <p:sp>
        <p:nvSpPr>
          <p:cNvPr id="125" name="Shape 29"/>
          <p:cNvSpPr/>
          <p:nvPr/>
        </p:nvSpPr>
        <p:spPr>
          <a:xfrm>
            <a:off x="4800600" y="3145535"/>
            <a:ext cx="4114800" cy="40233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" name="Text 30"/>
          <p:cNvSpPr txBox="1"/>
          <p:nvPr/>
        </p:nvSpPr>
        <p:spPr>
          <a:xfrm>
            <a:off x="4864608" y="3268023"/>
            <a:ext cx="3977641" cy="15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✓  FastAPI REST layer exposing 8 production endpoints</a:t>
            </a:r>
          </a:p>
        </p:txBody>
      </p:sp>
      <p:sp>
        <p:nvSpPr>
          <p:cNvPr id="127" name="Shape 31"/>
          <p:cNvSpPr/>
          <p:nvPr/>
        </p:nvSpPr>
        <p:spPr>
          <a:xfrm>
            <a:off x="4800600" y="3621023"/>
            <a:ext cx="4114800" cy="402337"/>
          </a:xfrm>
          <a:prstGeom prst="rect">
            <a:avLst/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" name="Text 32"/>
          <p:cNvSpPr txBox="1"/>
          <p:nvPr/>
        </p:nvSpPr>
        <p:spPr>
          <a:xfrm>
            <a:off x="4864608" y="3743511"/>
            <a:ext cx="3977641" cy="15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✓  Full audit trail + explainable risk scoring</a:t>
            </a:r>
          </a:p>
        </p:txBody>
      </p:sp>
      <p:sp>
        <p:nvSpPr>
          <p:cNvPr id="129" name="Shape 33"/>
          <p:cNvSpPr/>
          <p:nvPr/>
        </p:nvSpPr>
        <p:spPr>
          <a:xfrm>
            <a:off x="4800600" y="4096511"/>
            <a:ext cx="4114800" cy="40233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" name="Text 34"/>
          <p:cNvSpPr txBox="1"/>
          <p:nvPr/>
        </p:nvSpPr>
        <p:spPr>
          <a:xfrm>
            <a:off x="4864608" y="4218999"/>
            <a:ext cx="3977641" cy="15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✓  RBAC + prompt injection defense + LLMOps observability</a:t>
            </a:r>
          </a:p>
        </p:txBody>
      </p:sp>
      <p:sp>
        <p:nvSpPr>
          <p:cNvPr id="131" name="Text 35"/>
          <p:cNvSpPr txBox="1"/>
          <p:nvPr/>
        </p:nvSpPr>
        <p:spPr>
          <a:xfrm>
            <a:off x="0" y="4999989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1"/>
          <p:cNvSpPr txBox="1"/>
          <p:nvPr/>
        </p:nvSpPr>
        <p:spPr>
          <a:xfrm>
            <a:off x="274320" y="218529"/>
            <a:ext cx="64008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High Level Design (HLD)</a:t>
            </a:r>
          </a:p>
        </p:txBody>
      </p:sp>
      <p:sp>
        <p:nvSpPr>
          <p:cNvPr id="135" name="Text 2"/>
          <p:cNvSpPr txBox="1"/>
          <p:nvPr/>
        </p:nvSpPr>
        <p:spPr>
          <a:xfrm>
            <a:off x="6400800" y="274364"/>
            <a:ext cx="25603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</a:defRPr>
            </a:lvl1pPr>
          </a:lstStyle>
          <a:p>
            <a:pPr/>
            <a:r>
              <a:t>System Architecture — Component Overview</a:t>
            </a:r>
          </a:p>
        </p:txBody>
      </p:sp>
      <p:sp>
        <p:nvSpPr>
          <p:cNvPr id="136" name="Shape 3"/>
          <p:cNvSpPr/>
          <p:nvPr/>
        </p:nvSpPr>
        <p:spPr>
          <a:xfrm>
            <a:off x="228600" y="804672"/>
            <a:ext cx="8686800" cy="5669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" name="Shape 4"/>
          <p:cNvSpPr/>
          <p:nvPr/>
        </p:nvSpPr>
        <p:spPr>
          <a:xfrm>
            <a:off x="228600" y="804672"/>
            <a:ext cx="2377440" cy="566928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5"/>
          <p:cNvSpPr txBox="1"/>
          <p:nvPr/>
        </p:nvSpPr>
        <p:spPr>
          <a:xfrm>
            <a:off x="228600" y="1019600"/>
            <a:ext cx="23774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EXPERIENCE LAYER</a:t>
            </a:r>
          </a:p>
        </p:txBody>
      </p:sp>
      <p:sp>
        <p:nvSpPr>
          <p:cNvPr id="139" name="Text 6"/>
          <p:cNvSpPr txBox="1"/>
          <p:nvPr/>
        </p:nvSpPr>
        <p:spPr>
          <a:xfrm>
            <a:off x="2743199" y="1019600"/>
            <a:ext cx="6080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FastAPI REST API  ·  /transactions  ·  /flags  ·  /summary  ·  /dashboard  ·  Power BI</a:t>
            </a:r>
          </a:p>
        </p:txBody>
      </p:sp>
      <p:sp>
        <p:nvSpPr>
          <p:cNvPr id="140" name="Text 7"/>
          <p:cNvSpPr txBox="1"/>
          <p:nvPr/>
        </p:nvSpPr>
        <p:spPr>
          <a:xfrm>
            <a:off x="4297679" y="1348784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066CC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41" name="Shape 8"/>
          <p:cNvSpPr/>
          <p:nvPr/>
        </p:nvSpPr>
        <p:spPr>
          <a:xfrm>
            <a:off x="228600" y="1472183"/>
            <a:ext cx="8686800" cy="566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" name="Shape 9"/>
          <p:cNvSpPr/>
          <p:nvPr/>
        </p:nvSpPr>
        <p:spPr>
          <a:xfrm>
            <a:off x="228600" y="1472183"/>
            <a:ext cx="2377440" cy="566929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10"/>
          <p:cNvSpPr txBox="1"/>
          <p:nvPr/>
        </p:nvSpPr>
        <p:spPr>
          <a:xfrm>
            <a:off x="228600" y="1687112"/>
            <a:ext cx="23774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SECURITY &amp; GOVERNANCE</a:t>
            </a:r>
          </a:p>
        </p:txBody>
      </p:sp>
      <p:sp>
        <p:nvSpPr>
          <p:cNvPr id="144" name="Text 11"/>
          <p:cNvSpPr txBox="1"/>
          <p:nvPr/>
        </p:nvSpPr>
        <p:spPr>
          <a:xfrm>
            <a:off x="2743199" y="1687112"/>
            <a:ext cx="6080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Prompt Injection Guard  ·  RBAC (analyst/compliance/admin)  ·  Data Masking  ·  Audit Trail</a:t>
            </a:r>
          </a:p>
        </p:txBody>
      </p:sp>
      <p:sp>
        <p:nvSpPr>
          <p:cNvPr id="145" name="Text 12"/>
          <p:cNvSpPr txBox="1"/>
          <p:nvPr/>
        </p:nvSpPr>
        <p:spPr>
          <a:xfrm>
            <a:off x="4297679" y="2016296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066CC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46" name="Shape 13"/>
          <p:cNvSpPr/>
          <p:nvPr/>
        </p:nvSpPr>
        <p:spPr>
          <a:xfrm>
            <a:off x="228600" y="2139695"/>
            <a:ext cx="8686800" cy="566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" name="Shape 14"/>
          <p:cNvSpPr/>
          <p:nvPr/>
        </p:nvSpPr>
        <p:spPr>
          <a:xfrm>
            <a:off x="228600" y="2139695"/>
            <a:ext cx="2377440" cy="566929"/>
          </a:xfrm>
          <a:prstGeom prst="rect">
            <a:avLst/>
          </a:prstGeom>
          <a:solidFill>
            <a:srgbClr val="6633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15"/>
          <p:cNvSpPr txBox="1"/>
          <p:nvPr/>
        </p:nvSpPr>
        <p:spPr>
          <a:xfrm>
            <a:off x="228600" y="2354624"/>
            <a:ext cx="23774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GenAI ORCHESTRATION</a:t>
            </a:r>
          </a:p>
        </p:txBody>
      </p:sp>
      <p:sp>
        <p:nvSpPr>
          <p:cNvPr id="149" name="Text 16"/>
          <p:cNvSpPr txBox="1"/>
          <p:nvPr/>
        </p:nvSpPr>
        <p:spPr>
          <a:xfrm>
            <a:off x="2743199" y="2354624"/>
            <a:ext cx="6080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MCPRiskOrchestrator  ·  AgentRouter  ·  RetrieverAgent  ·  ReasonerAgent  ·  ValidatorAgent</a:t>
            </a:r>
          </a:p>
        </p:txBody>
      </p:sp>
      <p:sp>
        <p:nvSpPr>
          <p:cNvPr id="150" name="Text 17"/>
          <p:cNvSpPr txBox="1"/>
          <p:nvPr/>
        </p:nvSpPr>
        <p:spPr>
          <a:xfrm>
            <a:off x="4297679" y="2683808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066CC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51" name="Shape 18"/>
          <p:cNvSpPr/>
          <p:nvPr/>
        </p:nvSpPr>
        <p:spPr>
          <a:xfrm>
            <a:off x="228600" y="2807207"/>
            <a:ext cx="8686800" cy="566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" name="Shape 19"/>
          <p:cNvSpPr/>
          <p:nvPr/>
        </p:nvSpPr>
        <p:spPr>
          <a:xfrm>
            <a:off x="228600" y="2807207"/>
            <a:ext cx="2377440" cy="566929"/>
          </a:xfrm>
          <a:prstGeom prst="rect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20"/>
          <p:cNvSpPr txBox="1"/>
          <p:nvPr/>
        </p:nvSpPr>
        <p:spPr>
          <a:xfrm>
            <a:off x="228600" y="3022136"/>
            <a:ext cx="23774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KNOWLEDGE &amp; RAG</a:t>
            </a:r>
          </a:p>
        </p:txBody>
      </p:sp>
      <p:sp>
        <p:nvSpPr>
          <p:cNvPr id="154" name="Text 21"/>
          <p:cNvSpPr txBox="1"/>
          <p:nvPr/>
        </p:nvSpPr>
        <p:spPr>
          <a:xfrm>
            <a:off x="2743199" y="3022136"/>
            <a:ext cx="6080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AML Policy Corpus  ·  SentenceTransformer MiniLM-L6-v2  ·  FAISS IndexFlatL2 (384-dim)</a:t>
            </a:r>
          </a:p>
        </p:txBody>
      </p:sp>
      <p:sp>
        <p:nvSpPr>
          <p:cNvPr id="155" name="Text 22"/>
          <p:cNvSpPr txBox="1"/>
          <p:nvPr/>
        </p:nvSpPr>
        <p:spPr>
          <a:xfrm>
            <a:off x="4297679" y="3351320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066CC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56" name="Shape 23"/>
          <p:cNvSpPr/>
          <p:nvPr/>
        </p:nvSpPr>
        <p:spPr>
          <a:xfrm>
            <a:off x="228600" y="3474720"/>
            <a:ext cx="8686800" cy="566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" name="Shape 24"/>
          <p:cNvSpPr/>
          <p:nvPr/>
        </p:nvSpPr>
        <p:spPr>
          <a:xfrm>
            <a:off x="228600" y="3474720"/>
            <a:ext cx="2377440" cy="566929"/>
          </a:xfrm>
          <a:prstGeom prst="rect">
            <a:avLst/>
          </a:prstGeom>
          <a:solidFill>
            <a:srgbClr val="1166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25"/>
          <p:cNvSpPr txBox="1"/>
          <p:nvPr/>
        </p:nvSpPr>
        <p:spPr>
          <a:xfrm>
            <a:off x="228600" y="3689648"/>
            <a:ext cx="23774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LAKEHOUSE DATA LAYER</a:t>
            </a:r>
          </a:p>
        </p:txBody>
      </p:sp>
      <p:sp>
        <p:nvSpPr>
          <p:cNvPr id="159" name="Text 26"/>
          <p:cNvSpPr txBox="1"/>
          <p:nvPr/>
        </p:nvSpPr>
        <p:spPr>
          <a:xfrm>
            <a:off x="2743199" y="3689648"/>
            <a:ext cx="6080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Bronze (Raw Ingestion)  ·  Silver (Cleaned + PII Masked)  ·  Gold (Risk Scored + Categorised)</a:t>
            </a:r>
          </a:p>
        </p:txBody>
      </p:sp>
      <p:sp>
        <p:nvSpPr>
          <p:cNvPr id="160" name="Text 27"/>
          <p:cNvSpPr txBox="1"/>
          <p:nvPr/>
        </p:nvSpPr>
        <p:spPr>
          <a:xfrm>
            <a:off x="4297679" y="4018832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066CC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61" name="Shape 28"/>
          <p:cNvSpPr/>
          <p:nvPr/>
        </p:nvSpPr>
        <p:spPr>
          <a:xfrm>
            <a:off x="228600" y="4142232"/>
            <a:ext cx="8686800" cy="566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" name="Shape 29"/>
          <p:cNvSpPr/>
          <p:nvPr/>
        </p:nvSpPr>
        <p:spPr>
          <a:xfrm>
            <a:off x="228600" y="4142232"/>
            <a:ext cx="2377440" cy="566929"/>
          </a:xfrm>
          <a:prstGeom prst="rect">
            <a:avLst/>
          </a:prstGeom>
          <a:solidFill>
            <a:srgbClr val="88552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30"/>
          <p:cNvSpPr txBox="1"/>
          <p:nvPr/>
        </p:nvSpPr>
        <p:spPr>
          <a:xfrm>
            <a:off x="228600" y="4357160"/>
            <a:ext cx="23774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LLMOps &amp; OBSERVABILITY</a:t>
            </a:r>
          </a:p>
        </p:txBody>
      </p:sp>
      <p:sp>
        <p:nvSpPr>
          <p:cNvPr id="164" name="Text 31"/>
          <p:cNvSpPr txBox="1"/>
          <p:nvPr/>
        </p:nvSpPr>
        <p:spPr>
          <a:xfrm>
            <a:off x="2743199" y="4357160"/>
            <a:ext cx="6080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</a:defRPr>
            </a:lvl1pPr>
          </a:lstStyle>
          <a:p>
            <a:pPr/>
            <a:r>
              <a:t>LLMOpsTracker  ·  AILineageTracker  ·  Latency Metrics  ·  Audit Log  ·  FastAPI /metrics</a:t>
            </a:r>
          </a:p>
        </p:txBody>
      </p:sp>
      <p:sp>
        <p:nvSpPr>
          <p:cNvPr id="165" name="Text 32"/>
          <p:cNvSpPr txBox="1"/>
          <p:nvPr/>
        </p:nvSpPr>
        <p:spPr>
          <a:xfrm>
            <a:off x="228599" y="4881419"/>
            <a:ext cx="2103122" cy="130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◆ Scalability: Stateless agents, horizontal scaling</a:t>
            </a:r>
          </a:p>
        </p:txBody>
      </p:sp>
      <p:sp>
        <p:nvSpPr>
          <p:cNvPr id="166" name="Text 33"/>
          <p:cNvSpPr txBox="1"/>
          <p:nvPr/>
        </p:nvSpPr>
        <p:spPr>
          <a:xfrm>
            <a:off x="2441448" y="4817919"/>
            <a:ext cx="2103121" cy="257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◆ Resilience: Error handling + fallback at each layer</a:t>
            </a:r>
          </a:p>
        </p:txBody>
      </p:sp>
      <p:sp>
        <p:nvSpPr>
          <p:cNvPr id="167" name="Text 34"/>
          <p:cNvSpPr txBox="1"/>
          <p:nvPr/>
        </p:nvSpPr>
        <p:spPr>
          <a:xfrm>
            <a:off x="4654296" y="4881419"/>
            <a:ext cx="2103121" cy="130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◆ Security: Defense-in-depth with layered controls</a:t>
            </a:r>
          </a:p>
        </p:txBody>
      </p:sp>
      <p:sp>
        <p:nvSpPr>
          <p:cNvPr id="168" name="Text 35"/>
          <p:cNvSpPr txBox="1"/>
          <p:nvPr/>
        </p:nvSpPr>
        <p:spPr>
          <a:xfrm>
            <a:off x="6867143" y="4881419"/>
            <a:ext cx="2103121" cy="130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◆ Observability: End-to-end traceability &amp; metrics</a:t>
            </a:r>
          </a:p>
        </p:txBody>
      </p:sp>
      <p:sp>
        <p:nvSpPr>
          <p:cNvPr id="169" name="Text 36"/>
          <p:cNvSpPr txBox="1"/>
          <p:nvPr/>
        </p:nvSpPr>
        <p:spPr>
          <a:xfrm>
            <a:off x="0" y="4999989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1"/>
          <p:cNvSpPr txBox="1"/>
          <p:nvPr/>
        </p:nvSpPr>
        <p:spPr>
          <a:xfrm>
            <a:off x="274320" y="218529"/>
            <a:ext cx="64008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Lakehouse Data Pipeline — LLD</a:t>
            </a:r>
          </a:p>
        </p:txBody>
      </p:sp>
      <p:sp>
        <p:nvSpPr>
          <p:cNvPr id="173" name="Text 2"/>
          <p:cNvSpPr txBox="1"/>
          <p:nvPr/>
        </p:nvSpPr>
        <p:spPr>
          <a:xfrm>
            <a:off x="6400800" y="274364"/>
            <a:ext cx="25603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</a:defRPr>
            </a:lvl1pPr>
          </a:lstStyle>
          <a:p>
            <a:pPr/>
            <a:r>
              <a:t>Bronze → Silver → Gold Architecture</a:t>
            </a:r>
          </a:p>
        </p:txBody>
      </p:sp>
      <p:sp>
        <p:nvSpPr>
          <p:cNvPr id="174" name="Shape 3"/>
          <p:cNvSpPr/>
          <p:nvPr/>
        </p:nvSpPr>
        <p:spPr>
          <a:xfrm>
            <a:off x="137160" y="804672"/>
            <a:ext cx="2057401" cy="384049"/>
          </a:xfrm>
          <a:prstGeom prst="rect">
            <a:avLst/>
          </a:prstGeom>
          <a:solidFill>
            <a:srgbClr val="8B451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4"/>
          <p:cNvSpPr txBox="1"/>
          <p:nvPr/>
        </p:nvSpPr>
        <p:spPr>
          <a:xfrm>
            <a:off x="137160" y="933196"/>
            <a:ext cx="205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BRONZE LAYER</a:t>
            </a:r>
          </a:p>
        </p:txBody>
      </p:sp>
      <p:sp>
        <p:nvSpPr>
          <p:cNvPr id="176" name="Shape 5"/>
          <p:cNvSpPr/>
          <p:nvPr/>
        </p:nvSpPr>
        <p:spPr>
          <a:xfrm>
            <a:off x="137160" y="1207008"/>
            <a:ext cx="2057401" cy="21945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" name="Text 6"/>
          <p:cNvSpPr txBox="1"/>
          <p:nvPr/>
        </p:nvSpPr>
        <p:spPr>
          <a:xfrm>
            <a:off x="210312" y="1408683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Raw Spark DataFrame</a:t>
            </a:r>
          </a:p>
        </p:txBody>
      </p:sp>
      <p:sp>
        <p:nvSpPr>
          <p:cNvPr id="178" name="Text 7"/>
          <p:cNvSpPr txBox="1"/>
          <p:nvPr/>
        </p:nvSpPr>
        <p:spPr>
          <a:xfrm>
            <a:off x="210312" y="1911604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5 transactions ingested</a:t>
            </a:r>
          </a:p>
        </p:txBody>
      </p:sp>
      <p:sp>
        <p:nvSpPr>
          <p:cNvPr id="179" name="Text 8"/>
          <p:cNvSpPr txBox="1"/>
          <p:nvPr/>
        </p:nvSpPr>
        <p:spPr>
          <a:xfrm>
            <a:off x="210312" y="2350937"/>
            <a:ext cx="1920240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Schema: txn_id, customer_id, amount, country</a:t>
            </a:r>
          </a:p>
        </p:txBody>
      </p:sp>
      <p:sp>
        <p:nvSpPr>
          <p:cNvPr id="180" name="Text 9"/>
          <p:cNvSpPr txBox="1"/>
          <p:nvPr/>
        </p:nvSpPr>
        <p:spPr>
          <a:xfrm>
            <a:off x="210312" y="2917444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Append-only immutable records</a:t>
            </a:r>
          </a:p>
        </p:txBody>
      </p:sp>
      <p:sp>
        <p:nvSpPr>
          <p:cNvPr id="181" name="Text 10"/>
          <p:cNvSpPr txBox="1"/>
          <p:nvPr/>
        </p:nvSpPr>
        <p:spPr>
          <a:xfrm>
            <a:off x="2194560" y="1769943"/>
            <a:ext cx="164593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066CC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2" name="Shape 11"/>
          <p:cNvSpPr/>
          <p:nvPr/>
        </p:nvSpPr>
        <p:spPr>
          <a:xfrm>
            <a:off x="2368295" y="804672"/>
            <a:ext cx="2057401" cy="384049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Text 12"/>
          <p:cNvSpPr txBox="1"/>
          <p:nvPr/>
        </p:nvSpPr>
        <p:spPr>
          <a:xfrm>
            <a:off x="2368295" y="933196"/>
            <a:ext cx="205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SILVER LAYER</a:t>
            </a:r>
          </a:p>
        </p:txBody>
      </p:sp>
      <p:sp>
        <p:nvSpPr>
          <p:cNvPr id="184" name="Shape 13"/>
          <p:cNvSpPr/>
          <p:nvPr/>
        </p:nvSpPr>
        <p:spPr>
          <a:xfrm>
            <a:off x="2368295" y="1207008"/>
            <a:ext cx="2057401" cy="21945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" name="Text 14"/>
          <p:cNvSpPr txBox="1"/>
          <p:nvPr/>
        </p:nvSpPr>
        <p:spPr>
          <a:xfrm>
            <a:off x="2441448" y="1408683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filter(amount &gt; 0)</a:t>
            </a:r>
          </a:p>
        </p:txBody>
      </p:sp>
      <p:sp>
        <p:nvSpPr>
          <p:cNvPr id="186" name="Text 15"/>
          <p:cNvSpPr txBox="1"/>
          <p:nvPr/>
        </p:nvSpPr>
        <p:spPr>
          <a:xfrm>
            <a:off x="2441448" y="1911604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dropDuplicates([txn_id])</a:t>
            </a:r>
          </a:p>
        </p:txBody>
      </p:sp>
      <p:sp>
        <p:nvSpPr>
          <p:cNvPr id="187" name="Text 16"/>
          <p:cNvSpPr txBox="1"/>
          <p:nvPr/>
        </p:nvSpPr>
        <p:spPr>
          <a:xfrm>
            <a:off x="2441448" y="2350937"/>
            <a:ext cx="19202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PII masking: customer_id → first 4 + ****</a:t>
            </a:r>
          </a:p>
        </p:txBody>
      </p:sp>
      <p:sp>
        <p:nvSpPr>
          <p:cNvPr id="188" name="Text 17"/>
          <p:cNvSpPr txBox="1"/>
          <p:nvPr/>
        </p:nvSpPr>
        <p:spPr>
          <a:xfrm>
            <a:off x="2441448" y="2917444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Clean validated records</a:t>
            </a:r>
          </a:p>
        </p:txBody>
      </p:sp>
      <p:sp>
        <p:nvSpPr>
          <p:cNvPr id="189" name="Text 18"/>
          <p:cNvSpPr txBox="1"/>
          <p:nvPr/>
        </p:nvSpPr>
        <p:spPr>
          <a:xfrm>
            <a:off x="4425696" y="1769943"/>
            <a:ext cx="164593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066CC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0" name="Shape 19"/>
          <p:cNvSpPr/>
          <p:nvPr/>
        </p:nvSpPr>
        <p:spPr>
          <a:xfrm>
            <a:off x="4599432" y="804672"/>
            <a:ext cx="2057401" cy="384049"/>
          </a:xfrm>
          <a:prstGeom prst="rect">
            <a:avLst/>
          </a:prstGeom>
          <a:solidFill>
            <a:srgbClr val="00AA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20"/>
          <p:cNvSpPr txBox="1"/>
          <p:nvPr/>
        </p:nvSpPr>
        <p:spPr>
          <a:xfrm>
            <a:off x="4599432" y="933196"/>
            <a:ext cx="205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GOLD LAYER</a:t>
            </a:r>
          </a:p>
        </p:txBody>
      </p:sp>
      <p:sp>
        <p:nvSpPr>
          <p:cNvPr id="192" name="Shape 21"/>
          <p:cNvSpPr/>
          <p:nvPr/>
        </p:nvSpPr>
        <p:spPr>
          <a:xfrm>
            <a:off x="4599432" y="1207008"/>
            <a:ext cx="2057401" cy="21945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" name="Text 22"/>
          <p:cNvSpPr txBox="1"/>
          <p:nvPr/>
        </p:nvSpPr>
        <p:spPr>
          <a:xfrm>
            <a:off x="4672584" y="1345097"/>
            <a:ext cx="19202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Risk score: amount &gt; 20K → +3, &gt; 10K → +2</a:t>
            </a:r>
          </a:p>
        </p:txBody>
      </p:sp>
      <p:sp>
        <p:nvSpPr>
          <p:cNvPr id="194" name="Text 23"/>
          <p:cNvSpPr txBox="1"/>
          <p:nvPr/>
        </p:nvSpPr>
        <p:spPr>
          <a:xfrm>
            <a:off x="4672584" y="1911604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Sanctioned country (NK, Nigeria) → +3</a:t>
            </a:r>
          </a:p>
        </p:txBody>
      </p:sp>
      <p:sp>
        <p:nvSpPr>
          <p:cNvPr id="195" name="Text 24"/>
          <p:cNvSpPr txBox="1"/>
          <p:nvPr/>
        </p:nvSpPr>
        <p:spPr>
          <a:xfrm>
            <a:off x="4672584" y="2414523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risk_category: High (≥2) / Low</a:t>
            </a:r>
          </a:p>
        </p:txBody>
      </p:sp>
      <p:sp>
        <p:nvSpPr>
          <p:cNvPr id="196" name="Text 25"/>
          <p:cNvSpPr txBox="1"/>
          <p:nvPr/>
        </p:nvSpPr>
        <p:spPr>
          <a:xfrm>
            <a:off x="4672584" y="2917444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sar_required flag computed</a:t>
            </a:r>
          </a:p>
        </p:txBody>
      </p:sp>
      <p:sp>
        <p:nvSpPr>
          <p:cNvPr id="197" name="Text 26"/>
          <p:cNvSpPr txBox="1"/>
          <p:nvPr/>
        </p:nvSpPr>
        <p:spPr>
          <a:xfrm>
            <a:off x="6656831" y="1769943"/>
            <a:ext cx="164593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066CC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8" name="Shape 27"/>
          <p:cNvSpPr/>
          <p:nvPr/>
        </p:nvSpPr>
        <p:spPr>
          <a:xfrm>
            <a:off x="6830568" y="804672"/>
            <a:ext cx="2057401" cy="384049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28"/>
          <p:cNvSpPr txBox="1"/>
          <p:nvPr/>
        </p:nvSpPr>
        <p:spPr>
          <a:xfrm>
            <a:off x="6830568" y="933196"/>
            <a:ext cx="205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API + DASHBOARD</a:t>
            </a:r>
          </a:p>
        </p:txBody>
      </p:sp>
      <p:sp>
        <p:nvSpPr>
          <p:cNvPr id="200" name="Shape 29"/>
          <p:cNvSpPr/>
          <p:nvPr/>
        </p:nvSpPr>
        <p:spPr>
          <a:xfrm>
            <a:off x="6830568" y="1207008"/>
            <a:ext cx="2057401" cy="21945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" name="Text 30"/>
          <p:cNvSpPr txBox="1"/>
          <p:nvPr/>
        </p:nvSpPr>
        <p:spPr>
          <a:xfrm>
            <a:off x="6903719" y="1408683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FastAPI serves Gold results</a:t>
            </a:r>
          </a:p>
        </p:txBody>
      </p:sp>
      <p:sp>
        <p:nvSpPr>
          <p:cNvPr id="202" name="Text 31"/>
          <p:cNvSpPr txBox="1"/>
          <p:nvPr/>
        </p:nvSpPr>
        <p:spPr>
          <a:xfrm>
            <a:off x="6903719" y="1911604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8 REST endpoints exposed</a:t>
            </a:r>
          </a:p>
        </p:txBody>
      </p:sp>
      <p:sp>
        <p:nvSpPr>
          <p:cNvPr id="203" name="Text 32"/>
          <p:cNvSpPr txBox="1"/>
          <p:nvPr/>
        </p:nvSpPr>
        <p:spPr>
          <a:xfrm>
            <a:off x="6903719" y="2414523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aml_full_results.json consumed</a:t>
            </a:r>
          </a:p>
        </p:txBody>
      </p:sp>
      <p:sp>
        <p:nvSpPr>
          <p:cNvPr id="204" name="Text 33"/>
          <p:cNvSpPr txBox="1"/>
          <p:nvPr/>
        </p:nvSpPr>
        <p:spPr>
          <a:xfrm>
            <a:off x="6903719" y="2917444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Power BI / dashboard.html</a:t>
            </a:r>
          </a:p>
        </p:txBody>
      </p:sp>
      <p:sp>
        <p:nvSpPr>
          <p:cNvPr id="205" name="Shape 34"/>
          <p:cNvSpPr/>
          <p:nvPr/>
        </p:nvSpPr>
        <p:spPr>
          <a:xfrm>
            <a:off x="228600" y="3547871"/>
            <a:ext cx="8686800" cy="320041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35"/>
          <p:cNvSpPr txBox="1"/>
          <p:nvPr/>
        </p:nvSpPr>
        <p:spPr>
          <a:xfrm>
            <a:off x="228600" y="3639356"/>
            <a:ext cx="86868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DATA QUALITY &amp; GOVERNANCE CONTROLS</a:t>
            </a:r>
          </a:p>
        </p:txBody>
      </p:sp>
      <p:sp>
        <p:nvSpPr>
          <p:cNvPr id="207" name="Shape 36"/>
          <p:cNvSpPr/>
          <p:nvPr/>
        </p:nvSpPr>
        <p:spPr>
          <a:xfrm>
            <a:off x="228600" y="3895344"/>
            <a:ext cx="2121408" cy="8229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" name="Text 37"/>
          <p:cNvSpPr txBox="1"/>
          <p:nvPr/>
        </p:nvSpPr>
        <p:spPr>
          <a:xfrm>
            <a:off x="228600" y="3986828"/>
            <a:ext cx="2121408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066CC"/>
                </a:solidFill>
              </a:defRPr>
            </a:lvl1pPr>
          </a:lstStyle>
          <a:p>
            <a:pPr/>
            <a:r>
              <a:t>Completeness</a:t>
            </a:r>
          </a:p>
        </p:txBody>
      </p:sp>
      <p:sp>
        <p:nvSpPr>
          <p:cNvPr id="209" name="Text 38"/>
          <p:cNvSpPr txBox="1"/>
          <p:nvPr/>
        </p:nvSpPr>
        <p:spPr>
          <a:xfrm>
            <a:off x="274320" y="4346483"/>
            <a:ext cx="2029968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All mandatory fields present, null thresholds enforced</a:t>
            </a:r>
          </a:p>
        </p:txBody>
      </p:sp>
      <p:sp>
        <p:nvSpPr>
          <p:cNvPr id="210" name="Shape 39"/>
          <p:cNvSpPr/>
          <p:nvPr/>
        </p:nvSpPr>
        <p:spPr>
          <a:xfrm>
            <a:off x="2441448" y="3895344"/>
            <a:ext cx="2121408" cy="8229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" name="Text 40"/>
          <p:cNvSpPr txBox="1"/>
          <p:nvPr/>
        </p:nvSpPr>
        <p:spPr>
          <a:xfrm>
            <a:off x="2441448" y="3986828"/>
            <a:ext cx="2121408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066CC"/>
                </a:solidFill>
              </a:defRPr>
            </a:lvl1pPr>
          </a:lstStyle>
          <a:p>
            <a:pPr/>
            <a:r>
              <a:t>Uniqueness</a:t>
            </a:r>
          </a:p>
        </p:txBody>
      </p:sp>
      <p:sp>
        <p:nvSpPr>
          <p:cNvPr id="212" name="Text 41"/>
          <p:cNvSpPr txBox="1"/>
          <p:nvPr/>
        </p:nvSpPr>
        <p:spPr>
          <a:xfrm>
            <a:off x="2487167" y="4398771"/>
            <a:ext cx="20299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Dedup by txn_id, idempotent pipeline runs</a:t>
            </a:r>
          </a:p>
        </p:txBody>
      </p:sp>
      <p:sp>
        <p:nvSpPr>
          <p:cNvPr id="213" name="Shape 42"/>
          <p:cNvSpPr/>
          <p:nvPr/>
        </p:nvSpPr>
        <p:spPr>
          <a:xfrm>
            <a:off x="4654296" y="3895344"/>
            <a:ext cx="2121409" cy="8229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" name="Text 43"/>
          <p:cNvSpPr txBox="1"/>
          <p:nvPr/>
        </p:nvSpPr>
        <p:spPr>
          <a:xfrm>
            <a:off x="4654296" y="3986828"/>
            <a:ext cx="2121409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066CC"/>
                </a:solidFill>
              </a:defRPr>
            </a:lvl1pPr>
          </a:lstStyle>
          <a:p>
            <a:pPr/>
            <a:r>
              <a:t>Accuracy</a:t>
            </a:r>
          </a:p>
        </p:txBody>
      </p:sp>
      <p:sp>
        <p:nvSpPr>
          <p:cNvPr id="215" name="Text 44"/>
          <p:cNvSpPr txBox="1"/>
          <p:nvPr/>
        </p:nvSpPr>
        <p:spPr>
          <a:xfrm>
            <a:off x="4700015" y="4398771"/>
            <a:ext cx="20299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Amount range validation, country code lookup</a:t>
            </a:r>
          </a:p>
        </p:txBody>
      </p:sp>
      <p:sp>
        <p:nvSpPr>
          <p:cNvPr id="216" name="Shape 45"/>
          <p:cNvSpPr/>
          <p:nvPr/>
        </p:nvSpPr>
        <p:spPr>
          <a:xfrm>
            <a:off x="6867143" y="3895344"/>
            <a:ext cx="2121409" cy="8229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" name="Text 46"/>
          <p:cNvSpPr txBox="1"/>
          <p:nvPr/>
        </p:nvSpPr>
        <p:spPr>
          <a:xfrm>
            <a:off x="6867143" y="3986828"/>
            <a:ext cx="2121409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066CC"/>
                </a:solidFill>
              </a:defRPr>
            </a:lvl1pPr>
          </a:lstStyle>
          <a:p>
            <a:pPr/>
            <a:r>
              <a:t>Lineage</a:t>
            </a:r>
          </a:p>
        </p:txBody>
      </p:sp>
      <p:sp>
        <p:nvSpPr>
          <p:cNvPr id="218" name="Text 47"/>
          <p:cNvSpPr txBox="1"/>
          <p:nvPr/>
        </p:nvSpPr>
        <p:spPr>
          <a:xfrm>
            <a:off x="6912864" y="4346483"/>
            <a:ext cx="2029969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Delta Lake audit log, row-level provenance, AILineageTracker</a:t>
            </a:r>
          </a:p>
        </p:txBody>
      </p:sp>
      <p:sp>
        <p:nvSpPr>
          <p:cNvPr id="219" name="Text 48"/>
          <p:cNvSpPr txBox="1"/>
          <p:nvPr/>
        </p:nvSpPr>
        <p:spPr>
          <a:xfrm>
            <a:off x="0" y="4999989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Text 1"/>
          <p:cNvSpPr txBox="1"/>
          <p:nvPr/>
        </p:nvSpPr>
        <p:spPr>
          <a:xfrm>
            <a:off x="274320" y="218529"/>
            <a:ext cx="64008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Low Level Design — RAG Pipeline</a:t>
            </a:r>
          </a:p>
        </p:txBody>
      </p:sp>
      <p:sp>
        <p:nvSpPr>
          <p:cNvPr id="223" name="Text 2"/>
          <p:cNvSpPr txBox="1"/>
          <p:nvPr/>
        </p:nvSpPr>
        <p:spPr>
          <a:xfrm>
            <a:off x="6400800" y="274364"/>
            <a:ext cx="25603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</a:defRPr>
            </a:lvl1pPr>
          </a:lstStyle>
          <a:p>
            <a:pPr/>
            <a:r>
              <a:t>Offline Indexing vs Online Retrieval</a:t>
            </a:r>
          </a:p>
        </p:txBody>
      </p:sp>
      <p:sp>
        <p:nvSpPr>
          <p:cNvPr id="224" name="Shape 3"/>
          <p:cNvSpPr/>
          <p:nvPr/>
        </p:nvSpPr>
        <p:spPr>
          <a:xfrm>
            <a:off x="228600" y="804672"/>
            <a:ext cx="1920240" cy="365761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Text 4"/>
          <p:cNvSpPr txBox="1"/>
          <p:nvPr/>
        </p:nvSpPr>
        <p:spPr>
          <a:xfrm>
            <a:off x="228600" y="919016"/>
            <a:ext cx="19202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STAGE</a:t>
            </a:r>
          </a:p>
        </p:txBody>
      </p:sp>
      <p:sp>
        <p:nvSpPr>
          <p:cNvPr id="226" name="Shape 5"/>
          <p:cNvSpPr/>
          <p:nvPr/>
        </p:nvSpPr>
        <p:spPr>
          <a:xfrm>
            <a:off x="2240279" y="804672"/>
            <a:ext cx="3291842" cy="365761"/>
          </a:xfrm>
          <a:prstGeom prst="rect">
            <a:avLst/>
          </a:prstGeom>
          <a:solidFill>
            <a:srgbClr val="00557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Text 6"/>
          <p:cNvSpPr txBox="1"/>
          <p:nvPr/>
        </p:nvSpPr>
        <p:spPr>
          <a:xfrm>
            <a:off x="2240279" y="919016"/>
            <a:ext cx="32918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OFFLINE — Document Indexing</a:t>
            </a:r>
          </a:p>
        </p:txBody>
      </p:sp>
      <p:sp>
        <p:nvSpPr>
          <p:cNvPr id="228" name="Shape 7"/>
          <p:cNvSpPr/>
          <p:nvPr/>
        </p:nvSpPr>
        <p:spPr>
          <a:xfrm>
            <a:off x="5623559" y="804672"/>
            <a:ext cx="3291841" cy="365761"/>
          </a:xfrm>
          <a:prstGeom prst="rect">
            <a:avLst/>
          </a:prstGeom>
          <a:solidFill>
            <a:srgbClr val="2277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8"/>
          <p:cNvSpPr txBox="1"/>
          <p:nvPr/>
        </p:nvSpPr>
        <p:spPr>
          <a:xfrm>
            <a:off x="5623559" y="919016"/>
            <a:ext cx="3291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ONLINE — Retrieval at Inference</a:t>
            </a:r>
          </a:p>
        </p:txBody>
      </p:sp>
      <p:sp>
        <p:nvSpPr>
          <p:cNvPr id="230" name="Shape 9"/>
          <p:cNvSpPr/>
          <p:nvPr/>
        </p:nvSpPr>
        <p:spPr>
          <a:xfrm>
            <a:off x="228600" y="1207008"/>
            <a:ext cx="8686800" cy="5760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ext 10"/>
          <p:cNvSpPr txBox="1"/>
          <p:nvPr/>
        </p:nvSpPr>
        <p:spPr>
          <a:xfrm>
            <a:off x="274320" y="1431544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Input</a:t>
            </a:r>
          </a:p>
        </p:txBody>
      </p:sp>
      <p:sp>
        <p:nvSpPr>
          <p:cNvPr id="232" name="Text 11"/>
          <p:cNvSpPr txBox="1"/>
          <p:nvPr/>
        </p:nvSpPr>
        <p:spPr>
          <a:xfrm>
            <a:off x="2267711" y="1431544"/>
            <a:ext cx="3246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4 AML policy docs: thresholds, sanctions, structuring, crypto</a:t>
            </a:r>
          </a:p>
        </p:txBody>
      </p:sp>
      <p:sp>
        <p:nvSpPr>
          <p:cNvPr id="233" name="Text 12"/>
          <p:cNvSpPr txBox="1"/>
          <p:nvPr/>
        </p:nvSpPr>
        <p:spPr>
          <a:xfrm>
            <a:off x="5650991" y="1431544"/>
            <a:ext cx="3246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Live txn: txn_id, amount, country → structured NL query</a:t>
            </a:r>
          </a:p>
        </p:txBody>
      </p:sp>
      <p:sp>
        <p:nvSpPr>
          <p:cNvPr id="234" name="Shape 13"/>
          <p:cNvSpPr/>
          <p:nvPr/>
        </p:nvSpPr>
        <p:spPr>
          <a:xfrm>
            <a:off x="228600" y="1828800"/>
            <a:ext cx="8686800" cy="576073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Text 14"/>
          <p:cNvSpPr txBox="1"/>
          <p:nvPr/>
        </p:nvSpPr>
        <p:spPr>
          <a:xfrm>
            <a:off x="274320" y="2053336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Embedding</a:t>
            </a:r>
          </a:p>
        </p:txBody>
      </p:sp>
      <p:sp>
        <p:nvSpPr>
          <p:cNvPr id="236" name="Text 15"/>
          <p:cNvSpPr txBox="1"/>
          <p:nvPr/>
        </p:nvSpPr>
        <p:spPr>
          <a:xfrm>
            <a:off x="2267711" y="2053336"/>
            <a:ext cx="3246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SentenceTransformer MiniLM-L6-v2 → 384-dim float32 vectors</a:t>
            </a:r>
          </a:p>
        </p:txBody>
      </p:sp>
      <p:sp>
        <p:nvSpPr>
          <p:cNvPr id="237" name="Text 16"/>
          <p:cNvSpPr txBox="1"/>
          <p:nvPr/>
        </p:nvSpPr>
        <p:spPr>
          <a:xfrm>
            <a:off x="5650991" y="2053336"/>
            <a:ext cx="3246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Same MiniLM model — ensures same vector space for L2 comparison</a:t>
            </a:r>
          </a:p>
        </p:txBody>
      </p:sp>
      <p:sp>
        <p:nvSpPr>
          <p:cNvPr id="238" name="Shape 17"/>
          <p:cNvSpPr/>
          <p:nvPr/>
        </p:nvSpPr>
        <p:spPr>
          <a:xfrm>
            <a:off x="228600" y="2450592"/>
            <a:ext cx="8686800" cy="5760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18"/>
          <p:cNvSpPr txBox="1"/>
          <p:nvPr/>
        </p:nvSpPr>
        <p:spPr>
          <a:xfrm>
            <a:off x="274320" y="2675127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Index</a:t>
            </a:r>
          </a:p>
        </p:txBody>
      </p:sp>
      <p:sp>
        <p:nvSpPr>
          <p:cNvPr id="240" name="Text 19"/>
          <p:cNvSpPr txBox="1"/>
          <p:nvPr/>
        </p:nvSpPr>
        <p:spPr>
          <a:xfrm>
            <a:off x="2267711" y="2675127"/>
            <a:ext cx="3246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FAISS IndexFlatL2 built from all doc embeddings, stored in-memory</a:t>
            </a:r>
          </a:p>
        </p:txBody>
      </p:sp>
      <p:sp>
        <p:nvSpPr>
          <p:cNvPr id="241" name="Text 20"/>
          <p:cNvSpPr txBox="1"/>
          <p:nvPr/>
        </p:nvSpPr>
        <p:spPr>
          <a:xfrm>
            <a:off x="5650991" y="2675127"/>
            <a:ext cx="3246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L2 distance search: top-2 nearest policy chunks returned</a:t>
            </a:r>
          </a:p>
        </p:txBody>
      </p:sp>
      <p:sp>
        <p:nvSpPr>
          <p:cNvPr id="242" name="Shape 21"/>
          <p:cNvSpPr/>
          <p:nvPr/>
        </p:nvSpPr>
        <p:spPr>
          <a:xfrm>
            <a:off x="228600" y="3072383"/>
            <a:ext cx="8686800" cy="576073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22"/>
          <p:cNvSpPr txBox="1"/>
          <p:nvPr/>
        </p:nvSpPr>
        <p:spPr>
          <a:xfrm>
            <a:off x="274320" y="3296920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244" name="Text 23"/>
          <p:cNvSpPr txBox="1"/>
          <p:nvPr/>
        </p:nvSpPr>
        <p:spPr>
          <a:xfrm>
            <a:off x="2267711" y="3296920"/>
            <a:ext cx="3246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Populated FAISS index + doc metadata (id, source, version)</a:t>
            </a:r>
          </a:p>
        </p:txBody>
      </p:sp>
      <p:sp>
        <p:nvSpPr>
          <p:cNvPr id="245" name="Text 24"/>
          <p:cNvSpPr txBox="1"/>
          <p:nvPr/>
        </p:nvSpPr>
        <p:spPr>
          <a:xfrm>
            <a:off x="5650991" y="3296920"/>
            <a:ext cx="3246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Context package: top-k chunks delivered to ReasonerAgent</a:t>
            </a:r>
          </a:p>
        </p:txBody>
      </p:sp>
      <p:sp>
        <p:nvSpPr>
          <p:cNvPr id="246" name="Shape 25"/>
          <p:cNvSpPr/>
          <p:nvPr/>
        </p:nvSpPr>
        <p:spPr>
          <a:xfrm>
            <a:off x="228600" y="3694176"/>
            <a:ext cx="8686800" cy="5760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Text 26"/>
          <p:cNvSpPr txBox="1"/>
          <p:nvPr/>
        </p:nvSpPr>
        <p:spPr>
          <a:xfrm>
            <a:off x="274320" y="3918711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Enterprise</a:t>
            </a:r>
          </a:p>
        </p:txBody>
      </p:sp>
      <p:sp>
        <p:nvSpPr>
          <p:cNvPr id="248" name="Text 27"/>
          <p:cNvSpPr txBox="1"/>
          <p:nvPr/>
        </p:nvSpPr>
        <p:spPr>
          <a:xfrm>
            <a:off x="2267711" y="3918711"/>
            <a:ext cx="3246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Databricks Vector Search / Azure AI Search, scheduled pipeline</a:t>
            </a:r>
          </a:p>
        </p:txBody>
      </p:sp>
      <p:sp>
        <p:nvSpPr>
          <p:cNvPr id="249" name="Text 28"/>
          <p:cNvSpPr txBox="1"/>
          <p:nvPr/>
        </p:nvSpPr>
        <p:spPr>
          <a:xfrm>
            <a:off x="5650991" y="3918711"/>
            <a:ext cx="3246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Azure OpenAI Ada embeddings, managed retrieval with SLA + cache</a:t>
            </a:r>
          </a:p>
        </p:txBody>
      </p:sp>
      <p:sp>
        <p:nvSpPr>
          <p:cNvPr id="250" name="Shape 29"/>
          <p:cNvSpPr/>
          <p:nvPr/>
        </p:nvSpPr>
        <p:spPr>
          <a:xfrm>
            <a:off x="228600" y="4334255"/>
            <a:ext cx="8686800" cy="530353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 30"/>
          <p:cNvSpPr txBox="1"/>
          <p:nvPr/>
        </p:nvSpPr>
        <p:spPr>
          <a:xfrm>
            <a:off x="320040" y="4472432"/>
            <a:ext cx="850392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OFFLINE: doc_embeddings = model.encode(policy_docs).astype('float32');  index = faiss.IndexFlatL2(384);  index.add(doc_embeddings)</a:t>
            </a:r>
          </a:p>
          <a:p>
            <a:pPr>
              <a:defRPr sz="8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ONLINE:  q_emb = model.encode([query]).astype('float32');  _, idx = index.search(q_emb, 2);  return [policy_docs[i] for i in idx[0]]</a:t>
            </a:r>
          </a:p>
        </p:txBody>
      </p:sp>
      <p:sp>
        <p:nvSpPr>
          <p:cNvPr id="252" name="Text 31"/>
          <p:cNvSpPr txBox="1"/>
          <p:nvPr/>
        </p:nvSpPr>
        <p:spPr>
          <a:xfrm>
            <a:off x="0" y="4999989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Text 1"/>
          <p:cNvSpPr txBox="1"/>
          <p:nvPr/>
        </p:nvSpPr>
        <p:spPr>
          <a:xfrm>
            <a:off x="274320" y="218529"/>
            <a:ext cx="64008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Multi-Agent MCP System — LLD</a:t>
            </a:r>
          </a:p>
        </p:txBody>
      </p:sp>
      <p:sp>
        <p:nvSpPr>
          <p:cNvPr id="256" name="Text 2"/>
          <p:cNvSpPr txBox="1"/>
          <p:nvPr/>
        </p:nvSpPr>
        <p:spPr>
          <a:xfrm>
            <a:off x="6400800" y="191814"/>
            <a:ext cx="25603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</a:defRPr>
            </a:lvl1pPr>
          </a:lstStyle>
          <a:p>
            <a:pPr/>
            <a:r>
              <a:t>Model Context Protocol Orchestration Architecture</a:t>
            </a:r>
          </a:p>
        </p:txBody>
      </p:sp>
      <p:sp>
        <p:nvSpPr>
          <p:cNvPr id="257" name="Shape 3"/>
          <p:cNvSpPr/>
          <p:nvPr/>
        </p:nvSpPr>
        <p:spPr>
          <a:xfrm>
            <a:off x="182880" y="822960"/>
            <a:ext cx="2377440" cy="3200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8" name="Shape 4"/>
          <p:cNvSpPr/>
          <p:nvPr/>
        </p:nvSpPr>
        <p:spPr>
          <a:xfrm>
            <a:off x="182880" y="822960"/>
            <a:ext cx="2377440" cy="347473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Text 5"/>
          <p:cNvSpPr txBox="1"/>
          <p:nvPr/>
        </p:nvSpPr>
        <p:spPr>
          <a:xfrm>
            <a:off x="182880" y="933196"/>
            <a:ext cx="23774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MCP SHARED CONTEXT</a:t>
            </a:r>
          </a:p>
        </p:txBody>
      </p:sp>
      <p:sp>
        <p:nvSpPr>
          <p:cNvPr id="260" name="Text 6"/>
          <p:cNvSpPr txBox="1"/>
          <p:nvPr/>
        </p:nvSpPr>
        <p:spPr>
          <a:xfrm>
            <a:off x="256032" y="1326388"/>
            <a:ext cx="22311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txn: transaction object</a:t>
            </a:r>
          </a:p>
        </p:txBody>
      </p:sp>
      <p:sp>
        <p:nvSpPr>
          <p:cNvPr id="261" name="Text 7"/>
          <p:cNvSpPr txBox="1"/>
          <p:nvPr/>
        </p:nvSpPr>
        <p:spPr>
          <a:xfrm>
            <a:off x="256032" y="1710435"/>
            <a:ext cx="22311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user_role: analyst|compliance</a:t>
            </a:r>
          </a:p>
        </p:txBody>
      </p:sp>
      <p:sp>
        <p:nvSpPr>
          <p:cNvPr id="262" name="Text 8"/>
          <p:cNvSpPr txBox="1"/>
          <p:nvPr/>
        </p:nvSpPr>
        <p:spPr>
          <a:xfrm>
            <a:off x="256032" y="2094483"/>
            <a:ext cx="22311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memory: retrieved_policies</a:t>
            </a:r>
          </a:p>
        </p:txBody>
      </p:sp>
      <p:sp>
        <p:nvSpPr>
          <p:cNvPr id="263" name="Text 9"/>
          <p:cNvSpPr txBox="1"/>
          <p:nvPr/>
        </p:nvSpPr>
        <p:spPr>
          <a:xfrm>
            <a:off x="256032" y="2478531"/>
            <a:ext cx="22311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agent_outputs: per-agent results</a:t>
            </a:r>
          </a:p>
        </p:txBody>
      </p:sp>
      <p:sp>
        <p:nvSpPr>
          <p:cNvPr id="264" name="Text 10"/>
          <p:cNvSpPr txBox="1"/>
          <p:nvPr/>
        </p:nvSpPr>
        <p:spPr>
          <a:xfrm>
            <a:off x="256032" y="2862579"/>
            <a:ext cx="22311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tool_calls: audit trail list</a:t>
            </a:r>
          </a:p>
        </p:txBody>
      </p:sp>
      <p:sp>
        <p:nvSpPr>
          <p:cNvPr id="265" name="Text 11"/>
          <p:cNvSpPr txBox="1"/>
          <p:nvPr/>
        </p:nvSpPr>
        <p:spPr>
          <a:xfrm>
            <a:off x="256032" y="3246628"/>
            <a:ext cx="22311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guardrail_log: security events</a:t>
            </a:r>
          </a:p>
        </p:txBody>
      </p:sp>
      <p:sp>
        <p:nvSpPr>
          <p:cNvPr id="266" name="Text 12"/>
          <p:cNvSpPr txBox="1"/>
          <p:nvPr/>
        </p:nvSpPr>
        <p:spPr>
          <a:xfrm>
            <a:off x="256032" y="3630676"/>
            <a:ext cx="22311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metadata: session_id, ts</a:t>
            </a:r>
          </a:p>
        </p:txBody>
      </p:sp>
      <p:sp>
        <p:nvSpPr>
          <p:cNvPr id="267" name="Shape 13"/>
          <p:cNvSpPr/>
          <p:nvPr/>
        </p:nvSpPr>
        <p:spPr>
          <a:xfrm>
            <a:off x="2834639" y="822960"/>
            <a:ext cx="2834641" cy="530353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ext 14"/>
          <p:cNvSpPr txBox="1"/>
          <p:nvPr/>
        </p:nvSpPr>
        <p:spPr>
          <a:xfrm>
            <a:off x="2834639" y="961049"/>
            <a:ext cx="28346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MCP RISK ORCHESTRATOR</a:t>
            </a:r>
          </a:p>
          <a:p>
            <a:pPr algn="ctr">
              <a:defRPr b="1" sz="900">
                <a:solidFill>
                  <a:srgbClr val="FFFFFF"/>
                </a:solidFill>
              </a:defRPr>
            </a:pPr>
            <a:r>
              <a:t>orchestrate(txn, user_role)</a:t>
            </a:r>
          </a:p>
        </p:txBody>
      </p:sp>
      <p:sp>
        <p:nvSpPr>
          <p:cNvPr id="269" name="Shape 15"/>
          <p:cNvSpPr/>
          <p:nvPr/>
        </p:nvSpPr>
        <p:spPr>
          <a:xfrm>
            <a:off x="2834639" y="1463039"/>
            <a:ext cx="1645922" cy="10058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" name="Shape 16"/>
          <p:cNvSpPr/>
          <p:nvPr/>
        </p:nvSpPr>
        <p:spPr>
          <a:xfrm>
            <a:off x="2834639" y="1463039"/>
            <a:ext cx="1645922" cy="292609"/>
          </a:xfrm>
          <a:prstGeom prst="rect">
            <a:avLst/>
          </a:prstGeom>
          <a:solidFill>
            <a:srgbClr val="E078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Text 17"/>
          <p:cNvSpPr txBox="1"/>
          <p:nvPr/>
        </p:nvSpPr>
        <p:spPr>
          <a:xfrm>
            <a:off x="2834639" y="1493555"/>
            <a:ext cx="1645922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800">
                <a:solidFill>
                  <a:srgbClr val="FFFFFF"/>
                </a:solidFill>
              </a:defRPr>
            </a:pPr>
            <a:r>
              <a:t>ROUTER</a:t>
            </a:r>
          </a:p>
          <a:p>
            <a:pPr algn="ctr">
              <a:defRPr b="1" sz="800">
                <a:solidFill>
                  <a:srgbClr val="FFFFFF"/>
                </a:solidFill>
              </a:defRPr>
            </a:pPr>
            <a:r>
              <a:t>AGENT</a:t>
            </a:r>
          </a:p>
        </p:txBody>
      </p:sp>
      <p:sp>
        <p:nvSpPr>
          <p:cNvPr id="272" name="Text 18"/>
          <p:cNvSpPr txBox="1"/>
          <p:nvPr/>
        </p:nvSpPr>
        <p:spPr>
          <a:xfrm>
            <a:off x="2880360" y="1884330"/>
            <a:ext cx="1554481" cy="4375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700">
                <a:solidFill>
                  <a:srgbClr val="334466"/>
                </a:solidFill>
              </a:defRPr>
            </a:pPr>
            <a:r>
              <a:t>Risk-aware routing:</a:t>
            </a:r>
          </a:p>
          <a:p>
            <a:pPr>
              <a:defRPr sz="700">
                <a:solidFill>
                  <a:srgbClr val="334466"/>
                </a:solidFill>
              </a:defRPr>
            </a:pPr>
            <a:r>
              <a:t>CRITICAL/HIGH → all 3 agents</a:t>
            </a:r>
          </a:p>
          <a:p>
            <a:pPr>
              <a:defRPr sz="700">
                <a:solidFill>
                  <a:srgbClr val="334466"/>
                </a:solidFill>
              </a:defRPr>
            </a:pPr>
            <a:r>
              <a:t>MEDIUM → Retriever+Reasoner</a:t>
            </a:r>
          </a:p>
          <a:p>
            <a:pPr>
              <a:defRPr sz="700">
                <a:solidFill>
                  <a:srgbClr val="334466"/>
                </a:solidFill>
              </a:defRPr>
            </a:pPr>
            <a:r>
              <a:t>LOW → Reasoner only</a:t>
            </a:r>
          </a:p>
        </p:txBody>
      </p:sp>
      <p:sp>
        <p:nvSpPr>
          <p:cNvPr id="273" name="Shape 19"/>
          <p:cNvSpPr/>
          <p:nvPr/>
        </p:nvSpPr>
        <p:spPr>
          <a:xfrm>
            <a:off x="2834639" y="2606039"/>
            <a:ext cx="1645922" cy="10058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4" name="Shape 20"/>
          <p:cNvSpPr/>
          <p:nvPr/>
        </p:nvSpPr>
        <p:spPr>
          <a:xfrm>
            <a:off x="2834639" y="2606039"/>
            <a:ext cx="1645922" cy="292609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Text 21"/>
          <p:cNvSpPr txBox="1"/>
          <p:nvPr/>
        </p:nvSpPr>
        <p:spPr>
          <a:xfrm>
            <a:off x="2834639" y="2636555"/>
            <a:ext cx="1645922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800">
                <a:solidFill>
                  <a:srgbClr val="FFFFFF"/>
                </a:solidFill>
              </a:defRPr>
            </a:pPr>
            <a:r>
              <a:t>RETRIEVER</a:t>
            </a:r>
          </a:p>
          <a:p>
            <a:pPr algn="ctr">
              <a:defRPr b="1" sz="800">
                <a:solidFill>
                  <a:srgbClr val="FFFFFF"/>
                </a:solidFill>
              </a:defRPr>
            </a:pPr>
            <a:r>
              <a:t>AGENT</a:t>
            </a:r>
          </a:p>
        </p:txBody>
      </p:sp>
      <p:sp>
        <p:nvSpPr>
          <p:cNvPr id="276" name="Text 22"/>
          <p:cNvSpPr txBox="1"/>
          <p:nvPr/>
        </p:nvSpPr>
        <p:spPr>
          <a:xfrm>
            <a:off x="2880360" y="3027330"/>
            <a:ext cx="1554481" cy="4375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700">
                <a:solidFill>
                  <a:srgbClr val="334466"/>
                </a:solidFill>
              </a:defRPr>
            </a:pPr>
            <a:r>
              <a:t>Dense FAISS search (top-2)</a:t>
            </a:r>
          </a:p>
          <a:p>
            <a:pPr>
              <a:defRPr sz="700">
                <a:solidFill>
                  <a:srgbClr val="334466"/>
                </a:solidFill>
              </a:defRPr>
            </a:pPr>
            <a:r>
              <a:t>Same embedding space</a:t>
            </a:r>
          </a:p>
          <a:p>
            <a:pPr>
              <a:defRPr sz="700">
                <a:solidFill>
                  <a:srgbClr val="334466"/>
                </a:solidFill>
              </a:defRPr>
            </a:pPr>
            <a:r>
              <a:t>384-dim L2 distance</a:t>
            </a:r>
          </a:p>
          <a:p>
            <a:pPr>
              <a:defRPr sz="700">
                <a:solidFill>
                  <a:srgbClr val="334466"/>
                </a:solidFill>
              </a:defRPr>
            </a:pPr>
            <a:r>
              <a:t>Persists to MCP memory</a:t>
            </a:r>
          </a:p>
        </p:txBody>
      </p:sp>
      <p:sp>
        <p:nvSpPr>
          <p:cNvPr id="277" name="Shape 23"/>
          <p:cNvSpPr/>
          <p:nvPr/>
        </p:nvSpPr>
        <p:spPr>
          <a:xfrm>
            <a:off x="4572000" y="2606039"/>
            <a:ext cx="1645921" cy="10058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8" name="Shape 24"/>
          <p:cNvSpPr/>
          <p:nvPr/>
        </p:nvSpPr>
        <p:spPr>
          <a:xfrm>
            <a:off x="4572000" y="2606039"/>
            <a:ext cx="1645921" cy="292609"/>
          </a:xfrm>
          <a:prstGeom prst="rect">
            <a:avLst/>
          </a:prstGeom>
          <a:solidFill>
            <a:srgbClr val="6633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Text 25"/>
          <p:cNvSpPr txBox="1"/>
          <p:nvPr/>
        </p:nvSpPr>
        <p:spPr>
          <a:xfrm>
            <a:off x="4572000" y="2636555"/>
            <a:ext cx="164592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800">
                <a:solidFill>
                  <a:srgbClr val="FFFFFF"/>
                </a:solidFill>
              </a:defRPr>
            </a:pPr>
            <a:r>
              <a:t>REASONER</a:t>
            </a:r>
          </a:p>
          <a:p>
            <a:pPr algn="ctr">
              <a:defRPr b="1" sz="800">
                <a:solidFill>
                  <a:srgbClr val="FFFFFF"/>
                </a:solidFill>
              </a:defRPr>
            </a:pPr>
            <a:r>
              <a:t>AGENT</a:t>
            </a:r>
          </a:p>
        </p:txBody>
      </p:sp>
      <p:sp>
        <p:nvSpPr>
          <p:cNvPr id="280" name="Text 26"/>
          <p:cNvSpPr txBox="1"/>
          <p:nvPr/>
        </p:nvSpPr>
        <p:spPr>
          <a:xfrm>
            <a:off x="4617720" y="3027330"/>
            <a:ext cx="1554481" cy="4375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700">
                <a:solidFill>
                  <a:srgbClr val="334466"/>
                </a:solidFill>
              </a:defRPr>
            </a:pPr>
            <a:r>
              <a:t>Structured risk narrative</a:t>
            </a:r>
          </a:p>
          <a:p>
            <a:pPr>
              <a:defRPr sz="700">
                <a:solidFill>
                  <a:srgbClr val="334466"/>
                </a:solidFill>
              </a:defRPr>
            </a:pPr>
            <a:r>
              <a:t>Policy citation by doc</a:t>
            </a:r>
          </a:p>
          <a:p>
            <a:pPr>
              <a:defRPr sz="700">
                <a:solidFill>
                  <a:srgbClr val="334466"/>
                </a:solidFill>
              </a:defRPr>
            </a:pPr>
            <a:r>
              <a:t>SAR determination</a:t>
            </a:r>
          </a:p>
          <a:p>
            <a:pPr>
              <a:defRPr sz="700">
                <a:solidFill>
                  <a:srgbClr val="334466"/>
                </a:solidFill>
              </a:defRPr>
            </a:pPr>
            <a:r>
              <a:t>Explainable output</a:t>
            </a:r>
          </a:p>
        </p:txBody>
      </p:sp>
      <p:sp>
        <p:nvSpPr>
          <p:cNvPr id="281" name="Shape 27"/>
          <p:cNvSpPr/>
          <p:nvPr/>
        </p:nvSpPr>
        <p:spPr>
          <a:xfrm>
            <a:off x="4572000" y="1463039"/>
            <a:ext cx="1645921" cy="10058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2" name="Shape 28"/>
          <p:cNvSpPr/>
          <p:nvPr/>
        </p:nvSpPr>
        <p:spPr>
          <a:xfrm>
            <a:off x="4572000" y="1463039"/>
            <a:ext cx="1645921" cy="292609"/>
          </a:xfrm>
          <a:prstGeom prst="rect">
            <a:avLst/>
          </a:prstGeom>
          <a:solidFill>
            <a:srgbClr val="CC33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Text 29"/>
          <p:cNvSpPr txBox="1"/>
          <p:nvPr/>
        </p:nvSpPr>
        <p:spPr>
          <a:xfrm>
            <a:off x="4572000" y="1493555"/>
            <a:ext cx="164592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800">
                <a:solidFill>
                  <a:srgbClr val="FFFFFF"/>
                </a:solidFill>
              </a:defRPr>
            </a:pPr>
            <a:r>
              <a:t>VALIDATOR</a:t>
            </a:r>
          </a:p>
          <a:p>
            <a:pPr algn="ctr">
              <a:defRPr b="1" sz="800">
                <a:solidFill>
                  <a:srgbClr val="FFFFFF"/>
                </a:solidFill>
              </a:defRPr>
            </a:pPr>
            <a:r>
              <a:t>AGENT</a:t>
            </a:r>
          </a:p>
        </p:txBody>
      </p:sp>
      <p:sp>
        <p:nvSpPr>
          <p:cNvPr id="284" name="Text 30"/>
          <p:cNvSpPr txBox="1"/>
          <p:nvPr/>
        </p:nvSpPr>
        <p:spPr>
          <a:xfrm>
            <a:off x="4617720" y="1884330"/>
            <a:ext cx="1554481" cy="4375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700">
                <a:solidFill>
                  <a:srgbClr val="334466"/>
                </a:solidFill>
              </a:defRPr>
            </a:pPr>
            <a:r>
              <a:t>Rule engine: amount/country</a:t>
            </a:r>
          </a:p>
          <a:p>
            <a:pPr>
              <a:defRPr sz="700">
                <a:solidFill>
                  <a:srgbClr val="334466"/>
                </a:solidFill>
              </a:defRPr>
            </a:pPr>
            <a:r>
              <a:t>Cross-checks Reasoner</a:t>
            </a:r>
          </a:p>
          <a:p>
            <a:pPr>
              <a:defRPr sz="700">
                <a:solidFill>
                  <a:srgbClr val="334466"/>
                </a:solidFill>
              </a:defRPr>
            </a:pPr>
            <a:r>
              <a:t>Consistency: PASS/FAIL</a:t>
            </a:r>
          </a:p>
          <a:p>
            <a:pPr>
              <a:defRPr sz="700">
                <a:solidFill>
                  <a:srgbClr val="334466"/>
                </a:solidFill>
              </a:defRPr>
            </a:pPr>
            <a:r>
              <a:t>Final: BLOCK/FLAG/ALLOW</a:t>
            </a:r>
          </a:p>
        </p:txBody>
      </p:sp>
      <p:sp>
        <p:nvSpPr>
          <p:cNvPr id="285" name="Shape 31"/>
          <p:cNvSpPr/>
          <p:nvPr/>
        </p:nvSpPr>
        <p:spPr>
          <a:xfrm>
            <a:off x="6492240" y="822960"/>
            <a:ext cx="2423161" cy="3200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6" name="Shape 32"/>
          <p:cNvSpPr/>
          <p:nvPr/>
        </p:nvSpPr>
        <p:spPr>
          <a:xfrm>
            <a:off x="6492240" y="822960"/>
            <a:ext cx="2423161" cy="347473"/>
          </a:xfrm>
          <a:prstGeom prst="rect">
            <a:avLst/>
          </a:prstGeom>
          <a:solidFill>
            <a:srgbClr val="00AA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Text 33"/>
          <p:cNvSpPr txBox="1"/>
          <p:nvPr/>
        </p:nvSpPr>
        <p:spPr>
          <a:xfrm>
            <a:off x="6492240" y="933196"/>
            <a:ext cx="2423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MCP OUTPUT FIELDS</a:t>
            </a:r>
          </a:p>
        </p:txBody>
      </p:sp>
      <p:sp>
        <p:nvSpPr>
          <p:cNvPr id="288" name="Text 34"/>
          <p:cNvSpPr txBox="1"/>
          <p:nvPr/>
        </p:nvSpPr>
        <p:spPr>
          <a:xfrm>
            <a:off x="6565392" y="1276096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status: SUCCESS/BLOCKED</a:t>
            </a:r>
          </a:p>
        </p:txBody>
      </p:sp>
      <p:sp>
        <p:nvSpPr>
          <p:cNvPr id="289" name="Text 35"/>
          <p:cNvSpPr txBox="1"/>
          <p:nvPr/>
        </p:nvSpPr>
        <p:spPr>
          <a:xfrm>
            <a:off x="6565392" y="1541272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txn: masked transaction</a:t>
            </a:r>
          </a:p>
        </p:txBody>
      </p:sp>
      <p:sp>
        <p:nvSpPr>
          <p:cNvPr id="290" name="Text 36"/>
          <p:cNvSpPr txBox="1"/>
          <p:nvPr/>
        </p:nvSpPr>
        <p:spPr>
          <a:xfrm>
            <a:off x="6565392" y="1806448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route: agents executed</a:t>
            </a:r>
          </a:p>
        </p:txBody>
      </p:sp>
      <p:sp>
        <p:nvSpPr>
          <p:cNvPr id="291" name="Text 37"/>
          <p:cNvSpPr txBox="1"/>
          <p:nvPr/>
        </p:nvSpPr>
        <p:spPr>
          <a:xfrm>
            <a:off x="6565392" y="2071623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docs: retrieved policies</a:t>
            </a:r>
          </a:p>
        </p:txBody>
      </p:sp>
      <p:sp>
        <p:nvSpPr>
          <p:cNvPr id="292" name="Text 38"/>
          <p:cNvSpPr txBox="1"/>
          <p:nvPr/>
        </p:nvSpPr>
        <p:spPr>
          <a:xfrm>
            <a:off x="6565392" y="2336799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reasoning: narrative + SAR</a:t>
            </a:r>
          </a:p>
        </p:txBody>
      </p:sp>
      <p:sp>
        <p:nvSpPr>
          <p:cNvPr id="293" name="Text 39"/>
          <p:cNvSpPr txBox="1"/>
          <p:nvPr/>
        </p:nvSpPr>
        <p:spPr>
          <a:xfrm>
            <a:off x="6565392" y="2601976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validation: flags + hits</a:t>
            </a:r>
          </a:p>
        </p:txBody>
      </p:sp>
      <p:sp>
        <p:nvSpPr>
          <p:cNvPr id="294" name="Text 40"/>
          <p:cNvSpPr txBox="1"/>
          <p:nvPr/>
        </p:nvSpPr>
        <p:spPr>
          <a:xfrm>
            <a:off x="6565392" y="2867151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flags: [High Value, Sanctioned]</a:t>
            </a:r>
          </a:p>
        </p:txBody>
      </p:sp>
      <p:sp>
        <p:nvSpPr>
          <p:cNvPr id="295" name="Text 41"/>
          <p:cNvSpPr txBox="1"/>
          <p:nvPr/>
        </p:nvSpPr>
        <p:spPr>
          <a:xfrm>
            <a:off x="6565392" y="3132327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confidence: High/Med/Low</a:t>
            </a:r>
          </a:p>
        </p:txBody>
      </p:sp>
      <p:sp>
        <p:nvSpPr>
          <p:cNvPr id="296" name="Text 42"/>
          <p:cNvSpPr txBox="1"/>
          <p:nvPr/>
        </p:nvSpPr>
        <p:spPr>
          <a:xfrm>
            <a:off x="6565392" y="3397503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risk_score, risk_band</a:t>
            </a:r>
          </a:p>
        </p:txBody>
      </p:sp>
      <p:sp>
        <p:nvSpPr>
          <p:cNvPr id="297" name="Text 43"/>
          <p:cNvSpPr txBox="1"/>
          <p:nvPr/>
        </p:nvSpPr>
        <p:spPr>
          <a:xfrm>
            <a:off x="6565392" y="3662679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metrics: latency breakdown</a:t>
            </a:r>
          </a:p>
        </p:txBody>
      </p:sp>
      <p:sp>
        <p:nvSpPr>
          <p:cNvPr id="298" name="Text 44"/>
          <p:cNvSpPr txBox="1"/>
          <p:nvPr/>
        </p:nvSpPr>
        <p:spPr>
          <a:xfrm>
            <a:off x="6565392" y="3927855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ai_lineage: full trace</a:t>
            </a:r>
          </a:p>
        </p:txBody>
      </p:sp>
      <p:sp>
        <p:nvSpPr>
          <p:cNvPr id="299" name="Text 45"/>
          <p:cNvSpPr txBox="1"/>
          <p:nvPr/>
        </p:nvSpPr>
        <p:spPr>
          <a:xfrm>
            <a:off x="0" y="4999989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2" name="Text 1"/>
          <p:cNvSpPr txBox="1"/>
          <p:nvPr/>
        </p:nvSpPr>
        <p:spPr>
          <a:xfrm>
            <a:off x="274320" y="218529"/>
            <a:ext cx="54864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FastAPI REST Layer</a:t>
            </a:r>
          </a:p>
        </p:txBody>
      </p:sp>
      <p:sp>
        <p:nvSpPr>
          <p:cNvPr id="303" name="Text 2"/>
          <p:cNvSpPr txBox="1"/>
          <p:nvPr/>
        </p:nvSpPr>
        <p:spPr>
          <a:xfrm>
            <a:off x="5486400" y="274364"/>
            <a:ext cx="3474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</a:defRPr>
            </a:lvl1pPr>
          </a:lstStyle>
          <a:p>
            <a:pPr/>
            <a:r>
              <a:t>8 Production Endpoints — AML Risk API</a:t>
            </a:r>
          </a:p>
        </p:txBody>
      </p:sp>
      <p:sp>
        <p:nvSpPr>
          <p:cNvPr id="304" name="Shape 3"/>
          <p:cNvSpPr/>
          <p:nvPr/>
        </p:nvSpPr>
        <p:spPr>
          <a:xfrm>
            <a:off x="228600" y="804672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" name="Shape 4"/>
          <p:cNvSpPr/>
          <p:nvPr/>
        </p:nvSpPr>
        <p:spPr>
          <a:xfrm>
            <a:off x="228600" y="804672"/>
            <a:ext cx="594360" cy="475488"/>
          </a:xfrm>
          <a:prstGeom prst="rect">
            <a:avLst/>
          </a:prstGeom>
          <a:solidFill>
            <a:srgbClr val="00AA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Text 5"/>
          <p:cNvSpPr txBox="1"/>
          <p:nvPr/>
        </p:nvSpPr>
        <p:spPr>
          <a:xfrm>
            <a:off x="228600" y="972565"/>
            <a:ext cx="5943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307" name="Text 6"/>
          <p:cNvSpPr txBox="1"/>
          <p:nvPr/>
        </p:nvSpPr>
        <p:spPr>
          <a:xfrm>
            <a:off x="896111" y="822960"/>
            <a:ext cx="219456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</a:t>
            </a:r>
          </a:p>
        </p:txBody>
      </p:sp>
      <p:sp>
        <p:nvSpPr>
          <p:cNvPr id="308" name="Text 7"/>
          <p:cNvSpPr txBox="1"/>
          <p:nvPr/>
        </p:nvSpPr>
        <p:spPr>
          <a:xfrm>
            <a:off x="896111" y="1088644"/>
            <a:ext cx="3200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Health check — API status + total transaction count</a:t>
            </a:r>
          </a:p>
        </p:txBody>
      </p:sp>
      <p:sp>
        <p:nvSpPr>
          <p:cNvPr id="309" name="Shape 8"/>
          <p:cNvSpPr/>
          <p:nvPr/>
        </p:nvSpPr>
        <p:spPr>
          <a:xfrm>
            <a:off x="4160520" y="841247"/>
            <a:ext cx="4663441" cy="402337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Text 9"/>
          <p:cNvSpPr txBox="1"/>
          <p:nvPr/>
        </p:nvSpPr>
        <p:spPr>
          <a:xfrm>
            <a:off x="4224528" y="978915"/>
            <a:ext cx="45537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{"message":"AML Risk API is running","total_transactions":5}</a:t>
            </a:r>
          </a:p>
        </p:txBody>
      </p:sp>
      <p:sp>
        <p:nvSpPr>
          <p:cNvPr id="311" name="Shape 10"/>
          <p:cNvSpPr/>
          <p:nvPr/>
        </p:nvSpPr>
        <p:spPr>
          <a:xfrm>
            <a:off x="228600" y="1330452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" name="Shape 11"/>
          <p:cNvSpPr/>
          <p:nvPr/>
        </p:nvSpPr>
        <p:spPr>
          <a:xfrm>
            <a:off x="228600" y="1330452"/>
            <a:ext cx="594360" cy="475488"/>
          </a:xfrm>
          <a:prstGeom prst="rect">
            <a:avLst/>
          </a:prstGeom>
          <a:solidFill>
            <a:srgbClr val="00AA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Text 12"/>
          <p:cNvSpPr txBox="1"/>
          <p:nvPr/>
        </p:nvSpPr>
        <p:spPr>
          <a:xfrm>
            <a:off x="228600" y="1498345"/>
            <a:ext cx="5943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314" name="Text 13"/>
          <p:cNvSpPr txBox="1"/>
          <p:nvPr/>
        </p:nvSpPr>
        <p:spPr>
          <a:xfrm>
            <a:off x="896111" y="1348739"/>
            <a:ext cx="219456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/transactions</a:t>
            </a:r>
          </a:p>
        </p:txBody>
      </p:sp>
      <p:sp>
        <p:nvSpPr>
          <p:cNvPr id="315" name="Text 14"/>
          <p:cNvSpPr txBox="1"/>
          <p:nvPr/>
        </p:nvSpPr>
        <p:spPr>
          <a:xfrm>
            <a:off x="896111" y="1614423"/>
            <a:ext cx="3200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Retrieve full list of all processed transactions with MCP results</a:t>
            </a:r>
          </a:p>
        </p:txBody>
      </p:sp>
      <p:sp>
        <p:nvSpPr>
          <p:cNvPr id="316" name="Shape 15"/>
          <p:cNvSpPr/>
          <p:nvPr/>
        </p:nvSpPr>
        <p:spPr>
          <a:xfrm>
            <a:off x="4160520" y="1367027"/>
            <a:ext cx="4663441" cy="402337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7" name="Text 16"/>
          <p:cNvSpPr txBox="1"/>
          <p:nvPr/>
        </p:nvSpPr>
        <p:spPr>
          <a:xfrm>
            <a:off x="4224528" y="1504695"/>
            <a:ext cx="45537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[array of full transaction result objects]</a:t>
            </a:r>
          </a:p>
        </p:txBody>
      </p:sp>
      <p:sp>
        <p:nvSpPr>
          <p:cNvPr id="318" name="Shape 17"/>
          <p:cNvSpPr/>
          <p:nvPr/>
        </p:nvSpPr>
        <p:spPr>
          <a:xfrm>
            <a:off x="228600" y="1856232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" name="Shape 18"/>
          <p:cNvSpPr/>
          <p:nvPr/>
        </p:nvSpPr>
        <p:spPr>
          <a:xfrm>
            <a:off x="228600" y="1856232"/>
            <a:ext cx="594360" cy="475488"/>
          </a:xfrm>
          <a:prstGeom prst="rect">
            <a:avLst/>
          </a:prstGeom>
          <a:solidFill>
            <a:srgbClr val="00AA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Text 19"/>
          <p:cNvSpPr txBox="1"/>
          <p:nvPr/>
        </p:nvSpPr>
        <p:spPr>
          <a:xfrm>
            <a:off x="228600" y="2024125"/>
            <a:ext cx="5943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321" name="Text 20"/>
          <p:cNvSpPr txBox="1"/>
          <p:nvPr/>
        </p:nvSpPr>
        <p:spPr>
          <a:xfrm>
            <a:off x="896111" y="1874520"/>
            <a:ext cx="219456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/transaction/{txn_id}</a:t>
            </a:r>
          </a:p>
        </p:txBody>
      </p:sp>
      <p:sp>
        <p:nvSpPr>
          <p:cNvPr id="322" name="Text 21"/>
          <p:cNvSpPr txBox="1"/>
          <p:nvPr/>
        </p:nvSpPr>
        <p:spPr>
          <a:xfrm>
            <a:off x="896111" y="2140204"/>
            <a:ext cx="3200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Fetch single transaction by ID — includes risk, reasoning, validation, lineage</a:t>
            </a:r>
          </a:p>
        </p:txBody>
      </p:sp>
      <p:sp>
        <p:nvSpPr>
          <p:cNvPr id="323" name="Shape 22"/>
          <p:cNvSpPr/>
          <p:nvPr/>
        </p:nvSpPr>
        <p:spPr>
          <a:xfrm>
            <a:off x="4160520" y="1892807"/>
            <a:ext cx="4663441" cy="402337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23"/>
          <p:cNvSpPr txBox="1"/>
          <p:nvPr/>
        </p:nvSpPr>
        <p:spPr>
          <a:xfrm>
            <a:off x="4224528" y="2030475"/>
            <a:ext cx="45537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{"status":"SUCCESS","txn":{...},"flags":["High Value"],...}</a:t>
            </a:r>
          </a:p>
        </p:txBody>
      </p:sp>
      <p:sp>
        <p:nvSpPr>
          <p:cNvPr id="325" name="Shape 24"/>
          <p:cNvSpPr/>
          <p:nvPr/>
        </p:nvSpPr>
        <p:spPr>
          <a:xfrm>
            <a:off x="228600" y="2382011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6" name="Shape 25"/>
          <p:cNvSpPr/>
          <p:nvPr/>
        </p:nvSpPr>
        <p:spPr>
          <a:xfrm>
            <a:off x="228600" y="2382011"/>
            <a:ext cx="594360" cy="475488"/>
          </a:xfrm>
          <a:prstGeom prst="rect">
            <a:avLst/>
          </a:prstGeom>
          <a:solidFill>
            <a:srgbClr val="E078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7" name="Text 26"/>
          <p:cNvSpPr txBox="1"/>
          <p:nvPr/>
        </p:nvSpPr>
        <p:spPr>
          <a:xfrm>
            <a:off x="228600" y="2549905"/>
            <a:ext cx="5943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328" name="Text 27"/>
          <p:cNvSpPr txBox="1"/>
          <p:nvPr/>
        </p:nvSpPr>
        <p:spPr>
          <a:xfrm>
            <a:off x="896111" y="2400300"/>
            <a:ext cx="2194562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/flags</a:t>
            </a:r>
          </a:p>
        </p:txBody>
      </p:sp>
      <p:sp>
        <p:nvSpPr>
          <p:cNvPr id="329" name="Text 28"/>
          <p:cNvSpPr txBox="1"/>
          <p:nvPr/>
        </p:nvSpPr>
        <p:spPr>
          <a:xfrm>
            <a:off x="896111" y="2665983"/>
            <a:ext cx="3200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Get all HIGH risk band transactions only — for compliance review queue</a:t>
            </a:r>
          </a:p>
        </p:txBody>
      </p:sp>
      <p:sp>
        <p:nvSpPr>
          <p:cNvPr id="330" name="Shape 29"/>
          <p:cNvSpPr/>
          <p:nvPr/>
        </p:nvSpPr>
        <p:spPr>
          <a:xfrm>
            <a:off x="4160520" y="2418588"/>
            <a:ext cx="4663441" cy="402337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1" name="Text 30"/>
          <p:cNvSpPr txBox="1"/>
          <p:nvPr/>
        </p:nvSpPr>
        <p:spPr>
          <a:xfrm>
            <a:off x="4224528" y="2556255"/>
            <a:ext cx="45537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[filtered list: risk_band == 'High']</a:t>
            </a:r>
          </a:p>
        </p:txBody>
      </p:sp>
      <p:sp>
        <p:nvSpPr>
          <p:cNvPr id="332" name="Shape 31"/>
          <p:cNvSpPr/>
          <p:nvPr/>
        </p:nvSpPr>
        <p:spPr>
          <a:xfrm>
            <a:off x="228600" y="2907792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3" name="Shape 32"/>
          <p:cNvSpPr/>
          <p:nvPr/>
        </p:nvSpPr>
        <p:spPr>
          <a:xfrm>
            <a:off x="228600" y="2907792"/>
            <a:ext cx="594360" cy="475488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4" name="Text 33"/>
          <p:cNvSpPr txBox="1"/>
          <p:nvPr/>
        </p:nvSpPr>
        <p:spPr>
          <a:xfrm>
            <a:off x="228600" y="3075685"/>
            <a:ext cx="5943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335" name="Text 34"/>
          <p:cNvSpPr txBox="1"/>
          <p:nvPr/>
        </p:nvSpPr>
        <p:spPr>
          <a:xfrm>
            <a:off x="896111" y="2926079"/>
            <a:ext cx="219456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/metrics</a:t>
            </a:r>
          </a:p>
        </p:txBody>
      </p:sp>
      <p:sp>
        <p:nvSpPr>
          <p:cNvPr id="336" name="Text 35"/>
          <p:cNvSpPr txBox="1"/>
          <p:nvPr/>
        </p:nvSpPr>
        <p:spPr>
          <a:xfrm>
            <a:off x="896111" y="3191764"/>
            <a:ext cx="3200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LLMOps metrics per transaction — retrieval, reasoning, validation times</a:t>
            </a:r>
          </a:p>
        </p:txBody>
      </p:sp>
      <p:sp>
        <p:nvSpPr>
          <p:cNvPr id="337" name="Shape 36"/>
          <p:cNvSpPr/>
          <p:nvPr/>
        </p:nvSpPr>
        <p:spPr>
          <a:xfrm>
            <a:off x="4160520" y="2944367"/>
            <a:ext cx="4663441" cy="402337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Text 37"/>
          <p:cNvSpPr txBox="1"/>
          <p:nvPr/>
        </p:nvSpPr>
        <p:spPr>
          <a:xfrm>
            <a:off x="4224528" y="3082035"/>
            <a:ext cx="45537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[{"txn_id":"TXN001","retrieval_time":0.002,"reasoning_time":0.001,...}]</a:t>
            </a:r>
          </a:p>
        </p:txBody>
      </p:sp>
      <p:sp>
        <p:nvSpPr>
          <p:cNvPr id="339" name="Shape 38"/>
          <p:cNvSpPr/>
          <p:nvPr/>
        </p:nvSpPr>
        <p:spPr>
          <a:xfrm>
            <a:off x="228600" y="3433571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0" name="Shape 39"/>
          <p:cNvSpPr/>
          <p:nvPr/>
        </p:nvSpPr>
        <p:spPr>
          <a:xfrm>
            <a:off x="228600" y="3433571"/>
            <a:ext cx="594360" cy="475488"/>
          </a:xfrm>
          <a:prstGeom prst="rect">
            <a:avLst/>
          </a:prstGeom>
          <a:solidFill>
            <a:srgbClr val="6633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1" name="Text 40"/>
          <p:cNvSpPr txBox="1"/>
          <p:nvPr/>
        </p:nvSpPr>
        <p:spPr>
          <a:xfrm>
            <a:off x="228600" y="3601465"/>
            <a:ext cx="5943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342" name="Text 41"/>
          <p:cNvSpPr txBox="1"/>
          <p:nvPr/>
        </p:nvSpPr>
        <p:spPr>
          <a:xfrm>
            <a:off x="896111" y="3451859"/>
            <a:ext cx="219456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/lineage/{txn_id}</a:t>
            </a:r>
          </a:p>
        </p:txBody>
      </p:sp>
      <p:sp>
        <p:nvSpPr>
          <p:cNvPr id="343" name="Text 42"/>
          <p:cNvSpPr txBox="1"/>
          <p:nvPr/>
        </p:nvSpPr>
        <p:spPr>
          <a:xfrm>
            <a:off x="896111" y="3717544"/>
            <a:ext cx="3200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AI lineage trace — all stages: retrieval → reasoning → validation → decision</a:t>
            </a:r>
          </a:p>
        </p:txBody>
      </p:sp>
      <p:sp>
        <p:nvSpPr>
          <p:cNvPr id="344" name="Shape 43"/>
          <p:cNvSpPr/>
          <p:nvPr/>
        </p:nvSpPr>
        <p:spPr>
          <a:xfrm>
            <a:off x="4160520" y="3470147"/>
            <a:ext cx="4663441" cy="402337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Text 44"/>
          <p:cNvSpPr txBox="1"/>
          <p:nvPr/>
        </p:nvSpPr>
        <p:spPr>
          <a:xfrm>
            <a:off x="4224528" y="3607815"/>
            <a:ext cx="45537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[{"stage":"retrieval","input":{...},"output":{...}},...]</a:t>
            </a:r>
          </a:p>
        </p:txBody>
      </p:sp>
      <p:sp>
        <p:nvSpPr>
          <p:cNvPr id="346" name="Shape 45"/>
          <p:cNvSpPr/>
          <p:nvPr/>
        </p:nvSpPr>
        <p:spPr>
          <a:xfrm>
            <a:off x="228600" y="3959352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7" name="Shape 46"/>
          <p:cNvSpPr/>
          <p:nvPr/>
        </p:nvSpPr>
        <p:spPr>
          <a:xfrm>
            <a:off x="228600" y="3959352"/>
            <a:ext cx="594360" cy="475488"/>
          </a:xfrm>
          <a:prstGeom prst="rect">
            <a:avLst/>
          </a:prstGeom>
          <a:solidFill>
            <a:srgbClr val="6633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8" name="Text 47"/>
          <p:cNvSpPr txBox="1"/>
          <p:nvPr/>
        </p:nvSpPr>
        <p:spPr>
          <a:xfrm>
            <a:off x="228600" y="4127245"/>
            <a:ext cx="5943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349" name="Text 48"/>
          <p:cNvSpPr txBox="1"/>
          <p:nvPr/>
        </p:nvSpPr>
        <p:spPr>
          <a:xfrm>
            <a:off x="896111" y="3977640"/>
            <a:ext cx="219456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/reasoning/{txn_id}</a:t>
            </a:r>
          </a:p>
        </p:txBody>
      </p:sp>
      <p:sp>
        <p:nvSpPr>
          <p:cNvPr id="350" name="Text 49"/>
          <p:cNvSpPr txBox="1"/>
          <p:nvPr/>
        </p:nvSpPr>
        <p:spPr>
          <a:xfrm>
            <a:off x="896111" y="4243324"/>
            <a:ext cx="3200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Explainable reasoning output — decision basis, policy refs, risk summary</a:t>
            </a:r>
          </a:p>
        </p:txBody>
      </p:sp>
      <p:sp>
        <p:nvSpPr>
          <p:cNvPr id="351" name="Shape 50"/>
          <p:cNvSpPr/>
          <p:nvPr/>
        </p:nvSpPr>
        <p:spPr>
          <a:xfrm>
            <a:off x="4160520" y="3995928"/>
            <a:ext cx="4663441" cy="402337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Text 51"/>
          <p:cNvSpPr txBox="1"/>
          <p:nvPr/>
        </p:nvSpPr>
        <p:spPr>
          <a:xfrm>
            <a:off x="4224528" y="4133596"/>
            <a:ext cx="45537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{"decision_basis":[...],"risk_factors":[...],"summary":"..."}</a:t>
            </a:r>
          </a:p>
        </p:txBody>
      </p:sp>
      <p:sp>
        <p:nvSpPr>
          <p:cNvPr id="353" name="Shape 52"/>
          <p:cNvSpPr/>
          <p:nvPr/>
        </p:nvSpPr>
        <p:spPr>
          <a:xfrm>
            <a:off x="228600" y="4485132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4" name="Shape 53"/>
          <p:cNvSpPr/>
          <p:nvPr/>
        </p:nvSpPr>
        <p:spPr>
          <a:xfrm>
            <a:off x="228600" y="4485132"/>
            <a:ext cx="594360" cy="475488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Text 54"/>
          <p:cNvSpPr txBox="1"/>
          <p:nvPr/>
        </p:nvSpPr>
        <p:spPr>
          <a:xfrm>
            <a:off x="228600" y="4653025"/>
            <a:ext cx="5943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356" name="Text 55"/>
          <p:cNvSpPr txBox="1"/>
          <p:nvPr/>
        </p:nvSpPr>
        <p:spPr>
          <a:xfrm>
            <a:off x="896111" y="4503420"/>
            <a:ext cx="219456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/summary</a:t>
            </a:r>
          </a:p>
        </p:txBody>
      </p:sp>
      <p:sp>
        <p:nvSpPr>
          <p:cNvPr id="357" name="Text 56"/>
          <p:cNvSpPr txBox="1"/>
          <p:nvPr/>
        </p:nvSpPr>
        <p:spPr>
          <a:xfrm>
            <a:off x="896111" y="4769104"/>
            <a:ext cx="3200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Aggregate stats — total, high risk count, flagged count, avg retrieval time</a:t>
            </a:r>
          </a:p>
        </p:txBody>
      </p:sp>
      <p:sp>
        <p:nvSpPr>
          <p:cNvPr id="358" name="Shape 57"/>
          <p:cNvSpPr/>
          <p:nvPr/>
        </p:nvSpPr>
        <p:spPr>
          <a:xfrm>
            <a:off x="4160520" y="4521708"/>
            <a:ext cx="4663441" cy="402337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9" name="Text 58"/>
          <p:cNvSpPr txBox="1"/>
          <p:nvPr/>
        </p:nvSpPr>
        <p:spPr>
          <a:xfrm>
            <a:off x="4224528" y="4659376"/>
            <a:ext cx="45537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{"total_transactions":5,"high_risk_count":3,"flagged_count":3,...}</a:t>
            </a:r>
          </a:p>
        </p:txBody>
      </p:sp>
      <p:sp>
        <p:nvSpPr>
          <p:cNvPr id="360" name="Text 59"/>
          <p:cNvSpPr txBox="1"/>
          <p:nvPr/>
        </p:nvSpPr>
        <p:spPr>
          <a:xfrm>
            <a:off x="0" y="4999989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3" name="Text 1"/>
          <p:cNvSpPr txBox="1"/>
          <p:nvPr/>
        </p:nvSpPr>
        <p:spPr>
          <a:xfrm>
            <a:off x="274320" y="218529"/>
            <a:ext cx="59436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Input / Output Walkthrough</a:t>
            </a:r>
          </a:p>
        </p:txBody>
      </p:sp>
      <p:sp>
        <p:nvSpPr>
          <p:cNvPr id="364" name="Text 2"/>
          <p:cNvSpPr txBox="1"/>
          <p:nvPr/>
        </p:nvSpPr>
        <p:spPr>
          <a:xfrm>
            <a:off x="5943600" y="274364"/>
            <a:ext cx="30175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</a:defRPr>
            </a:lvl1pPr>
          </a:lstStyle>
          <a:p>
            <a:pPr/>
            <a:r>
              <a:t>Live Transaction Processing — Actual Results</a:t>
            </a:r>
          </a:p>
        </p:txBody>
      </p:sp>
      <p:sp>
        <p:nvSpPr>
          <p:cNvPr id="365" name="Shape 3"/>
          <p:cNvSpPr/>
          <p:nvPr/>
        </p:nvSpPr>
        <p:spPr>
          <a:xfrm>
            <a:off x="228599" y="804672"/>
            <a:ext cx="4023361" cy="329185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6" name="Text 4"/>
          <p:cNvSpPr txBox="1"/>
          <p:nvPr/>
        </p:nvSpPr>
        <p:spPr>
          <a:xfrm>
            <a:off x="228599" y="900728"/>
            <a:ext cx="40233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INPUT — Raw Transactions (Bronze Layer)</a:t>
            </a:r>
          </a:p>
        </p:txBody>
      </p:sp>
      <p:sp>
        <p:nvSpPr>
          <p:cNvPr id="367" name="Shape 5"/>
          <p:cNvSpPr/>
          <p:nvPr/>
        </p:nvSpPr>
        <p:spPr>
          <a:xfrm>
            <a:off x="228599" y="1161288"/>
            <a:ext cx="987554" cy="274321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8" name="Text 6"/>
          <p:cNvSpPr txBox="1"/>
          <p:nvPr/>
        </p:nvSpPr>
        <p:spPr>
          <a:xfrm>
            <a:off x="228599" y="1234948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TXN ID</a:t>
            </a:r>
          </a:p>
        </p:txBody>
      </p:sp>
      <p:sp>
        <p:nvSpPr>
          <p:cNvPr id="369" name="Shape 7"/>
          <p:cNvSpPr/>
          <p:nvPr/>
        </p:nvSpPr>
        <p:spPr>
          <a:xfrm>
            <a:off x="1234439" y="1161288"/>
            <a:ext cx="987553" cy="274321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0" name="Text 8"/>
          <p:cNvSpPr txBox="1"/>
          <p:nvPr/>
        </p:nvSpPr>
        <p:spPr>
          <a:xfrm>
            <a:off x="1234439" y="1234948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371" name="Shape 9"/>
          <p:cNvSpPr/>
          <p:nvPr/>
        </p:nvSpPr>
        <p:spPr>
          <a:xfrm>
            <a:off x="2240279" y="1161288"/>
            <a:ext cx="987553" cy="274321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Text 10"/>
          <p:cNvSpPr txBox="1"/>
          <p:nvPr/>
        </p:nvSpPr>
        <p:spPr>
          <a:xfrm>
            <a:off x="2240279" y="1234948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Amount</a:t>
            </a:r>
          </a:p>
        </p:txBody>
      </p:sp>
      <p:sp>
        <p:nvSpPr>
          <p:cNvPr id="373" name="Shape 11"/>
          <p:cNvSpPr/>
          <p:nvPr/>
        </p:nvSpPr>
        <p:spPr>
          <a:xfrm>
            <a:off x="3246120" y="1161288"/>
            <a:ext cx="987553" cy="274321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4" name="Text 12"/>
          <p:cNvSpPr txBox="1"/>
          <p:nvPr/>
        </p:nvSpPr>
        <p:spPr>
          <a:xfrm>
            <a:off x="3246120" y="1234948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Country</a:t>
            </a:r>
          </a:p>
        </p:txBody>
      </p:sp>
      <p:sp>
        <p:nvSpPr>
          <p:cNvPr id="375" name="Shape 13"/>
          <p:cNvSpPr/>
          <p:nvPr/>
        </p:nvSpPr>
        <p:spPr>
          <a:xfrm>
            <a:off x="228599" y="1453896"/>
            <a:ext cx="987554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6" name="Text 14"/>
          <p:cNvSpPr txBox="1"/>
          <p:nvPr/>
        </p:nvSpPr>
        <p:spPr>
          <a:xfrm>
            <a:off x="228599" y="1545844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TXN001</a:t>
            </a:r>
          </a:p>
        </p:txBody>
      </p:sp>
      <p:sp>
        <p:nvSpPr>
          <p:cNvPr id="377" name="Shape 15"/>
          <p:cNvSpPr/>
          <p:nvPr/>
        </p:nvSpPr>
        <p:spPr>
          <a:xfrm>
            <a:off x="1234439" y="1453896"/>
            <a:ext cx="987553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Text 16"/>
          <p:cNvSpPr txBox="1"/>
          <p:nvPr/>
        </p:nvSpPr>
        <p:spPr>
          <a:xfrm>
            <a:off x="1234439" y="1545844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C001</a:t>
            </a:r>
          </a:p>
        </p:txBody>
      </p:sp>
      <p:sp>
        <p:nvSpPr>
          <p:cNvPr id="379" name="Shape 17"/>
          <p:cNvSpPr/>
          <p:nvPr/>
        </p:nvSpPr>
        <p:spPr>
          <a:xfrm>
            <a:off x="2240279" y="1453896"/>
            <a:ext cx="987553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0" name="Text 18"/>
          <p:cNvSpPr txBox="1"/>
          <p:nvPr/>
        </p:nvSpPr>
        <p:spPr>
          <a:xfrm>
            <a:off x="2240279" y="1545844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$15,000</a:t>
            </a:r>
          </a:p>
        </p:txBody>
      </p:sp>
      <p:sp>
        <p:nvSpPr>
          <p:cNvPr id="381" name="Shape 19"/>
          <p:cNvSpPr/>
          <p:nvPr/>
        </p:nvSpPr>
        <p:spPr>
          <a:xfrm>
            <a:off x="3246120" y="1453896"/>
            <a:ext cx="987553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2" name="Text 20"/>
          <p:cNvSpPr txBox="1"/>
          <p:nvPr/>
        </p:nvSpPr>
        <p:spPr>
          <a:xfrm>
            <a:off x="3246120" y="1545844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Singapore</a:t>
            </a:r>
          </a:p>
        </p:txBody>
      </p:sp>
      <p:sp>
        <p:nvSpPr>
          <p:cNvPr id="383" name="Shape 21"/>
          <p:cNvSpPr/>
          <p:nvPr/>
        </p:nvSpPr>
        <p:spPr>
          <a:xfrm>
            <a:off x="228599" y="1783079"/>
            <a:ext cx="987554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ext 22"/>
          <p:cNvSpPr txBox="1"/>
          <p:nvPr/>
        </p:nvSpPr>
        <p:spPr>
          <a:xfrm>
            <a:off x="228599" y="1875027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TXN002</a:t>
            </a:r>
          </a:p>
        </p:txBody>
      </p:sp>
      <p:sp>
        <p:nvSpPr>
          <p:cNvPr id="385" name="Shape 23"/>
          <p:cNvSpPr/>
          <p:nvPr/>
        </p:nvSpPr>
        <p:spPr>
          <a:xfrm>
            <a:off x="1234439" y="1783079"/>
            <a:ext cx="987553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6" name="Text 24"/>
          <p:cNvSpPr txBox="1"/>
          <p:nvPr/>
        </p:nvSpPr>
        <p:spPr>
          <a:xfrm>
            <a:off x="1234439" y="1875027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C002</a:t>
            </a:r>
          </a:p>
        </p:txBody>
      </p:sp>
      <p:sp>
        <p:nvSpPr>
          <p:cNvPr id="387" name="Shape 25"/>
          <p:cNvSpPr/>
          <p:nvPr/>
        </p:nvSpPr>
        <p:spPr>
          <a:xfrm>
            <a:off x="2240279" y="1783079"/>
            <a:ext cx="987553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8" name="Text 26"/>
          <p:cNvSpPr txBox="1"/>
          <p:nvPr/>
        </p:nvSpPr>
        <p:spPr>
          <a:xfrm>
            <a:off x="2240279" y="1875027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$500</a:t>
            </a:r>
          </a:p>
        </p:txBody>
      </p:sp>
      <p:sp>
        <p:nvSpPr>
          <p:cNvPr id="389" name="Shape 27"/>
          <p:cNvSpPr/>
          <p:nvPr/>
        </p:nvSpPr>
        <p:spPr>
          <a:xfrm>
            <a:off x="3246120" y="1783079"/>
            <a:ext cx="987553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Text 28"/>
          <p:cNvSpPr txBox="1"/>
          <p:nvPr/>
        </p:nvSpPr>
        <p:spPr>
          <a:xfrm>
            <a:off x="3246120" y="1875027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Singapore</a:t>
            </a:r>
          </a:p>
        </p:txBody>
      </p:sp>
      <p:sp>
        <p:nvSpPr>
          <p:cNvPr id="391" name="Shape 29"/>
          <p:cNvSpPr/>
          <p:nvPr/>
        </p:nvSpPr>
        <p:spPr>
          <a:xfrm>
            <a:off x="228599" y="2112264"/>
            <a:ext cx="987554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2" name="Text 30"/>
          <p:cNvSpPr txBox="1"/>
          <p:nvPr/>
        </p:nvSpPr>
        <p:spPr>
          <a:xfrm>
            <a:off x="228599" y="2204212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TXN003</a:t>
            </a:r>
          </a:p>
        </p:txBody>
      </p:sp>
      <p:sp>
        <p:nvSpPr>
          <p:cNvPr id="393" name="Shape 31"/>
          <p:cNvSpPr/>
          <p:nvPr/>
        </p:nvSpPr>
        <p:spPr>
          <a:xfrm>
            <a:off x="1234439" y="2112264"/>
            <a:ext cx="987553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4" name="Text 32"/>
          <p:cNvSpPr txBox="1"/>
          <p:nvPr/>
        </p:nvSpPr>
        <p:spPr>
          <a:xfrm>
            <a:off x="1234439" y="2204212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C003</a:t>
            </a:r>
          </a:p>
        </p:txBody>
      </p:sp>
      <p:sp>
        <p:nvSpPr>
          <p:cNvPr id="395" name="Shape 33"/>
          <p:cNvSpPr/>
          <p:nvPr/>
        </p:nvSpPr>
        <p:spPr>
          <a:xfrm>
            <a:off x="2240279" y="2112264"/>
            <a:ext cx="987553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6" name="Text 34"/>
          <p:cNvSpPr txBox="1"/>
          <p:nvPr/>
        </p:nvSpPr>
        <p:spPr>
          <a:xfrm>
            <a:off x="2240279" y="2204212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$25,000</a:t>
            </a:r>
          </a:p>
        </p:txBody>
      </p:sp>
      <p:sp>
        <p:nvSpPr>
          <p:cNvPr id="397" name="Shape 35"/>
          <p:cNvSpPr/>
          <p:nvPr/>
        </p:nvSpPr>
        <p:spPr>
          <a:xfrm>
            <a:off x="3246120" y="2112264"/>
            <a:ext cx="987553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8" name="Text 36"/>
          <p:cNvSpPr txBox="1"/>
          <p:nvPr/>
        </p:nvSpPr>
        <p:spPr>
          <a:xfrm>
            <a:off x="3246120" y="2204212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Nigeria</a:t>
            </a:r>
          </a:p>
        </p:txBody>
      </p:sp>
      <p:sp>
        <p:nvSpPr>
          <p:cNvPr id="399" name="Shape 37"/>
          <p:cNvSpPr/>
          <p:nvPr/>
        </p:nvSpPr>
        <p:spPr>
          <a:xfrm>
            <a:off x="228599" y="2441448"/>
            <a:ext cx="987554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0" name="Text 38"/>
          <p:cNvSpPr txBox="1"/>
          <p:nvPr/>
        </p:nvSpPr>
        <p:spPr>
          <a:xfrm>
            <a:off x="228599" y="2533396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TXN004</a:t>
            </a:r>
          </a:p>
        </p:txBody>
      </p:sp>
      <p:sp>
        <p:nvSpPr>
          <p:cNvPr id="401" name="Shape 39"/>
          <p:cNvSpPr/>
          <p:nvPr/>
        </p:nvSpPr>
        <p:spPr>
          <a:xfrm>
            <a:off x="1234439" y="2441448"/>
            <a:ext cx="987553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2" name="Text 40"/>
          <p:cNvSpPr txBox="1"/>
          <p:nvPr/>
        </p:nvSpPr>
        <p:spPr>
          <a:xfrm>
            <a:off x="1234439" y="2533396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C004</a:t>
            </a:r>
          </a:p>
        </p:txBody>
      </p:sp>
      <p:sp>
        <p:nvSpPr>
          <p:cNvPr id="403" name="Shape 41"/>
          <p:cNvSpPr/>
          <p:nvPr/>
        </p:nvSpPr>
        <p:spPr>
          <a:xfrm>
            <a:off x="2240279" y="2441448"/>
            <a:ext cx="987553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4" name="Text 42"/>
          <p:cNvSpPr txBox="1"/>
          <p:nvPr/>
        </p:nvSpPr>
        <p:spPr>
          <a:xfrm>
            <a:off x="2240279" y="2533396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$8,000</a:t>
            </a:r>
          </a:p>
        </p:txBody>
      </p:sp>
      <p:sp>
        <p:nvSpPr>
          <p:cNvPr id="405" name="Shape 43"/>
          <p:cNvSpPr/>
          <p:nvPr/>
        </p:nvSpPr>
        <p:spPr>
          <a:xfrm>
            <a:off x="3246120" y="2441448"/>
            <a:ext cx="987553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6" name="Text 44"/>
          <p:cNvSpPr txBox="1"/>
          <p:nvPr/>
        </p:nvSpPr>
        <p:spPr>
          <a:xfrm>
            <a:off x="3246120" y="2533396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India</a:t>
            </a:r>
          </a:p>
        </p:txBody>
      </p:sp>
      <p:sp>
        <p:nvSpPr>
          <p:cNvPr id="407" name="Shape 45"/>
          <p:cNvSpPr/>
          <p:nvPr/>
        </p:nvSpPr>
        <p:spPr>
          <a:xfrm>
            <a:off x="228599" y="2770632"/>
            <a:ext cx="987554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8" name="Text 46"/>
          <p:cNvSpPr txBox="1"/>
          <p:nvPr/>
        </p:nvSpPr>
        <p:spPr>
          <a:xfrm>
            <a:off x="228599" y="2862580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TXN005</a:t>
            </a:r>
          </a:p>
        </p:txBody>
      </p:sp>
      <p:sp>
        <p:nvSpPr>
          <p:cNvPr id="409" name="Shape 47"/>
          <p:cNvSpPr/>
          <p:nvPr/>
        </p:nvSpPr>
        <p:spPr>
          <a:xfrm>
            <a:off x="1234439" y="2770632"/>
            <a:ext cx="987553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0" name="Text 48"/>
          <p:cNvSpPr txBox="1"/>
          <p:nvPr/>
        </p:nvSpPr>
        <p:spPr>
          <a:xfrm>
            <a:off x="1234439" y="2862580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C005</a:t>
            </a:r>
          </a:p>
        </p:txBody>
      </p:sp>
      <p:sp>
        <p:nvSpPr>
          <p:cNvPr id="411" name="Shape 49"/>
          <p:cNvSpPr/>
          <p:nvPr/>
        </p:nvSpPr>
        <p:spPr>
          <a:xfrm>
            <a:off x="2240279" y="2770632"/>
            <a:ext cx="987553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2" name="Text 50"/>
          <p:cNvSpPr txBox="1"/>
          <p:nvPr/>
        </p:nvSpPr>
        <p:spPr>
          <a:xfrm>
            <a:off x="2240279" y="2862580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$12,000</a:t>
            </a:r>
          </a:p>
        </p:txBody>
      </p:sp>
      <p:sp>
        <p:nvSpPr>
          <p:cNvPr id="413" name="Shape 51"/>
          <p:cNvSpPr/>
          <p:nvPr/>
        </p:nvSpPr>
        <p:spPr>
          <a:xfrm>
            <a:off x="3246120" y="2770632"/>
            <a:ext cx="987553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4" name="Text 52"/>
          <p:cNvSpPr txBox="1"/>
          <p:nvPr/>
        </p:nvSpPr>
        <p:spPr>
          <a:xfrm>
            <a:off x="3246120" y="2862580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North Korea</a:t>
            </a:r>
          </a:p>
        </p:txBody>
      </p:sp>
      <p:sp>
        <p:nvSpPr>
          <p:cNvPr id="415" name="Shape 53"/>
          <p:cNvSpPr/>
          <p:nvPr/>
        </p:nvSpPr>
        <p:spPr>
          <a:xfrm>
            <a:off x="228599" y="3127248"/>
            <a:ext cx="4023361" cy="329185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6" name="Text 54"/>
          <p:cNvSpPr txBox="1"/>
          <p:nvPr/>
        </p:nvSpPr>
        <p:spPr>
          <a:xfrm>
            <a:off x="228599" y="3223304"/>
            <a:ext cx="40233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QUERY INPUT (role: compliance_officer)</a:t>
            </a:r>
          </a:p>
        </p:txBody>
      </p:sp>
      <p:sp>
        <p:nvSpPr>
          <p:cNvPr id="417" name="Shape 55"/>
          <p:cNvSpPr/>
          <p:nvPr/>
        </p:nvSpPr>
        <p:spPr>
          <a:xfrm>
            <a:off x="228599" y="3474720"/>
            <a:ext cx="4023361" cy="365761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8" name="Text 56"/>
          <p:cNvSpPr txBox="1"/>
          <p:nvPr/>
        </p:nvSpPr>
        <p:spPr>
          <a:xfrm>
            <a:off x="274319" y="3587750"/>
            <a:ext cx="393192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0C06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"Analyze AML risk for high value transaction"</a:t>
            </a:r>
          </a:p>
        </p:txBody>
      </p:sp>
      <p:sp>
        <p:nvSpPr>
          <p:cNvPr id="419" name="Shape 57"/>
          <p:cNvSpPr/>
          <p:nvPr/>
        </p:nvSpPr>
        <p:spPr>
          <a:xfrm>
            <a:off x="4434840" y="804672"/>
            <a:ext cx="4480560" cy="329185"/>
          </a:xfrm>
          <a:prstGeom prst="rect">
            <a:avLst/>
          </a:prstGeom>
          <a:solidFill>
            <a:srgbClr val="00AA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0" name="Text 58"/>
          <p:cNvSpPr txBox="1"/>
          <p:nvPr/>
        </p:nvSpPr>
        <p:spPr>
          <a:xfrm>
            <a:off x="4434840" y="900728"/>
            <a:ext cx="44805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OUTPUT — MCP System Results (5 Transactions)</a:t>
            </a:r>
          </a:p>
        </p:txBody>
      </p:sp>
      <p:sp>
        <p:nvSpPr>
          <p:cNvPr id="421" name="Shape 59"/>
          <p:cNvSpPr/>
          <p:nvPr/>
        </p:nvSpPr>
        <p:spPr>
          <a:xfrm>
            <a:off x="4462271" y="1161288"/>
            <a:ext cx="731521" cy="274321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2" name="Text 60"/>
          <p:cNvSpPr txBox="1"/>
          <p:nvPr/>
        </p:nvSpPr>
        <p:spPr>
          <a:xfrm>
            <a:off x="4462271" y="1234948"/>
            <a:ext cx="731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TXN</a:t>
            </a:r>
          </a:p>
        </p:txBody>
      </p:sp>
      <p:sp>
        <p:nvSpPr>
          <p:cNvPr id="423" name="Shape 61"/>
          <p:cNvSpPr/>
          <p:nvPr/>
        </p:nvSpPr>
        <p:spPr>
          <a:xfrm>
            <a:off x="5221223" y="1161288"/>
            <a:ext cx="502920" cy="274321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4" name="Text 62"/>
          <p:cNvSpPr txBox="1"/>
          <p:nvPr/>
        </p:nvSpPr>
        <p:spPr>
          <a:xfrm>
            <a:off x="5221223" y="1234948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Score</a:t>
            </a:r>
          </a:p>
        </p:txBody>
      </p:sp>
      <p:sp>
        <p:nvSpPr>
          <p:cNvPr id="425" name="Shape 63"/>
          <p:cNvSpPr/>
          <p:nvPr/>
        </p:nvSpPr>
        <p:spPr>
          <a:xfrm>
            <a:off x="5751576" y="1161288"/>
            <a:ext cx="594361" cy="274321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6" name="Text 64"/>
          <p:cNvSpPr txBox="1"/>
          <p:nvPr/>
        </p:nvSpPr>
        <p:spPr>
          <a:xfrm>
            <a:off x="5751576" y="1234948"/>
            <a:ext cx="594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Band</a:t>
            </a:r>
          </a:p>
        </p:txBody>
      </p:sp>
      <p:sp>
        <p:nvSpPr>
          <p:cNvPr id="427" name="Shape 65"/>
          <p:cNvSpPr/>
          <p:nvPr/>
        </p:nvSpPr>
        <p:spPr>
          <a:xfrm>
            <a:off x="6373367" y="1161288"/>
            <a:ext cx="1874522" cy="274321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8" name="Text 66"/>
          <p:cNvSpPr txBox="1"/>
          <p:nvPr/>
        </p:nvSpPr>
        <p:spPr>
          <a:xfrm>
            <a:off x="6373367" y="1234948"/>
            <a:ext cx="1874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Flags</a:t>
            </a:r>
          </a:p>
        </p:txBody>
      </p:sp>
      <p:sp>
        <p:nvSpPr>
          <p:cNvPr id="429" name="Shape 67"/>
          <p:cNvSpPr/>
          <p:nvPr/>
        </p:nvSpPr>
        <p:spPr>
          <a:xfrm>
            <a:off x="8275319" y="1161288"/>
            <a:ext cx="749809" cy="274321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0" name="Text 68"/>
          <p:cNvSpPr txBox="1"/>
          <p:nvPr/>
        </p:nvSpPr>
        <p:spPr>
          <a:xfrm>
            <a:off x="8275319" y="1234948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Confidence</a:t>
            </a:r>
          </a:p>
        </p:txBody>
      </p:sp>
      <p:sp>
        <p:nvSpPr>
          <p:cNvPr id="431" name="Shape 69"/>
          <p:cNvSpPr/>
          <p:nvPr/>
        </p:nvSpPr>
        <p:spPr>
          <a:xfrm>
            <a:off x="4462271" y="1453896"/>
            <a:ext cx="731521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2" name="Text 70"/>
          <p:cNvSpPr txBox="1"/>
          <p:nvPr/>
        </p:nvSpPr>
        <p:spPr>
          <a:xfrm>
            <a:off x="4462271" y="1545844"/>
            <a:ext cx="731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TXN001</a:t>
            </a:r>
          </a:p>
        </p:txBody>
      </p:sp>
      <p:sp>
        <p:nvSpPr>
          <p:cNvPr id="433" name="Shape 71"/>
          <p:cNvSpPr/>
          <p:nvPr/>
        </p:nvSpPr>
        <p:spPr>
          <a:xfrm>
            <a:off x="5221223" y="1453896"/>
            <a:ext cx="502920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4" name="Text 72"/>
          <p:cNvSpPr txBox="1"/>
          <p:nvPr/>
        </p:nvSpPr>
        <p:spPr>
          <a:xfrm>
            <a:off x="5221223" y="1545844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35" name="Shape 73"/>
          <p:cNvSpPr/>
          <p:nvPr/>
        </p:nvSpPr>
        <p:spPr>
          <a:xfrm>
            <a:off x="5751576" y="1453896"/>
            <a:ext cx="594361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6" name="Text 74"/>
          <p:cNvSpPr txBox="1"/>
          <p:nvPr/>
        </p:nvSpPr>
        <p:spPr>
          <a:xfrm>
            <a:off x="5751576" y="1545844"/>
            <a:ext cx="594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E07800"/>
                </a:solidFill>
              </a:defRPr>
            </a:lvl1pPr>
          </a:lstStyle>
          <a:p>
            <a:pPr/>
            <a:r>
              <a:t>High</a:t>
            </a:r>
          </a:p>
        </p:txBody>
      </p:sp>
      <p:sp>
        <p:nvSpPr>
          <p:cNvPr id="437" name="Shape 75"/>
          <p:cNvSpPr/>
          <p:nvPr/>
        </p:nvSpPr>
        <p:spPr>
          <a:xfrm>
            <a:off x="6373367" y="1453896"/>
            <a:ext cx="1874522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8" name="Text 76"/>
          <p:cNvSpPr txBox="1"/>
          <p:nvPr/>
        </p:nvSpPr>
        <p:spPr>
          <a:xfrm>
            <a:off x="6373367" y="1545844"/>
            <a:ext cx="1874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High Value</a:t>
            </a:r>
          </a:p>
        </p:txBody>
      </p:sp>
      <p:sp>
        <p:nvSpPr>
          <p:cNvPr id="439" name="Shape 77"/>
          <p:cNvSpPr/>
          <p:nvPr/>
        </p:nvSpPr>
        <p:spPr>
          <a:xfrm>
            <a:off x="8275319" y="1453896"/>
            <a:ext cx="749809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0" name="Text 78"/>
          <p:cNvSpPr txBox="1"/>
          <p:nvPr/>
        </p:nvSpPr>
        <p:spPr>
          <a:xfrm>
            <a:off x="8275319" y="1545844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Medium</a:t>
            </a:r>
          </a:p>
        </p:txBody>
      </p:sp>
      <p:sp>
        <p:nvSpPr>
          <p:cNvPr id="441" name="Shape 79"/>
          <p:cNvSpPr/>
          <p:nvPr/>
        </p:nvSpPr>
        <p:spPr>
          <a:xfrm>
            <a:off x="4462271" y="1783079"/>
            <a:ext cx="731521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2" name="Text 80"/>
          <p:cNvSpPr txBox="1"/>
          <p:nvPr/>
        </p:nvSpPr>
        <p:spPr>
          <a:xfrm>
            <a:off x="4462271" y="1875027"/>
            <a:ext cx="731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TXN002</a:t>
            </a:r>
          </a:p>
        </p:txBody>
      </p:sp>
      <p:sp>
        <p:nvSpPr>
          <p:cNvPr id="443" name="Shape 81"/>
          <p:cNvSpPr/>
          <p:nvPr/>
        </p:nvSpPr>
        <p:spPr>
          <a:xfrm>
            <a:off x="5221223" y="1783079"/>
            <a:ext cx="502920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4" name="Text 82"/>
          <p:cNvSpPr txBox="1"/>
          <p:nvPr/>
        </p:nvSpPr>
        <p:spPr>
          <a:xfrm>
            <a:off x="5221223" y="1875027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445" name="Shape 83"/>
          <p:cNvSpPr/>
          <p:nvPr/>
        </p:nvSpPr>
        <p:spPr>
          <a:xfrm>
            <a:off x="5751576" y="1783079"/>
            <a:ext cx="594361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6" name="Text 84"/>
          <p:cNvSpPr txBox="1"/>
          <p:nvPr/>
        </p:nvSpPr>
        <p:spPr>
          <a:xfrm>
            <a:off x="5751576" y="1875027"/>
            <a:ext cx="594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0AA66"/>
                </a:solidFill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447" name="Shape 85"/>
          <p:cNvSpPr/>
          <p:nvPr/>
        </p:nvSpPr>
        <p:spPr>
          <a:xfrm>
            <a:off x="6373367" y="1783079"/>
            <a:ext cx="1874522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8" name="Text 86"/>
          <p:cNvSpPr txBox="1"/>
          <p:nvPr/>
        </p:nvSpPr>
        <p:spPr>
          <a:xfrm>
            <a:off x="6373367" y="1875027"/>
            <a:ext cx="1874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None</a:t>
            </a:r>
          </a:p>
        </p:txBody>
      </p:sp>
      <p:sp>
        <p:nvSpPr>
          <p:cNvPr id="449" name="Shape 87"/>
          <p:cNvSpPr/>
          <p:nvPr/>
        </p:nvSpPr>
        <p:spPr>
          <a:xfrm>
            <a:off x="8275319" y="1783079"/>
            <a:ext cx="749809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0" name="Text 88"/>
          <p:cNvSpPr txBox="1"/>
          <p:nvPr/>
        </p:nvSpPr>
        <p:spPr>
          <a:xfrm>
            <a:off x="8275319" y="1875027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451" name="Shape 89"/>
          <p:cNvSpPr/>
          <p:nvPr/>
        </p:nvSpPr>
        <p:spPr>
          <a:xfrm>
            <a:off x="4462271" y="2112264"/>
            <a:ext cx="731521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2" name="Text 90"/>
          <p:cNvSpPr txBox="1"/>
          <p:nvPr/>
        </p:nvSpPr>
        <p:spPr>
          <a:xfrm>
            <a:off x="4462271" y="2204212"/>
            <a:ext cx="731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TXN003</a:t>
            </a:r>
          </a:p>
        </p:txBody>
      </p:sp>
      <p:sp>
        <p:nvSpPr>
          <p:cNvPr id="453" name="Shape 91"/>
          <p:cNvSpPr/>
          <p:nvPr/>
        </p:nvSpPr>
        <p:spPr>
          <a:xfrm>
            <a:off x="5221223" y="2112264"/>
            <a:ext cx="502920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4" name="Text 92"/>
          <p:cNvSpPr txBox="1"/>
          <p:nvPr/>
        </p:nvSpPr>
        <p:spPr>
          <a:xfrm>
            <a:off x="5221223" y="2204212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55" name="Shape 93"/>
          <p:cNvSpPr/>
          <p:nvPr/>
        </p:nvSpPr>
        <p:spPr>
          <a:xfrm>
            <a:off x="5751576" y="2112264"/>
            <a:ext cx="594361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6" name="Text 94"/>
          <p:cNvSpPr txBox="1"/>
          <p:nvPr/>
        </p:nvSpPr>
        <p:spPr>
          <a:xfrm>
            <a:off x="5751576" y="2204212"/>
            <a:ext cx="594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CC3333"/>
                </a:solidFill>
              </a:defRPr>
            </a:lvl1pPr>
          </a:lstStyle>
          <a:p>
            <a:pPr/>
            <a:r>
              <a:t>High</a:t>
            </a:r>
          </a:p>
        </p:txBody>
      </p:sp>
      <p:sp>
        <p:nvSpPr>
          <p:cNvPr id="457" name="Shape 95"/>
          <p:cNvSpPr/>
          <p:nvPr/>
        </p:nvSpPr>
        <p:spPr>
          <a:xfrm>
            <a:off x="6373367" y="2112264"/>
            <a:ext cx="1874522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8" name="Text 96"/>
          <p:cNvSpPr txBox="1"/>
          <p:nvPr/>
        </p:nvSpPr>
        <p:spPr>
          <a:xfrm>
            <a:off x="6373367" y="2204212"/>
            <a:ext cx="1874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High Value + Sanctioned</a:t>
            </a:r>
          </a:p>
        </p:txBody>
      </p:sp>
      <p:sp>
        <p:nvSpPr>
          <p:cNvPr id="459" name="Shape 97"/>
          <p:cNvSpPr/>
          <p:nvPr/>
        </p:nvSpPr>
        <p:spPr>
          <a:xfrm>
            <a:off x="8275319" y="2112264"/>
            <a:ext cx="749809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0" name="Text 98"/>
          <p:cNvSpPr txBox="1"/>
          <p:nvPr/>
        </p:nvSpPr>
        <p:spPr>
          <a:xfrm>
            <a:off x="8275319" y="2204212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High</a:t>
            </a:r>
          </a:p>
        </p:txBody>
      </p:sp>
      <p:sp>
        <p:nvSpPr>
          <p:cNvPr id="461" name="Shape 99"/>
          <p:cNvSpPr/>
          <p:nvPr/>
        </p:nvSpPr>
        <p:spPr>
          <a:xfrm>
            <a:off x="4462271" y="2441448"/>
            <a:ext cx="731521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2" name="Text 100"/>
          <p:cNvSpPr txBox="1"/>
          <p:nvPr/>
        </p:nvSpPr>
        <p:spPr>
          <a:xfrm>
            <a:off x="4462271" y="2533396"/>
            <a:ext cx="731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TXN004</a:t>
            </a:r>
          </a:p>
        </p:txBody>
      </p:sp>
      <p:sp>
        <p:nvSpPr>
          <p:cNvPr id="463" name="Shape 101"/>
          <p:cNvSpPr/>
          <p:nvPr/>
        </p:nvSpPr>
        <p:spPr>
          <a:xfrm>
            <a:off x="5221223" y="2441448"/>
            <a:ext cx="502920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4" name="Text 102"/>
          <p:cNvSpPr txBox="1"/>
          <p:nvPr/>
        </p:nvSpPr>
        <p:spPr>
          <a:xfrm>
            <a:off x="5221223" y="2533396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65" name="Shape 103"/>
          <p:cNvSpPr/>
          <p:nvPr/>
        </p:nvSpPr>
        <p:spPr>
          <a:xfrm>
            <a:off x="5751576" y="2441448"/>
            <a:ext cx="594361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6" name="Text 104"/>
          <p:cNvSpPr txBox="1"/>
          <p:nvPr/>
        </p:nvSpPr>
        <p:spPr>
          <a:xfrm>
            <a:off x="5751576" y="2533396"/>
            <a:ext cx="594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0AA66"/>
                </a:solidFill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467" name="Shape 105"/>
          <p:cNvSpPr/>
          <p:nvPr/>
        </p:nvSpPr>
        <p:spPr>
          <a:xfrm>
            <a:off x="6373367" y="2441448"/>
            <a:ext cx="1874522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8" name="Text 106"/>
          <p:cNvSpPr txBox="1"/>
          <p:nvPr/>
        </p:nvSpPr>
        <p:spPr>
          <a:xfrm>
            <a:off x="6373367" y="2533396"/>
            <a:ext cx="1874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None</a:t>
            </a:r>
          </a:p>
        </p:txBody>
      </p:sp>
      <p:sp>
        <p:nvSpPr>
          <p:cNvPr id="469" name="Shape 107"/>
          <p:cNvSpPr/>
          <p:nvPr/>
        </p:nvSpPr>
        <p:spPr>
          <a:xfrm>
            <a:off x="8275319" y="2441448"/>
            <a:ext cx="749809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0" name="Text 108"/>
          <p:cNvSpPr txBox="1"/>
          <p:nvPr/>
        </p:nvSpPr>
        <p:spPr>
          <a:xfrm>
            <a:off x="8275319" y="2533396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471" name="Shape 109"/>
          <p:cNvSpPr/>
          <p:nvPr/>
        </p:nvSpPr>
        <p:spPr>
          <a:xfrm>
            <a:off x="4462271" y="2770632"/>
            <a:ext cx="731521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2" name="Text 110"/>
          <p:cNvSpPr txBox="1"/>
          <p:nvPr/>
        </p:nvSpPr>
        <p:spPr>
          <a:xfrm>
            <a:off x="4462271" y="2862580"/>
            <a:ext cx="731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TXN005</a:t>
            </a:r>
          </a:p>
        </p:txBody>
      </p:sp>
      <p:sp>
        <p:nvSpPr>
          <p:cNvPr id="473" name="Shape 111"/>
          <p:cNvSpPr/>
          <p:nvPr/>
        </p:nvSpPr>
        <p:spPr>
          <a:xfrm>
            <a:off x="5221223" y="2770632"/>
            <a:ext cx="502920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4" name="Text 112"/>
          <p:cNvSpPr txBox="1"/>
          <p:nvPr/>
        </p:nvSpPr>
        <p:spPr>
          <a:xfrm>
            <a:off x="5221223" y="2862580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75" name="Shape 113"/>
          <p:cNvSpPr/>
          <p:nvPr/>
        </p:nvSpPr>
        <p:spPr>
          <a:xfrm>
            <a:off x="5751576" y="2770632"/>
            <a:ext cx="594361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6" name="Text 114"/>
          <p:cNvSpPr txBox="1"/>
          <p:nvPr/>
        </p:nvSpPr>
        <p:spPr>
          <a:xfrm>
            <a:off x="5751576" y="2862580"/>
            <a:ext cx="594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CC3333"/>
                </a:solidFill>
              </a:defRPr>
            </a:lvl1pPr>
          </a:lstStyle>
          <a:p>
            <a:pPr/>
            <a:r>
              <a:t>High</a:t>
            </a:r>
          </a:p>
        </p:txBody>
      </p:sp>
      <p:sp>
        <p:nvSpPr>
          <p:cNvPr id="477" name="Shape 115"/>
          <p:cNvSpPr/>
          <p:nvPr/>
        </p:nvSpPr>
        <p:spPr>
          <a:xfrm>
            <a:off x="6373367" y="2770632"/>
            <a:ext cx="1874522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8" name="Text 116"/>
          <p:cNvSpPr txBox="1"/>
          <p:nvPr/>
        </p:nvSpPr>
        <p:spPr>
          <a:xfrm>
            <a:off x="6373367" y="2862580"/>
            <a:ext cx="1874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High Value + Sanctioned</a:t>
            </a:r>
          </a:p>
        </p:txBody>
      </p:sp>
      <p:sp>
        <p:nvSpPr>
          <p:cNvPr id="479" name="Shape 117"/>
          <p:cNvSpPr/>
          <p:nvPr/>
        </p:nvSpPr>
        <p:spPr>
          <a:xfrm>
            <a:off x="8275319" y="2770632"/>
            <a:ext cx="749809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0" name="Text 118"/>
          <p:cNvSpPr txBox="1"/>
          <p:nvPr/>
        </p:nvSpPr>
        <p:spPr>
          <a:xfrm>
            <a:off x="8275319" y="2862580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High</a:t>
            </a:r>
          </a:p>
        </p:txBody>
      </p:sp>
      <p:sp>
        <p:nvSpPr>
          <p:cNvPr id="481" name="Shape 119"/>
          <p:cNvSpPr/>
          <p:nvPr/>
        </p:nvSpPr>
        <p:spPr>
          <a:xfrm>
            <a:off x="4462271" y="3090672"/>
            <a:ext cx="1051561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2" name="Text 120"/>
          <p:cNvSpPr txBox="1"/>
          <p:nvPr/>
        </p:nvSpPr>
        <p:spPr>
          <a:xfrm>
            <a:off x="4462271" y="3154016"/>
            <a:ext cx="105156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0066CC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83" name="Text 121"/>
          <p:cNvSpPr txBox="1"/>
          <p:nvPr/>
        </p:nvSpPr>
        <p:spPr>
          <a:xfrm>
            <a:off x="4462271" y="3532667"/>
            <a:ext cx="105156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334466"/>
                </a:solidFill>
              </a:defRPr>
            </a:pPr>
            <a:r>
              <a:t>Transactions</a:t>
            </a:r>
          </a:p>
          <a:p>
            <a:pPr algn="ctr">
              <a:defRPr sz="800">
                <a:solidFill>
                  <a:srgbClr val="334466"/>
                </a:solidFill>
              </a:defRPr>
            </a:pPr>
            <a:r>
              <a:t>Processed</a:t>
            </a:r>
          </a:p>
        </p:txBody>
      </p:sp>
      <p:sp>
        <p:nvSpPr>
          <p:cNvPr id="484" name="Shape 122"/>
          <p:cNvSpPr/>
          <p:nvPr/>
        </p:nvSpPr>
        <p:spPr>
          <a:xfrm>
            <a:off x="5605271" y="3090672"/>
            <a:ext cx="1051561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5" name="Text 123"/>
          <p:cNvSpPr txBox="1"/>
          <p:nvPr/>
        </p:nvSpPr>
        <p:spPr>
          <a:xfrm>
            <a:off x="5605271" y="3154016"/>
            <a:ext cx="105156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0066CC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86" name="Text 124"/>
          <p:cNvSpPr txBox="1"/>
          <p:nvPr/>
        </p:nvSpPr>
        <p:spPr>
          <a:xfrm>
            <a:off x="5605271" y="3532667"/>
            <a:ext cx="105156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334466"/>
                </a:solidFill>
              </a:defRPr>
            </a:pPr>
            <a:r>
              <a:t>High Risk</a:t>
            </a:r>
          </a:p>
          <a:p>
            <a:pPr algn="ctr">
              <a:defRPr sz="800">
                <a:solidFill>
                  <a:srgbClr val="334466"/>
                </a:solidFill>
              </a:defRPr>
            </a:pPr>
            <a:r>
              <a:t>Flagged</a:t>
            </a:r>
          </a:p>
        </p:txBody>
      </p:sp>
      <p:sp>
        <p:nvSpPr>
          <p:cNvPr id="487" name="Shape 125"/>
          <p:cNvSpPr/>
          <p:nvPr/>
        </p:nvSpPr>
        <p:spPr>
          <a:xfrm>
            <a:off x="6748271" y="3090672"/>
            <a:ext cx="1051561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8" name="Text 126"/>
          <p:cNvSpPr txBox="1"/>
          <p:nvPr/>
        </p:nvSpPr>
        <p:spPr>
          <a:xfrm>
            <a:off x="6748271" y="3154016"/>
            <a:ext cx="105156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0066CC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89" name="Text 127"/>
          <p:cNvSpPr txBox="1"/>
          <p:nvPr/>
        </p:nvSpPr>
        <p:spPr>
          <a:xfrm>
            <a:off x="6748271" y="3532667"/>
            <a:ext cx="105156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334466"/>
                </a:solidFill>
              </a:defRPr>
            </a:pPr>
            <a:r>
              <a:t>Flags</a:t>
            </a:r>
          </a:p>
          <a:p>
            <a:pPr algn="ctr">
              <a:defRPr sz="800">
                <a:solidFill>
                  <a:srgbClr val="334466"/>
                </a:solidFill>
              </a:defRPr>
            </a:pPr>
            <a:r>
              <a:t>Triggered</a:t>
            </a:r>
          </a:p>
        </p:txBody>
      </p:sp>
      <p:sp>
        <p:nvSpPr>
          <p:cNvPr id="490" name="Shape 128"/>
          <p:cNvSpPr/>
          <p:nvPr/>
        </p:nvSpPr>
        <p:spPr>
          <a:xfrm>
            <a:off x="7891271" y="3090672"/>
            <a:ext cx="1051561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1" name="Text 129"/>
          <p:cNvSpPr txBox="1"/>
          <p:nvPr/>
        </p:nvSpPr>
        <p:spPr>
          <a:xfrm>
            <a:off x="7891271" y="3154016"/>
            <a:ext cx="105156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0066CC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92" name="Text 130"/>
          <p:cNvSpPr txBox="1"/>
          <p:nvPr/>
        </p:nvSpPr>
        <p:spPr>
          <a:xfrm>
            <a:off x="7891271" y="3532667"/>
            <a:ext cx="105156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334466"/>
                </a:solidFill>
              </a:defRPr>
            </a:pPr>
            <a:r>
              <a:t>Sanctioned</a:t>
            </a:r>
          </a:p>
          <a:p>
            <a:pPr algn="ctr">
              <a:defRPr sz="800">
                <a:solidFill>
                  <a:srgbClr val="334466"/>
                </a:solidFill>
              </a:defRPr>
            </a:pPr>
            <a:r>
              <a:t>Countries</a:t>
            </a:r>
          </a:p>
        </p:txBody>
      </p:sp>
      <p:sp>
        <p:nvSpPr>
          <p:cNvPr id="493" name="Shape 131"/>
          <p:cNvSpPr/>
          <p:nvPr/>
        </p:nvSpPr>
        <p:spPr>
          <a:xfrm>
            <a:off x="228600" y="3977640"/>
            <a:ext cx="8686800" cy="877825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4" name="Text 132"/>
          <p:cNvSpPr txBox="1"/>
          <p:nvPr/>
        </p:nvSpPr>
        <p:spPr>
          <a:xfrm>
            <a:off x="320040" y="4005071"/>
            <a:ext cx="850392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TXN003 Output: {"status":"SUCCESS","txn":{"txn_id":"TXN003","customer_id":"C003****","amount":25000,"country":"Nigeria"},"route":["retriever","reasoner","validator"],"flags":["High Value","Sanctioned","Policy Triggered"],"confidence":"High","risk_score":5,"risk_band":"High","reasoning":{"summary":"Transaction exceeds AML threshold","risk_factors":["High Value Transaction"],"policy_references":["Transactions above 10000 must be flagged","Sanctioned countries require enhanced due diligence"]},"validation":{"flags":["High Value","Sanctioned","Policy Triggered"],"confidence":"High","rule_hits":{"high_value":true,"sanctioned_country":true,"policy_triggered":true}}}</a:t>
            </a:r>
          </a:p>
        </p:txBody>
      </p:sp>
      <p:sp>
        <p:nvSpPr>
          <p:cNvPr id="495" name="Text 133"/>
          <p:cNvSpPr txBox="1"/>
          <p:nvPr/>
        </p:nvSpPr>
        <p:spPr>
          <a:xfrm>
            <a:off x="0" y="4999989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8" name="Text 1"/>
          <p:cNvSpPr txBox="1"/>
          <p:nvPr/>
        </p:nvSpPr>
        <p:spPr>
          <a:xfrm>
            <a:off x="274320" y="218529"/>
            <a:ext cx="64008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Security &amp; Governance</a:t>
            </a:r>
          </a:p>
        </p:txBody>
      </p:sp>
      <p:sp>
        <p:nvSpPr>
          <p:cNvPr id="499" name="Text 2"/>
          <p:cNvSpPr txBox="1"/>
          <p:nvPr/>
        </p:nvSpPr>
        <p:spPr>
          <a:xfrm>
            <a:off x="6400800" y="274364"/>
            <a:ext cx="25603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</a:defRPr>
            </a:lvl1pPr>
          </a:lstStyle>
          <a:p>
            <a:pPr/>
            <a:r>
              <a:t>Defense-in-Depth — Regulated BFSI Compliance</a:t>
            </a:r>
          </a:p>
        </p:txBody>
      </p:sp>
      <p:sp>
        <p:nvSpPr>
          <p:cNvPr id="500" name="Shape 3"/>
          <p:cNvSpPr/>
          <p:nvPr/>
        </p:nvSpPr>
        <p:spPr>
          <a:xfrm>
            <a:off x="228600" y="82296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1" name="Shape 4"/>
          <p:cNvSpPr/>
          <p:nvPr/>
        </p:nvSpPr>
        <p:spPr>
          <a:xfrm>
            <a:off x="228600" y="822960"/>
            <a:ext cx="2834640" cy="347473"/>
          </a:xfrm>
          <a:prstGeom prst="rect">
            <a:avLst/>
          </a:prstGeom>
          <a:solidFill>
            <a:srgbClr val="CC33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2" name="Text 5"/>
          <p:cNvSpPr txBox="1"/>
          <p:nvPr/>
        </p:nvSpPr>
        <p:spPr>
          <a:xfrm>
            <a:off x="228600" y="933196"/>
            <a:ext cx="28346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Prompt Injection Guard</a:t>
            </a:r>
          </a:p>
        </p:txBody>
      </p:sp>
      <p:sp>
        <p:nvSpPr>
          <p:cNvPr id="503" name="Text 6"/>
          <p:cNvSpPr txBox="1"/>
          <p:nvPr/>
        </p:nvSpPr>
        <p:spPr>
          <a:xfrm>
            <a:off x="320039" y="1381251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4 suspicious patterns detected</a:t>
            </a:r>
          </a:p>
        </p:txBody>
      </p:sp>
      <p:sp>
        <p:nvSpPr>
          <p:cNvPr id="504" name="Text 7"/>
          <p:cNvSpPr txBox="1"/>
          <p:nvPr/>
        </p:nvSpPr>
        <p:spPr>
          <a:xfrm>
            <a:off x="320039" y="1884171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Blocks: 'ignore instructions', 'reveal prompt', 'bypass rules'</a:t>
            </a:r>
          </a:p>
        </p:txBody>
      </p:sp>
      <p:sp>
        <p:nvSpPr>
          <p:cNvPr id="505" name="Text 8"/>
          <p:cNvSpPr txBox="1"/>
          <p:nvPr/>
        </p:nvSpPr>
        <p:spPr>
          <a:xfrm>
            <a:off x="320039" y="2387091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Returns: {status: BLOCKED, reason: 'Injection detected'}</a:t>
            </a:r>
          </a:p>
        </p:txBody>
      </p:sp>
      <p:sp>
        <p:nvSpPr>
          <p:cNvPr id="506" name="Shape 9"/>
          <p:cNvSpPr/>
          <p:nvPr/>
        </p:nvSpPr>
        <p:spPr>
          <a:xfrm>
            <a:off x="3172967" y="822960"/>
            <a:ext cx="2834641" cy="19202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7" name="Shape 10"/>
          <p:cNvSpPr/>
          <p:nvPr/>
        </p:nvSpPr>
        <p:spPr>
          <a:xfrm>
            <a:off x="3172967" y="822960"/>
            <a:ext cx="2834641" cy="347473"/>
          </a:xfrm>
          <a:prstGeom prst="rect">
            <a:avLst/>
          </a:prstGeom>
          <a:solidFill>
            <a:srgbClr val="E078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8" name="Text 11"/>
          <p:cNvSpPr txBox="1"/>
          <p:nvPr/>
        </p:nvSpPr>
        <p:spPr>
          <a:xfrm>
            <a:off x="3172967" y="933196"/>
            <a:ext cx="2834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Unsafe Query Filter</a:t>
            </a:r>
          </a:p>
        </p:txBody>
      </p:sp>
      <p:sp>
        <p:nvSpPr>
          <p:cNvPr id="509" name="Text 12"/>
          <p:cNvSpPr txBox="1"/>
          <p:nvPr/>
        </p:nvSpPr>
        <p:spPr>
          <a:xfrm>
            <a:off x="3264408" y="1381251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Blocked keywords: confidential, pii, password, api key</a:t>
            </a:r>
          </a:p>
        </p:txBody>
      </p:sp>
      <p:sp>
        <p:nvSpPr>
          <p:cNvPr id="510" name="Text 13"/>
          <p:cNvSpPr txBox="1"/>
          <p:nvPr/>
        </p:nvSpPr>
        <p:spPr>
          <a:xfrm>
            <a:off x="3264408" y="1884171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Pre-execution scan on every query string</a:t>
            </a:r>
          </a:p>
        </p:txBody>
      </p:sp>
      <p:sp>
        <p:nvSpPr>
          <p:cNvPr id="511" name="Text 14"/>
          <p:cNvSpPr txBox="1"/>
          <p:nvPr/>
        </p:nvSpPr>
        <p:spPr>
          <a:xfrm>
            <a:off x="3264408" y="2387091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Returns: {status: BLOCKED, reason: 'Unsafe query'}</a:t>
            </a:r>
          </a:p>
        </p:txBody>
      </p:sp>
      <p:sp>
        <p:nvSpPr>
          <p:cNvPr id="512" name="Shape 15"/>
          <p:cNvSpPr/>
          <p:nvPr/>
        </p:nvSpPr>
        <p:spPr>
          <a:xfrm>
            <a:off x="6117335" y="822960"/>
            <a:ext cx="2834641" cy="19202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3" name="Shape 16"/>
          <p:cNvSpPr/>
          <p:nvPr/>
        </p:nvSpPr>
        <p:spPr>
          <a:xfrm>
            <a:off x="6117335" y="822960"/>
            <a:ext cx="2834641" cy="347473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4" name="Text 17"/>
          <p:cNvSpPr txBox="1"/>
          <p:nvPr/>
        </p:nvSpPr>
        <p:spPr>
          <a:xfrm>
            <a:off x="6117335" y="933196"/>
            <a:ext cx="2834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RBAC Access Control</a:t>
            </a:r>
          </a:p>
        </p:txBody>
      </p:sp>
      <p:sp>
        <p:nvSpPr>
          <p:cNvPr id="515" name="Text 18"/>
          <p:cNvSpPr txBox="1"/>
          <p:nvPr/>
        </p:nvSpPr>
        <p:spPr>
          <a:xfrm>
            <a:off x="6208776" y="1381251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analyst → view_risk only</a:t>
            </a:r>
          </a:p>
        </p:txBody>
      </p:sp>
      <p:sp>
        <p:nvSpPr>
          <p:cNvPr id="516" name="Text 19"/>
          <p:cNvSpPr txBox="1"/>
          <p:nvPr/>
        </p:nvSpPr>
        <p:spPr>
          <a:xfrm>
            <a:off x="6208776" y="1884171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compliance_officer → view_risk + view_reasoning</a:t>
            </a:r>
          </a:p>
        </p:txBody>
      </p:sp>
      <p:sp>
        <p:nvSpPr>
          <p:cNvPr id="517" name="Text 20"/>
          <p:cNvSpPr txBox="1"/>
          <p:nvPr/>
        </p:nvSpPr>
        <p:spPr>
          <a:xfrm>
            <a:off x="6208776" y="2387091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admin → all permissions</a:t>
            </a:r>
          </a:p>
        </p:txBody>
      </p:sp>
      <p:sp>
        <p:nvSpPr>
          <p:cNvPr id="518" name="Text 21"/>
          <p:cNvSpPr txBox="1"/>
          <p:nvPr/>
        </p:nvSpPr>
        <p:spPr>
          <a:xfrm>
            <a:off x="6208776" y="2890011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check_access() enforced before routing</a:t>
            </a:r>
          </a:p>
        </p:txBody>
      </p:sp>
      <p:sp>
        <p:nvSpPr>
          <p:cNvPr id="519" name="Shape 22"/>
          <p:cNvSpPr/>
          <p:nvPr/>
        </p:nvSpPr>
        <p:spPr>
          <a:xfrm>
            <a:off x="228600" y="2852927"/>
            <a:ext cx="2834640" cy="1920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0" name="Shape 23"/>
          <p:cNvSpPr/>
          <p:nvPr/>
        </p:nvSpPr>
        <p:spPr>
          <a:xfrm>
            <a:off x="228600" y="2852927"/>
            <a:ext cx="2834640" cy="347473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1" name="Text 24"/>
          <p:cNvSpPr txBox="1"/>
          <p:nvPr/>
        </p:nvSpPr>
        <p:spPr>
          <a:xfrm>
            <a:off x="228600" y="2963163"/>
            <a:ext cx="28346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PII Data Masking</a:t>
            </a:r>
          </a:p>
        </p:txBody>
      </p:sp>
      <p:sp>
        <p:nvSpPr>
          <p:cNvPr id="522" name="Text 25"/>
          <p:cNvSpPr txBox="1"/>
          <p:nvPr/>
        </p:nvSpPr>
        <p:spPr>
          <a:xfrm>
            <a:off x="320039" y="3411219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customer_id: first 4 chars + '****'</a:t>
            </a:r>
          </a:p>
        </p:txBody>
      </p:sp>
      <p:sp>
        <p:nvSpPr>
          <p:cNvPr id="523" name="Text 26"/>
          <p:cNvSpPr txBox="1"/>
          <p:nvPr/>
        </p:nvSpPr>
        <p:spPr>
          <a:xfrm>
            <a:off x="320039" y="3914139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Applied via mask_sensitive_data() pre-processing</a:t>
            </a:r>
          </a:p>
        </p:txBody>
      </p:sp>
      <p:sp>
        <p:nvSpPr>
          <p:cNvPr id="524" name="Text 27"/>
          <p:cNvSpPr txBox="1"/>
          <p:nvPr/>
        </p:nvSpPr>
        <p:spPr>
          <a:xfrm>
            <a:off x="320039" y="4417059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Enforced before ANY agent receives transaction data</a:t>
            </a:r>
          </a:p>
        </p:txBody>
      </p:sp>
      <p:sp>
        <p:nvSpPr>
          <p:cNvPr id="525" name="Shape 28"/>
          <p:cNvSpPr/>
          <p:nvPr/>
        </p:nvSpPr>
        <p:spPr>
          <a:xfrm>
            <a:off x="3172967" y="2852927"/>
            <a:ext cx="2834641" cy="1920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6" name="Shape 29"/>
          <p:cNvSpPr/>
          <p:nvPr/>
        </p:nvSpPr>
        <p:spPr>
          <a:xfrm>
            <a:off x="3172967" y="2852927"/>
            <a:ext cx="2834641" cy="347473"/>
          </a:xfrm>
          <a:prstGeom prst="rect">
            <a:avLst/>
          </a:prstGeom>
          <a:solidFill>
            <a:srgbClr val="6633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7" name="Text 30"/>
          <p:cNvSpPr txBox="1"/>
          <p:nvPr/>
        </p:nvSpPr>
        <p:spPr>
          <a:xfrm>
            <a:off x="3172967" y="2963163"/>
            <a:ext cx="2834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Audit Logging</a:t>
            </a:r>
          </a:p>
        </p:txBody>
      </p:sp>
      <p:sp>
        <p:nvSpPr>
          <p:cNvPr id="528" name="Text 31"/>
          <p:cNvSpPr txBox="1"/>
          <p:nvPr/>
        </p:nvSpPr>
        <p:spPr>
          <a:xfrm>
            <a:off x="3264408" y="3411219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Every request: txn_id, role, action, timestamp</a:t>
            </a:r>
          </a:p>
        </p:txBody>
      </p:sp>
      <p:sp>
        <p:nvSpPr>
          <p:cNvPr id="529" name="Text 32"/>
          <p:cNvSpPr txBox="1"/>
          <p:nvPr/>
        </p:nvSpPr>
        <p:spPr>
          <a:xfrm>
            <a:off x="3264408" y="3914139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Risk score + flags captured per transaction</a:t>
            </a:r>
          </a:p>
        </p:txBody>
      </p:sp>
      <p:sp>
        <p:nvSpPr>
          <p:cNvPr id="530" name="Text 33"/>
          <p:cNvSpPr txBox="1"/>
          <p:nvPr/>
        </p:nvSpPr>
        <p:spPr>
          <a:xfrm>
            <a:off x="3264408" y="4417059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Structured JSON log: AUDIT_LOG entry per run</a:t>
            </a:r>
          </a:p>
        </p:txBody>
      </p:sp>
      <p:sp>
        <p:nvSpPr>
          <p:cNvPr id="531" name="Shape 34"/>
          <p:cNvSpPr/>
          <p:nvPr/>
        </p:nvSpPr>
        <p:spPr>
          <a:xfrm>
            <a:off x="6117335" y="2852927"/>
            <a:ext cx="2834641" cy="1920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2" name="Shape 35"/>
          <p:cNvSpPr/>
          <p:nvPr/>
        </p:nvSpPr>
        <p:spPr>
          <a:xfrm>
            <a:off x="6117335" y="2852927"/>
            <a:ext cx="2834641" cy="347473"/>
          </a:xfrm>
          <a:prstGeom prst="rect">
            <a:avLst/>
          </a:prstGeom>
          <a:solidFill>
            <a:srgbClr val="88552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3" name="Text 36"/>
          <p:cNvSpPr txBox="1"/>
          <p:nvPr/>
        </p:nvSpPr>
        <p:spPr>
          <a:xfrm>
            <a:off x="6117335" y="2963163"/>
            <a:ext cx="2834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AI Lineage Tracker</a:t>
            </a:r>
          </a:p>
        </p:txBody>
      </p:sp>
      <p:sp>
        <p:nvSpPr>
          <p:cNvPr id="534" name="Text 37"/>
          <p:cNvSpPr txBox="1"/>
          <p:nvPr/>
        </p:nvSpPr>
        <p:spPr>
          <a:xfrm>
            <a:off x="6208776" y="3411219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Stage-by-stage: retrieval → reasoning → validation → decision</a:t>
            </a:r>
          </a:p>
        </p:txBody>
      </p:sp>
      <p:sp>
        <p:nvSpPr>
          <p:cNvPr id="535" name="Text 38"/>
          <p:cNvSpPr txBox="1"/>
          <p:nvPr/>
        </p:nvSpPr>
        <p:spPr>
          <a:xfrm>
            <a:off x="6208776" y="3914139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Input + output captured per agent call</a:t>
            </a:r>
          </a:p>
        </p:txBody>
      </p:sp>
      <p:sp>
        <p:nvSpPr>
          <p:cNvPr id="536" name="Text 39"/>
          <p:cNvSpPr txBox="1"/>
          <p:nvPr/>
        </p:nvSpPr>
        <p:spPr>
          <a:xfrm>
            <a:off x="6208776" y="4417059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• Full reproducibility trail via AILineageTracker.get()</a:t>
            </a:r>
          </a:p>
        </p:txBody>
      </p:sp>
      <p:sp>
        <p:nvSpPr>
          <p:cNvPr id="537" name="Text 40"/>
          <p:cNvSpPr txBox="1"/>
          <p:nvPr/>
        </p:nvSpPr>
        <p:spPr>
          <a:xfrm>
            <a:off x="0" y="4999989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0" name="Text 1"/>
          <p:cNvSpPr txBox="1"/>
          <p:nvPr/>
        </p:nvSpPr>
        <p:spPr>
          <a:xfrm>
            <a:off x="274320" y="218529"/>
            <a:ext cx="64008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LLMOps &amp; Observability</a:t>
            </a:r>
          </a:p>
        </p:txBody>
      </p:sp>
      <p:sp>
        <p:nvSpPr>
          <p:cNvPr id="541" name="Text 2"/>
          <p:cNvSpPr txBox="1"/>
          <p:nvPr/>
        </p:nvSpPr>
        <p:spPr>
          <a:xfrm>
            <a:off x="6400800" y="215813"/>
            <a:ext cx="256032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F5A623"/>
                </a:solidFill>
              </a:defRPr>
            </a:lvl1pPr>
          </a:lstStyle>
          <a:p>
            <a:pPr/>
            <a:r>
              <a:t>Metrics · Lineage · Monitoring · FastAPI /metrics Endpoint</a:t>
            </a:r>
          </a:p>
        </p:txBody>
      </p:sp>
      <p:sp>
        <p:nvSpPr>
          <p:cNvPr id="542" name="Shape 3"/>
          <p:cNvSpPr/>
          <p:nvPr/>
        </p:nvSpPr>
        <p:spPr>
          <a:xfrm>
            <a:off x="228599" y="804672"/>
            <a:ext cx="2084834" cy="9601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3" name="Shape 4"/>
          <p:cNvSpPr/>
          <p:nvPr/>
        </p:nvSpPr>
        <p:spPr>
          <a:xfrm>
            <a:off x="228599" y="804672"/>
            <a:ext cx="2084834" cy="73153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4" name="Text 5"/>
          <p:cNvSpPr txBox="1"/>
          <p:nvPr/>
        </p:nvSpPr>
        <p:spPr>
          <a:xfrm>
            <a:off x="228599" y="925192"/>
            <a:ext cx="2084834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0099AA"/>
                </a:solidFill>
              </a:defRPr>
            </a:lvl1pPr>
          </a:lstStyle>
          <a:p>
            <a:pPr/>
            <a:r>
              <a:t>~2ms</a:t>
            </a:r>
          </a:p>
        </p:txBody>
      </p:sp>
      <p:sp>
        <p:nvSpPr>
          <p:cNvPr id="545" name="Text 6"/>
          <p:cNvSpPr txBox="1"/>
          <p:nvPr/>
        </p:nvSpPr>
        <p:spPr>
          <a:xfrm>
            <a:off x="228599" y="1330496"/>
            <a:ext cx="208483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A1628"/>
                </a:solidFill>
              </a:defRPr>
            </a:lvl1pPr>
          </a:lstStyle>
          <a:p>
            <a:pPr/>
            <a:r>
              <a:t>Retrieval Time</a:t>
            </a:r>
          </a:p>
        </p:txBody>
      </p:sp>
      <p:sp>
        <p:nvSpPr>
          <p:cNvPr id="546" name="Text 7"/>
          <p:cNvSpPr txBox="1"/>
          <p:nvPr/>
        </p:nvSpPr>
        <p:spPr>
          <a:xfrm>
            <a:off x="228599" y="1527555"/>
            <a:ext cx="20848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FAISS IndexFlatL2 search</a:t>
            </a:r>
          </a:p>
        </p:txBody>
      </p:sp>
      <p:sp>
        <p:nvSpPr>
          <p:cNvPr id="547" name="Shape 8"/>
          <p:cNvSpPr/>
          <p:nvPr/>
        </p:nvSpPr>
        <p:spPr>
          <a:xfrm>
            <a:off x="2441448" y="804672"/>
            <a:ext cx="2084833" cy="9601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8" name="Shape 9"/>
          <p:cNvSpPr/>
          <p:nvPr/>
        </p:nvSpPr>
        <p:spPr>
          <a:xfrm>
            <a:off x="2441448" y="804672"/>
            <a:ext cx="2084833" cy="73153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9" name="Text 10"/>
          <p:cNvSpPr txBox="1"/>
          <p:nvPr/>
        </p:nvSpPr>
        <p:spPr>
          <a:xfrm>
            <a:off x="2441448" y="925192"/>
            <a:ext cx="2084833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0066CC"/>
                </a:solidFill>
              </a:defRPr>
            </a:lvl1pPr>
          </a:lstStyle>
          <a:p>
            <a:pPr/>
            <a:r>
              <a:t>~1ms</a:t>
            </a:r>
          </a:p>
        </p:txBody>
      </p:sp>
      <p:sp>
        <p:nvSpPr>
          <p:cNvPr id="550" name="Text 11"/>
          <p:cNvSpPr txBox="1"/>
          <p:nvPr/>
        </p:nvSpPr>
        <p:spPr>
          <a:xfrm>
            <a:off x="2441448" y="1330496"/>
            <a:ext cx="208483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A1628"/>
                </a:solidFill>
              </a:defRPr>
            </a:lvl1pPr>
          </a:lstStyle>
          <a:p>
            <a:pPr/>
            <a:r>
              <a:t>Reasoning Time</a:t>
            </a:r>
          </a:p>
        </p:txBody>
      </p:sp>
      <p:sp>
        <p:nvSpPr>
          <p:cNvPr id="551" name="Text 12"/>
          <p:cNvSpPr txBox="1"/>
          <p:nvPr/>
        </p:nvSpPr>
        <p:spPr>
          <a:xfrm>
            <a:off x="2441448" y="1527555"/>
            <a:ext cx="20848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ReasonerAgent execution</a:t>
            </a:r>
          </a:p>
        </p:txBody>
      </p:sp>
      <p:sp>
        <p:nvSpPr>
          <p:cNvPr id="552" name="Shape 13"/>
          <p:cNvSpPr/>
          <p:nvPr/>
        </p:nvSpPr>
        <p:spPr>
          <a:xfrm>
            <a:off x="4654296" y="804672"/>
            <a:ext cx="2084833" cy="9601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3" name="Shape 14"/>
          <p:cNvSpPr/>
          <p:nvPr/>
        </p:nvSpPr>
        <p:spPr>
          <a:xfrm>
            <a:off x="4654296" y="804672"/>
            <a:ext cx="2084833" cy="73153"/>
          </a:xfrm>
          <a:prstGeom prst="rect">
            <a:avLst/>
          </a:prstGeom>
          <a:solidFill>
            <a:srgbClr val="6633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4" name="Text 15"/>
          <p:cNvSpPr txBox="1"/>
          <p:nvPr/>
        </p:nvSpPr>
        <p:spPr>
          <a:xfrm>
            <a:off x="4654296" y="925192"/>
            <a:ext cx="2084833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6633BB"/>
                </a:solidFill>
              </a:defRPr>
            </a:lvl1pPr>
          </a:lstStyle>
          <a:p>
            <a:pPr/>
            <a:r>
              <a:t>~1ms</a:t>
            </a:r>
          </a:p>
        </p:txBody>
      </p:sp>
      <p:sp>
        <p:nvSpPr>
          <p:cNvPr id="555" name="Text 16"/>
          <p:cNvSpPr txBox="1"/>
          <p:nvPr/>
        </p:nvSpPr>
        <p:spPr>
          <a:xfrm>
            <a:off x="4654296" y="1330496"/>
            <a:ext cx="208483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A1628"/>
                </a:solidFill>
              </a:defRPr>
            </a:lvl1pPr>
          </a:lstStyle>
          <a:p>
            <a:pPr/>
            <a:r>
              <a:t>Validation Time</a:t>
            </a:r>
          </a:p>
        </p:txBody>
      </p:sp>
      <p:sp>
        <p:nvSpPr>
          <p:cNvPr id="556" name="Text 17"/>
          <p:cNvSpPr txBox="1"/>
          <p:nvPr/>
        </p:nvSpPr>
        <p:spPr>
          <a:xfrm>
            <a:off x="4654296" y="1527555"/>
            <a:ext cx="20848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Rule engine + checks</a:t>
            </a:r>
          </a:p>
        </p:txBody>
      </p:sp>
      <p:sp>
        <p:nvSpPr>
          <p:cNvPr id="557" name="Shape 18"/>
          <p:cNvSpPr/>
          <p:nvPr/>
        </p:nvSpPr>
        <p:spPr>
          <a:xfrm>
            <a:off x="6867143" y="804672"/>
            <a:ext cx="2084833" cy="9601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8" name="Shape 19"/>
          <p:cNvSpPr/>
          <p:nvPr/>
        </p:nvSpPr>
        <p:spPr>
          <a:xfrm>
            <a:off x="6867143" y="804672"/>
            <a:ext cx="2084833" cy="73153"/>
          </a:xfrm>
          <a:prstGeom prst="rect">
            <a:avLst/>
          </a:prstGeom>
          <a:solidFill>
            <a:srgbClr val="00AA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9" name="Text 20"/>
          <p:cNvSpPr txBox="1"/>
          <p:nvPr/>
        </p:nvSpPr>
        <p:spPr>
          <a:xfrm>
            <a:off x="6867143" y="925192"/>
            <a:ext cx="2084833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00AA66"/>
                </a:solidFill>
              </a:defRPr>
            </a:lvl1pPr>
          </a:lstStyle>
          <a:p>
            <a:pPr/>
            <a:r>
              <a:t>&lt;5ms</a:t>
            </a:r>
          </a:p>
        </p:txBody>
      </p:sp>
      <p:sp>
        <p:nvSpPr>
          <p:cNvPr id="560" name="Text 21"/>
          <p:cNvSpPr txBox="1"/>
          <p:nvPr/>
        </p:nvSpPr>
        <p:spPr>
          <a:xfrm>
            <a:off x="6867143" y="1330496"/>
            <a:ext cx="208483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A1628"/>
                </a:solidFill>
              </a:defRPr>
            </a:lvl1pPr>
          </a:lstStyle>
          <a:p>
            <a:pPr/>
            <a:r>
              <a:t>E2E Latency</a:t>
            </a:r>
          </a:p>
        </p:txBody>
      </p:sp>
      <p:sp>
        <p:nvSpPr>
          <p:cNvPr id="561" name="Text 22"/>
          <p:cNvSpPr txBox="1"/>
          <p:nvPr/>
        </p:nvSpPr>
        <p:spPr>
          <a:xfrm>
            <a:off x="6867143" y="1527555"/>
            <a:ext cx="20848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Full pipeline per txn</a:t>
            </a:r>
          </a:p>
        </p:txBody>
      </p:sp>
      <p:sp>
        <p:nvSpPr>
          <p:cNvPr id="562" name="Shape 23"/>
          <p:cNvSpPr/>
          <p:nvPr/>
        </p:nvSpPr>
        <p:spPr>
          <a:xfrm>
            <a:off x="228600" y="1901951"/>
            <a:ext cx="4251960" cy="320041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3" name="Text 24"/>
          <p:cNvSpPr txBox="1"/>
          <p:nvPr/>
        </p:nvSpPr>
        <p:spPr>
          <a:xfrm>
            <a:off x="228600" y="1998472"/>
            <a:ext cx="42519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GET /metrics  — LLMOps Tracker Output (per transaction)</a:t>
            </a:r>
          </a:p>
        </p:txBody>
      </p:sp>
      <p:sp>
        <p:nvSpPr>
          <p:cNvPr id="564" name="Shape 25"/>
          <p:cNvSpPr/>
          <p:nvPr/>
        </p:nvSpPr>
        <p:spPr>
          <a:xfrm>
            <a:off x="228600" y="2240279"/>
            <a:ext cx="4251960" cy="1325881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5" name="Text 26"/>
          <p:cNvSpPr txBox="1"/>
          <p:nvPr/>
        </p:nvSpPr>
        <p:spPr>
          <a:xfrm>
            <a:off x="320040" y="2286000"/>
            <a:ext cx="4114801" cy="1117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{</a:t>
            </a:r>
          </a:p>
          <a:p>
            <a:pPr>
              <a:defRPr sz="9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"txn_id": "TXN001",</a:t>
            </a:r>
          </a:p>
          <a:p>
            <a:pPr>
              <a:defRPr sz="9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"retrieval_time": 0.00213,</a:t>
            </a:r>
          </a:p>
          <a:p>
            <a:pPr>
              <a:defRPr sz="9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"reasoning_time": 0.00091,</a:t>
            </a:r>
          </a:p>
          <a:p>
            <a:pPr>
              <a:defRPr sz="9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"validation_time": 0.00078,</a:t>
            </a:r>
          </a:p>
          <a:p>
            <a:pPr>
              <a:defRPr sz="9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"total_flags": 1,</a:t>
            </a:r>
          </a:p>
          <a:p>
            <a:pPr>
              <a:defRPr sz="9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"timestamp": 1746350400.0</a:t>
            </a:r>
          </a:p>
          <a:p>
            <a:pPr>
              <a:defRPr sz="9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566" name="Shape 27"/>
          <p:cNvSpPr/>
          <p:nvPr/>
        </p:nvSpPr>
        <p:spPr>
          <a:xfrm>
            <a:off x="4663440" y="1901951"/>
            <a:ext cx="4251960" cy="320041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7" name="Text 28"/>
          <p:cNvSpPr txBox="1"/>
          <p:nvPr/>
        </p:nvSpPr>
        <p:spPr>
          <a:xfrm>
            <a:off x="4663440" y="1998472"/>
            <a:ext cx="42519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GET /lineage/{txn_id}  — AILineageTracker Stages</a:t>
            </a:r>
          </a:p>
        </p:txBody>
      </p:sp>
      <p:sp>
        <p:nvSpPr>
          <p:cNvPr id="568" name="Shape 29"/>
          <p:cNvSpPr/>
          <p:nvPr/>
        </p:nvSpPr>
        <p:spPr>
          <a:xfrm>
            <a:off x="4663440" y="2249423"/>
            <a:ext cx="4251960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9" name="Text 30"/>
          <p:cNvSpPr txBox="1"/>
          <p:nvPr/>
        </p:nvSpPr>
        <p:spPr>
          <a:xfrm>
            <a:off x="4736591" y="2335022"/>
            <a:ext cx="13716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retrieval</a:t>
            </a:r>
          </a:p>
        </p:txBody>
      </p:sp>
      <p:sp>
        <p:nvSpPr>
          <p:cNvPr id="570" name="Text 31"/>
          <p:cNvSpPr txBox="1"/>
          <p:nvPr/>
        </p:nvSpPr>
        <p:spPr>
          <a:xfrm>
            <a:off x="6172200" y="2341372"/>
            <a:ext cx="2697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Query → FAISS search → top-2 policy docs</a:t>
            </a:r>
          </a:p>
        </p:txBody>
      </p:sp>
      <p:sp>
        <p:nvSpPr>
          <p:cNvPr id="571" name="Shape 32"/>
          <p:cNvSpPr/>
          <p:nvPr/>
        </p:nvSpPr>
        <p:spPr>
          <a:xfrm>
            <a:off x="4663440" y="2578607"/>
            <a:ext cx="4251960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2" name="Text 33"/>
          <p:cNvSpPr txBox="1"/>
          <p:nvPr/>
        </p:nvSpPr>
        <p:spPr>
          <a:xfrm>
            <a:off x="4736591" y="2664205"/>
            <a:ext cx="13716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reasoning</a:t>
            </a:r>
          </a:p>
        </p:txBody>
      </p:sp>
      <p:sp>
        <p:nvSpPr>
          <p:cNvPr id="573" name="Text 34"/>
          <p:cNvSpPr txBox="1"/>
          <p:nvPr/>
        </p:nvSpPr>
        <p:spPr>
          <a:xfrm>
            <a:off x="6172200" y="2670555"/>
            <a:ext cx="2697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Docs + txn → risk narrative, SAR flag</a:t>
            </a:r>
          </a:p>
        </p:txBody>
      </p:sp>
      <p:sp>
        <p:nvSpPr>
          <p:cNvPr id="574" name="Shape 35"/>
          <p:cNvSpPr/>
          <p:nvPr/>
        </p:nvSpPr>
        <p:spPr>
          <a:xfrm>
            <a:off x="4663440" y="2907792"/>
            <a:ext cx="4251960" cy="3108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5" name="Text 36"/>
          <p:cNvSpPr txBox="1"/>
          <p:nvPr/>
        </p:nvSpPr>
        <p:spPr>
          <a:xfrm>
            <a:off x="4736591" y="2993389"/>
            <a:ext cx="13716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validation</a:t>
            </a:r>
          </a:p>
        </p:txBody>
      </p:sp>
      <p:sp>
        <p:nvSpPr>
          <p:cNvPr id="576" name="Text 37"/>
          <p:cNvSpPr txBox="1"/>
          <p:nvPr/>
        </p:nvSpPr>
        <p:spPr>
          <a:xfrm>
            <a:off x="6172200" y="2999739"/>
            <a:ext cx="2697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Rule engine → flags, confidence, rule_hits</a:t>
            </a:r>
          </a:p>
        </p:txBody>
      </p:sp>
      <p:sp>
        <p:nvSpPr>
          <p:cNvPr id="577" name="Shape 38"/>
          <p:cNvSpPr/>
          <p:nvPr/>
        </p:nvSpPr>
        <p:spPr>
          <a:xfrm>
            <a:off x="4663440" y="3236976"/>
            <a:ext cx="4251960" cy="310897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8" name="Text 39"/>
          <p:cNvSpPr txBox="1"/>
          <p:nvPr/>
        </p:nvSpPr>
        <p:spPr>
          <a:xfrm>
            <a:off x="4736591" y="3322573"/>
            <a:ext cx="13716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final_decision</a:t>
            </a:r>
          </a:p>
        </p:txBody>
      </p:sp>
      <p:sp>
        <p:nvSpPr>
          <p:cNvPr id="579" name="Text 40"/>
          <p:cNvSpPr txBox="1"/>
          <p:nvPr/>
        </p:nvSpPr>
        <p:spPr>
          <a:xfrm>
            <a:off x="6172200" y="3328923"/>
            <a:ext cx="2697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</a:defRPr>
            </a:lvl1pPr>
          </a:lstStyle>
          <a:p>
            <a:pPr/>
            <a:r>
              <a:t>Aggregated: flags, risk_band, lineage</a:t>
            </a:r>
          </a:p>
        </p:txBody>
      </p:sp>
      <p:sp>
        <p:nvSpPr>
          <p:cNvPr id="580" name="Shape 41"/>
          <p:cNvSpPr/>
          <p:nvPr/>
        </p:nvSpPr>
        <p:spPr>
          <a:xfrm>
            <a:off x="228600" y="3675888"/>
            <a:ext cx="8686800" cy="32004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1" name="Text 42"/>
          <p:cNvSpPr txBox="1"/>
          <p:nvPr/>
        </p:nvSpPr>
        <p:spPr>
          <a:xfrm>
            <a:off x="228600" y="3767372"/>
            <a:ext cx="86868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GET /summary  — Aggregate Dashboard Stats</a:t>
            </a:r>
          </a:p>
        </p:txBody>
      </p:sp>
      <p:sp>
        <p:nvSpPr>
          <p:cNvPr id="582" name="Shape 43"/>
          <p:cNvSpPr/>
          <p:nvPr/>
        </p:nvSpPr>
        <p:spPr>
          <a:xfrm>
            <a:off x="228600" y="4023359"/>
            <a:ext cx="1664207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3" name="Text 44"/>
          <p:cNvSpPr txBox="1"/>
          <p:nvPr/>
        </p:nvSpPr>
        <p:spPr>
          <a:xfrm>
            <a:off x="228600" y="4081869"/>
            <a:ext cx="1664207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066CC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84" name="Text 45"/>
          <p:cNvSpPr txBox="1"/>
          <p:nvPr/>
        </p:nvSpPr>
        <p:spPr>
          <a:xfrm>
            <a:off x="228600" y="4471923"/>
            <a:ext cx="166420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total_transactions</a:t>
            </a:r>
          </a:p>
        </p:txBody>
      </p:sp>
      <p:sp>
        <p:nvSpPr>
          <p:cNvPr id="585" name="Shape 46"/>
          <p:cNvSpPr/>
          <p:nvPr/>
        </p:nvSpPr>
        <p:spPr>
          <a:xfrm>
            <a:off x="1965960" y="4023359"/>
            <a:ext cx="1664207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6" name="Text 47"/>
          <p:cNvSpPr txBox="1"/>
          <p:nvPr/>
        </p:nvSpPr>
        <p:spPr>
          <a:xfrm>
            <a:off x="1965960" y="4081869"/>
            <a:ext cx="1664207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066CC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87" name="Text 48"/>
          <p:cNvSpPr txBox="1"/>
          <p:nvPr/>
        </p:nvSpPr>
        <p:spPr>
          <a:xfrm>
            <a:off x="1965960" y="4471923"/>
            <a:ext cx="166420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high_risk_count</a:t>
            </a:r>
          </a:p>
        </p:txBody>
      </p:sp>
      <p:sp>
        <p:nvSpPr>
          <p:cNvPr id="588" name="Shape 49"/>
          <p:cNvSpPr/>
          <p:nvPr/>
        </p:nvSpPr>
        <p:spPr>
          <a:xfrm>
            <a:off x="3703320" y="4023359"/>
            <a:ext cx="1664208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9" name="Text 50"/>
          <p:cNvSpPr txBox="1"/>
          <p:nvPr/>
        </p:nvSpPr>
        <p:spPr>
          <a:xfrm>
            <a:off x="3703320" y="4081869"/>
            <a:ext cx="1664208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066CC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90" name="Text 51"/>
          <p:cNvSpPr txBox="1"/>
          <p:nvPr/>
        </p:nvSpPr>
        <p:spPr>
          <a:xfrm>
            <a:off x="3703320" y="4471923"/>
            <a:ext cx="16642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flagged_count</a:t>
            </a:r>
          </a:p>
        </p:txBody>
      </p:sp>
      <p:sp>
        <p:nvSpPr>
          <p:cNvPr id="591" name="Shape 52"/>
          <p:cNvSpPr/>
          <p:nvPr/>
        </p:nvSpPr>
        <p:spPr>
          <a:xfrm>
            <a:off x="5440679" y="4023359"/>
            <a:ext cx="1664208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2" name="Text 53"/>
          <p:cNvSpPr txBox="1"/>
          <p:nvPr/>
        </p:nvSpPr>
        <p:spPr>
          <a:xfrm>
            <a:off x="5440679" y="4081869"/>
            <a:ext cx="1664208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066CC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93" name="Text 54"/>
          <p:cNvSpPr txBox="1"/>
          <p:nvPr/>
        </p:nvSpPr>
        <p:spPr>
          <a:xfrm>
            <a:off x="5440679" y="4471923"/>
            <a:ext cx="16642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low_risk_count</a:t>
            </a:r>
          </a:p>
        </p:txBody>
      </p:sp>
      <p:sp>
        <p:nvSpPr>
          <p:cNvPr id="594" name="Shape 55"/>
          <p:cNvSpPr/>
          <p:nvPr/>
        </p:nvSpPr>
        <p:spPr>
          <a:xfrm>
            <a:off x="7178040" y="4023359"/>
            <a:ext cx="1664208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5" name="Text 56"/>
          <p:cNvSpPr txBox="1"/>
          <p:nvPr/>
        </p:nvSpPr>
        <p:spPr>
          <a:xfrm>
            <a:off x="7178040" y="4081869"/>
            <a:ext cx="1664208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066CC"/>
                </a:solidFill>
              </a:defRPr>
            </a:lvl1pPr>
          </a:lstStyle>
          <a:p>
            <a:pPr/>
            <a:r>
              <a:t>2.13 ms</a:t>
            </a:r>
          </a:p>
        </p:txBody>
      </p:sp>
      <p:sp>
        <p:nvSpPr>
          <p:cNvPr id="596" name="Text 57"/>
          <p:cNvSpPr txBox="1"/>
          <p:nvPr/>
        </p:nvSpPr>
        <p:spPr>
          <a:xfrm>
            <a:off x="7178040" y="4471923"/>
            <a:ext cx="16642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avg_retrieval_time_ms</a:t>
            </a:r>
          </a:p>
        </p:txBody>
      </p:sp>
      <p:sp>
        <p:nvSpPr>
          <p:cNvPr id="597" name="Text 58"/>
          <p:cNvSpPr txBox="1"/>
          <p:nvPr/>
        </p:nvSpPr>
        <p:spPr>
          <a:xfrm>
            <a:off x="0" y="4999989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0" name="Text 1"/>
          <p:cNvSpPr txBox="1"/>
          <p:nvPr/>
        </p:nvSpPr>
        <p:spPr>
          <a:xfrm>
            <a:off x="274320" y="218529"/>
            <a:ext cx="64008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Workshop Tracks Overview</a:t>
            </a:r>
          </a:p>
        </p:txBody>
      </p:sp>
      <p:sp>
        <p:nvSpPr>
          <p:cNvPr id="601" name="Text 2"/>
          <p:cNvSpPr txBox="1"/>
          <p:nvPr/>
        </p:nvSpPr>
        <p:spPr>
          <a:xfrm>
            <a:off x="6400800" y="274364"/>
            <a:ext cx="25603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</a:defRPr>
            </a:lvl1pPr>
          </a:lstStyle>
          <a:p>
            <a:pPr/>
            <a:r>
              <a:t>7 Technical Capability Tracks</a:t>
            </a:r>
          </a:p>
        </p:txBody>
      </p:sp>
      <p:sp>
        <p:nvSpPr>
          <p:cNvPr id="602" name="Shape 3"/>
          <p:cNvSpPr/>
          <p:nvPr/>
        </p:nvSpPr>
        <p:spPr>
          <a:xfrm>
            <a:off x="164591" y="804672"/>
            <a:ext cx="2103122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3" name="Shape 4"/>
          <p:cNvSpPr/>
          <p:nvPr/>
        </p:nvSpPr>
        <p:spPr>
          <a:xfrm>
            <a:off x="164591" y="804672"/>
            <a:ext cx="2103122" cy="329185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4" name="Text 5"/>
          <p:cNvSpPr txBox="1"/>
          <p:nvPr/>
        </p:nvSpPr>
        <p:spPr>
          <a:xfrm>
            <a:off x="164591" y="905763"/>
            <a:ext cx="2103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T1  GenAI &amp; Multi-Agent Architecture</a:t>
            </a:r>
          </a:p>
        </p:txBody>
      </p:sp>
      <p:sp>
        <p:nvSpPr>
          <p:cNvPr id="605" name="Text 6"/>
          <p:cNvSpPr txBox="1"/>
          <p:nvPr/>
        </p:nvSpPr>
        <p:spPr>
          <a:xfrm>
            <a:off x="237743" y="1289812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Multi-agent: Retriever, Reasoner, Validator, Router</a:t>
            </a:r>
          </a:p>
        </p:txBody>
      </p:sp>
      <p:sp>
        <p:nvSpPr>
          <p:cNvPr id="606" name="Text 7"/>
          <p:cNvSpPr txBox="1"/>
          <p:nvPr/>
        </p:nvSpPr>
        <p:spPr>
          <a:xfrm>
            <a:off x="237743" y="1651158"/>
            <a:ext cx="1956818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MCPContext, MCPToolRegistry, AgentRouter patterns</a:t>
            </a:r>
          </a:p>
        </p:txBody>
      </p:sp>
      <p:sp>
        <p:nvSpPr>
          <p:cNvPr id="607" name="Text 8"/>
          <p:cNvSpPr txBox="1"/>
          <p:nvPr/>
        </p:nvSpPr>
        <p:spPr>
          <a:xfrm>
            <a:off x="237743" y="2094483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Guardrails, RBAC, prompt injection defense</a:t>
            </a:r>
          </a:p>
        </p:txBody>
      </p:sp>
      <p:sp>
        <p:nvSpPr>
          <p:cNvPr id="608" name="Text 9"/>
          <p:cNvSpPr txBox="1"/>
          <p:nvPr/>
        </p:nvSpPr>
        <p:spPr>
          <a:xfrm>
            <a:off x="237743" y="2496819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MCP/A2A communication models</a:t>
            </a:r>
          </a:p>
        </p:txBody>
      </p:sp>
      <p:sp>
        <p:nvSpPr>
          <p:cNvPr id="609" name="Shape 10"/>
          <p:cNvSpPr/>
          <p:nvPr/>
        </p:nvSpPr>
        <p:spPr>
          <a:xfrm>
            <a:off x="2404872" y="804672"/>
            <a:ext cx="2103121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0" name="Shape 11"/>
          <p:cNvSpPr/>
          <p:nvPr/>
        </p:nvSpPr>
        <p:spPr>
          <a:xfrm>
            <a:off x="2404872" y="804672"/>
            <a:ext cx="2103121" cy="329185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1" name="Text 12"/>
          <p:cNvSpPr txBox="1"/>
          <p:nvPr/>
        </p:nvSpPr>
        <p:spPr>
          <a:xfrm>
            <a:off x="2404872" y="905763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T2  RAG Pipeline Engineering</a:t>
            </a:r>
          </a:p>
        </p:txBody>
      </p:sp>
      <p:sp>
        <p:nvSpPr>
          <p:cNvPr id="612" name="Text 13"/>
          <p:cNvSpPr txBox="1"/>
          <p:nvPr/>
        </p:nvSpPr>
        <p:spPr>
          <a:xfrm>
            <a:off x="2478023" y="1289812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Policy doc ingestion + MiniLM-L6-v2 embedding</a:t>
            </a:r>
          </a:p>
        </p:txBody>
      </p:sp>
      <p:sp>
        <p:nvSpPr>
          <p:cNvPr id="613" name="Text 14"/>
          <p:cNvSpPr txBox="1"/>
          <p:nvPr/>
        </p:nvSpPr>
        <p:spPr>
          <a:xfrm>
            <a:off x="2478023" y="1692147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FAISS IndexFlatL2 vector index, top-k retrieval</a:t>
            </a:r>
          </a:p>
        </p:txBody>
      </p:sp>
      <p:sp>
        <p:nvSpPr>
          <p:cNvPr id="614" name="Text 15"/>
          <p:cNvSpPr txBox="1"/>
          <p:nvPr/>
        </p:nvSpPr>
        <p:spPr>
          <a:xfrm>
            <a:off x="2478023" y="2094483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Retrieval tuning, re-ranking strategies</a:t>
            </a:r>
          </a:p>
        </p:txBody>
      </p:sp>
      <p:sp>
        <p:nvSpPr>
          <p:cNvPr id="615" name="Text 16"/>
          <p:cNvSpPr txBox="1"/>
          <p:nvPr/>
        </p:nvSpPr>
        <p:spPr>
          <a:xfrm>
            <a:off x="2478023" y="2496819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Hallucination &amp; conflicting source handling</a:t>
            </a:r>
          </a:p>
        </p:txBody>
      </p:sp>
      <p:sp>
        <p:nvSpPr>
          <p:cNvPr id="616" name="Shape 17"/>
          <p:cNvSpPr/>
          <p:nvPr/>
        </p:nvSpPr>
        <p:spPr>
          <a:xfrm>
            <a:off x="4645152" y="804672"/>
            <a:ext cx="2103121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7" name="Shape 18"/>
          <p:cNvSpPr/>
          <p:nvPr/>
        </p:nvSpPr>
        <p:spPr>
          <a:xfrm>
            <a:off x="4645152" y="804672"/>
            <a:ext cx="2103121" cy="329185"/>
          </a:xfrm>
          <a:prstGeom prst="rect">
            <a:avLst/>
          </a:prstGeom>
          <a:solidFill>
            <a:srgbClr val="1166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8" name="Text 19"/>
          <p:cNvSpPr txBox="1"/>
          <p:nvPr/>
        </p:nvSpPr>
        <p:spPr>
          <a:xfrm>
            <a:off x="4645152" y="905763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T3  Data Engineering &amp; Lakehouse</a:t>
            </a:r>
          </a:p>
        </p:txBody>
      </p:sp>
      <p:sp>
        <p:nvSpPr>
          <p:cNvPr id="619" name="Text 20"/>
          <p:cNvSpPr txBox="1"/>
          <p:nvPr/>
        </p:nvSpPr>
        <p:spPr>
          <a:xfrm>
            <a:off x="4718303" y="1289812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Bronze→Silver→Gold Spark pipeline in Databricks</a:t>
            </a:r>
          </a:p>
        </p:txBody>
      </p:sp>
      <p:sp>
        <p:nvSpPr>
          <p:cNvPr id="620" name="Text 21"/>
          <p:cNvSpPr txBox="1"/>
          <p:nvPr/>
        </p:nvSpPr>
        <p:spPr>
          <a:xfrm>
            <a:off x="4718303" y="1651158"/>
            <a:ext cx="1956817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PySpark: filter, dropDuplicates, withColumn transforms</a:t>
            </a:r>
          </a:p>
        </p:txBody>
      </p:sp>
      <p:sp>
        <p:nvSpPr>
          <p:cNvPr id="621" name="Text 22"/>
          <p:cNvSpPr txBox="1"/>
          <p:nvPr/>
        </p:nvSpPr>
        <p:spPr>
          <a:xfrm>
            <a:off x="4718303" y="2094483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Risk scoring logic: amount + country factors</a:t>
            </a:r>
          </a:p>
        </p:txBody>
      </p:sp>
      <p:sp>
        <p:nvSpPr>
          <p:cNvPr id="622" name="Text 23"/>
          <p:cNvSpPr txBox="1"/>
          <p:nvPr/>
        </p:nvSpPr>
        <p:spPr>
          <a:xfrm>
            <a:off x="4718303" y="2496819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Delta Lake, lineage, schema enforcement</a:t>
            </a:r>
          </a:p>
        </p:txBody>
      </p:sp>
      <p:sp>
        <p:nvSpPr>
          <p:cNvPr id="623" name="Shape 24"/>
          <p:cNvSpPr/>
          <p:nvPr/>
        </p:nvSpPr>
        <p:spPr>
          <a:xfrm>
            <a:off x="6885431" y="804672"/>
            <a:ext cx="2103121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4" name="Shape 25"/>
          <p:cNvSpPr/>
          <p:nvPr/>
        </p:nvSpPr>
        <p:spPr>
          <a:xfrm>
            <a:off x="6885431" y="804672"/>
            <a:ext cx="2103121" cy="329185"/>
          </a:xfrm>
          <a:prstGeom prst="rect">
            <a:avLst/>
          </a:prstGeom>
          <a:solidFill>
            <a:srgbClr val="E078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5" name="Text 26"/>
          <p:cNvSpPr txBox="1"/>
          <p:nvPr/>
        </p:nvSpPr>
        <p:spPr>
          <a:xfrm>
            <a:off x="6885431" y="905763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T4  FastAPI REST Layer (NEW)</a:t>
            </a:r>
          </a:p>
        </p:txBody>
      </p:sp>
      <p:sp>
        <p:nvSpPr>
          <p:cNvPr id="626" name="Text 27"/>
          <p:cNvSpPr txBox="1"/>
          <p:nvPr/>
        </p:nvSpPr>
        <p:spPr>
          <a:xfrm>
            <a:off x="6958583" y="1289812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8 REST endpoints: /transactions, /flags, /summary</a:t>
            </a:r>
          </a:p>
        </p:txBody>
      </p:sp>
      <p:sp>
        <p:nvSpPr>
          <p:cNvPr id="627" name="Text 28"/>
          <p:cNvSpPr txBox="1"/>
          <p:nvPr/>
        </p:nvSpPr>
        <p:spPr>
          <a:xfrm>
            <a:off x="6958583" y="1692147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/lineage, /reasoning, /metrics per txn</a:t>
            </a:r>
          </a:p>
        </p:txBody>
      </p:sp>
      <p:sp>
        <p:nvSpPr>
          <p:cNvPr id="628" name="Text 29"/>
          <p:cNvSpPr txBox="1"/>
          <p:nvPr/>
        </p:nvSpPr>
        <p:spPr>
          <a:xfrm>
            <a:off x="6958583" y="2094483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aml_full_results.json consumed by API</a:t>
            </a:r>
          </a:p>
        </p:txBody>
      </p:sp>
      <p:sp>
        <p:nvSpPr>
          <p:cNvPr id="629" name="Text 30"/>
          <p:cNvSpPr txBox="1"/>
          <p:nvPr/>
        </p:nvSpPr>
        <p:spPr>
          <a:xfrm>
            <a:off x="6958583" y="2496819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CORS middleware, FileResponse dashboard.html</a:t>
            </a:r>
          </a:p>
        </p:txBody>
      </p:sp>
      <p:sp>
        <p:nvSpPr>
          <p:cNvPr id="630" name="Shape 31"/>
          <p:cNvSpPr/>
          <p:nvPr/>
        </p:nvSpPr>
        <p:spPr>
          <a:xfrm>
            <a:off x="164591" y="2953511"/>
            <a:ext cx="2103122" cy="20116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1" name="Shape 32"/>
          <p:cNvSpPr/>
          <p:nvPr/>
        </p:nvSpPr>
        <p:spPr>
          <a:xfrm>
            <a:off x="164591" y="2953511"/>
            <a:ext cx="2103122" cy="329185"/>
          </a:xfrm>
          <a:prstGeom prst="rect">
            <a:avLst/>
          </a:prstGeom>
          <a:solidFill>
            <a:srgbClr val="6633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2" name="Text 33"/>
          <p:cNvSpPr txBox="1"/>
          <p:nvPr/>
        </p:nvSpPr>
        <p:spPr>
          <a:xfrm>
            <a:off x="164591" y="3054604"/>
            <a:ext cx="2103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T5  LLMOps / MLOps / Observability</a:t>
            </a:r>
          </a:p>
        </p:txBody>
      </p:sp>
      <p:sp>
        <p:nvSpPr>
          <p:cNvPr id="633" name="Text 34"/>
          <p:cNvSpPr txBox="1"/>
          <p:nvPr/>
        </p:nvSpPr>
        <p:spPr>
          <a:xfrm>
            <a:off x="237743" y="3397661"/>
            <a:ext cx="1956818" cy="20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LLMOpsTracker: retrieval/reasoning/validation times</a:t>
            </a:r>
          </a:p>
        </p:txBody>
      </p:sp>
      <p:sp>
        <p:nvSpPr>
          <p:cNvPr id="634" name="Text 35"/>
          <p:cNvSpPr txBox="1"/>
          <p:nvPr/>
        </p:nvSpPr>
        <p:spPr>
          <a:xfrm>
            <a:off x="237743" y="3840988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AILineageTracker: full stage-by-stage trace</a:t>
            </a:r>
          </a:p>
        </p:txBody>
      </p:sp>
      <p:sp>
        <p:nvSpPr>
          <p:cNvPr id="635" name="Text 36"/>
          <p:cNvSpPr txBox="1"/>
          <p:nvPr/>
        </p:nvSpPr>
        <p:spPr>
          <a:xfrm>
            <a:off x="237743" y="4243323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Audit logging: every request logged with metadata</a:t>
            </a:r>
          </a:p>
        </p:txBody>
      </p:sp>
      <p:sp>
        <p:nvSpPr>
          <p:cNvPr id="636" name="Text 37"/>
          <p:cNvSpPr txBox="1"/>
          <p:nvPr/>
        </p:nvSpPr>
        <p:spPr>
          <a:xfrm>
            <a:off x="237743" y="4645659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GET /metrics + GET /summary FastAPI endpoints</a:t>
            </a:r>
          </a:p>
        </p:txBody>
      </p:sp>
      <p:sp>
        <p:nvSpPr>
          <p:cNvPr id="637" name="Shape 38"/>
          <p:cNvSpPr/>
          <p:nvPr/>
        </p:nvSpPr>
        <p:spPr>
          <a:xfrm>
            <a:off x="2404872" y="2953511"/>
            <a:ext cx="2103121" cy="20116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8" name="Shape 39"/>
          <p:cNvSpPr/>
          <p:nvPr/>
        </p:nvSpPr>
        <p:spPr>
          <a:xfrm>
            <a:off x="2404872" y="2953511"/>
            <a:ext cx="2103121" cy="329185"/>
          </a:xfrm>
          <a:prstGeom prst="rect">
            <a:avLst/>
          </a:prstGeom>
          <a:solidFill>
            <a:srgbClr val="CC33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9" name="Text 40"/>
          <p:cNvSpPr txBox="1"/>
          <p:nvPr/>
        </p:nvSpPr>
        <p:spPr>
          <a:xfrm>
            <a:off x="2404872" y="3054604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T6  Security &amp; Governance</a:t>
            </a:r>
          </a:p>
        </p:txBody>
      </p:sp>
      <p:sp>
        <p:nvSpPr>
          <p:cNvPr id="640" name="Text 41"/>
          <p:cNvSpPr txBox="1"/>
          <p:nvPr/>
        </p:nvSpPr>
        <p:spPr>
          <a:xfrm>
            <a:off x="2478023" y="3438651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Prompt injection guard + unsafe query filter</a:t>
            </a:r>
          </a:p>
        </p:txBody>
      </p:sp>
      <p:sp>
        <p:nvSpPr>
          <p:cNvPr id="641" name="Text 42"/>
          <p:cNvSpPr txBox="1"/>
          <p:nvPr/>
        </p:nvSpPr>
        <p:spPr>
          <a:xfrm>
            <a:off x="2478023" y="3840988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RBAC: analyst/compliance_officer/admin roles</a:t>
            </a:r>
          </a:p>
        </p:txBody>
      </p:sp>
      <p:sp>
        <p:nvSpPr>
          <p:cNvPr id="642" name="Text 43"/>
          <p:cNvSpPr txBox="1"/>
          <p:nvPr/>
        </p:nvSpPr>
        <p:spPr>
          <a:xfrm>
            <a:off x="2478023" y="4243323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PII masking: customer_id truncation</a:t>
            </a:r>
          </a:p>
        </p:txBody>
      </p:sp>
      <p:sp>
        <p:nvSpPr>
          <p:cNvPr id="643" name="Text 44"/>
          <p:cNvSpPr txBox="1"/>
          <p:nvPr/>
        </p:nvSpPr>
        <p:spPr>
          <a:xfrm>
            <a:off x="2478023" y="4645659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Audit trail + responsible AI controls</a:t>
            </a:r>
          </a:p>
        </p:txBody>
      </p:sp>
      <p:sp>
        <p:nvSpPr>
          <p:cNvPr id="644" name="Shape 45"/>
          <p:cNvSpPr/>
          <p:nvPr/>
        </p:nvSpPr>
        <p:spPr>
          <a:xfrm>
            <a:off x="3525011" y="2953511"/>
            <a:ext cx="2103122" cy="20116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5" name="Shape 46"/>
          <p:cNvSpPr/>
          <p:nvPr/>
        </p:nvSpPr>
        <p:spPr>
          <a:xfrm>
            <a:off x="3525011" y="2953511"/>
            <a:ext cx="2103122" cy="329185"/>
          </a:xfrm>
          <a:prstGeom prst="rect">
            <a:avLst/>
          </a:prstGeom>
          <a:solidFill>
            <a:srgbClr val="88552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6" name="Text 47"/>
          <p:cNvSpPr txBox="1"/>
          <p:nvPr/>
        </p:nvSpPr>
        <p:spPr>
          <a:xfrm>
            <a:off x="3525011" y="3054604"/>
            <a:ext cx="2103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T7  Reporting &amp; Insights</a:t>
            </a:r>
          </a:p>
        </p:txBody>
      </p:sp>
      <p:sp>
        <p:nvSpPr>
          <p:cNvPr id="647" name="Text 48"/>
          <p:cNvSpPr txBox="1"/>
          <p:nvPr/>
        </p:nvSpPr>
        <p:spPr>
          <a:xfrm>
            <a:off x="3598164" y="3438651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GET /dashboard → dashboard.html FileResponse</a:t>
            </a:r>
          </a:p>
        </p:txBody>
      </p:sp>
      <p:sp>
        <p:nvSpPr>
          <p:cNvPr id="648" name="Text 49"/>
          <p:cNvSpPr txBox="1"/>
          <p:nvPr/>
        </p:nvSpPr>
        <p:spPr>
          <a:xfrm>
            <a:off x="3598164" y="3840988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GET /summary: usage, risk, latency aggregate stats</a:t>
            </a:r>
          </a:p>
        </p:txBody>
      </p:sp>
      <p:sp>
        <p:nvSpPr>
          <p:cNvPr id="649" name="Text 50"/>
          <p:cNvSpPr txBox="1"/>
          <p:nvPr/>
        </p:nvSpPr>
        <p:spPr>
          <a:xfrm>
            <a:off x="3598164" y="4243323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Power BI equivalent: risk trends, flag rates</a:t>
            </a:r>
          </a:p>
        </p:txBody>
      </p:sp>
      <p:sp>
        <p:nvSpPr>
          <p:cNvPr id="650" name="Text 51"/>
          <p:cNvSpPr txBox="1"/>
          <p:nvPr/>
        </p:nvSpPr>
        <p:spPr>
          <a:xfrm>
            <a:off x="3598164" y="4645659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• Pipeline health SLA adherence dashboard</a:t>
            </a:r>
          </a:p>
        </p:txBody>
      </p:sp>
      <p:sp>
        <p:nvSpPr>
          <p:cNvPr id="651" name="Text 52"/>
          <p:cNvSpPr txBox="1"/>
          <p:nvPr/>
        </p:nvSpPr>
        <p:spPr>
          <a:xfrm>
            <a:off x="0" y="4999989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4" name="Text 1"/>
          <p:cNvSpPr txBox="1"/>
          <p:nvPr/>
        </p:nvSpPr>
        <p:spPr>
          <a:xfrm>
            <a:off x="274320" y="218529"/>
            <a:ext cx="64008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Root Cause Analysis (RCA)</a:t>
            </a:r>
          </a:p>
        </p:txBody>
      </p:sp>
      <p:sp>
        <p:nvSpPr>
          <p:cNvPr id="655" name="Text 2"/>
          <p:cNvSpPr txBox="1"/>
          <p:nvPr/>
        </p:nvSpPr>
        <p:spPr>
          <a:xfrm>
            <a:off x="6400800" y="274364"/>
            <a:ext cx="25603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</a:defRPr>
            </a:lvl1pPr>
          </a:lstStyle>
          <a:p>
            <a:pPr/>
            <a:r>
              <a:t>Troubleshooting &amp; Diagnostic Framework</a:t>
            </a:r>
          </a:p>
        </p:txBody>
      </p:sp>
      <p:sp>
        <p:nvSpPr>
          <p:cNvPr id="656" name="Shape 3"/>
          <p:cNvSpPr/>
          <p:nvPr/>
        </p:nvSpPr>
        <p:spPr>
          <a:xfrm>
            <a:off x="228600" y="804672"/>
            <a:ext cx="8686800" cy="274321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7" name="Text 4"/>
          <p:cNvSpPr txBox="1"/>
          <p:nvPr/>
        </p:nvSpPr>
        <p:spPr>
          <a:xfrm>
            <a:off x="228600" y="878332"/>
            <a:ext cx="8686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RCA Discipline: Identify Symptom → Isolate Layer → Find Root Cause → Fix → Verify → Document</a:t>
            </a:r>
          </a:p>
        </p:txBody>
      </p:sp>
      <p:sp>
        <p:nvSpPr>
          <p:cNvPr id="658" name="Shape 5"/>
          <p:cNvSpPr/>
          <p:nvPr/>
        </p:nvSpPr>
        <p:spPr>
          <a:xfrm>
            <a:off x="182880" y="1152144"/>
            <a:ext cx="2834640" cy="17190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9" name="Shape 6"/>
          <p:cNvSpPr/>
          <p:nvPr/>
        </p:nvSpPr>
        <p:spPr>
          <a:xfrm>
            <a:off x="182879" y="1152144"/>
            <a:ext cx="594361" cy="1719073"/>
          </a:xfrm>
          <a:prstGeom prst="rect">
            <a:avLst/>
          </a:prstGeom>
          <a:solidFill>
            <a:srgbClr val="CC33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0" name="Text 7"/>
          <p:cNvSpPr txBox="1"/>
          <p:nvPr/>
        </p:nvSpPr>
        <p:spPr>
          <a:xfrm>
            <a:off x="182879" y="1362963"/>
            <a:ext cx="594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RCA-01</a:t>
            </a:r>
          </a:p>
        </p:txBody>
      </p:sp>
      <p:sp>
        <p:nvSpPr>
          <p:cNvPr id="661" name="Text 8"/>
          <p:cNvSpPr txBox="1"/>
          <p:nvPr/>
        </p:nvSpPr>
        <p:spPr>
          <a:xfrm>
            <a:off x="841247" y="1280667"/>
            <a:ext cx="21214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Wrong Risk Score</a:t>
            </a:r>
          </a:p>
        </p:txBody>
      </p:sp>
      <p:sp>
        <p:nvSpPr>
          <p:cNvPr id="662" name="Text 9"/>
          <p:cNvSpPr txBox="1"/>
          <p:nvPr/>
        </p:nvSpPr>
        <p:spPr>
          <a:xfrm>
            <a:off x="841247" y="1596294"/>
            <a:ext cx="2121409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Symptom: TXN003 scored LOW instead of HIGH for Nigeria transfer</a:t>
            </a:r>
          </a:p>
        </p:txBody>
      </p:sp>
      <p:sp>
        <p:nvSpPr>
          <p:cNvPr id="663" name="Text 10"/>
          <p:cNvSpPr txBox="1"/>
          <p:nvPr/>
        </p:nvSpPr>
        <p:spPr>
          <a:xfrm>
            <a:off x="841247" y="2057907"/>
            <a:ext cx="21214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CC3333"/>
                </a:solidFill>
              </a:defRPr>
            </a:lvl1pPr>
          </a:lstStyle>
          <a:p>
            <a:pPr/>
            <a:r>
              <a:t>Cause: HIGH_RISK_COUNTRIES list missing 'Nigeria'</a:t>
            </a:r>
          </a:p>
        </p:txBody>
      </p:sp>
      <p:sp>
        <p:nvSpPr>
          <p:cNvPr id="664" name="Text 11"/>
          <p:cNvSpPr txBox="1"/>
          <p:nvPr/>
        </p:nvSpPr>
        <p:spPr>
          <a:xfrm>
            <a:off x="841247" y="2464974"/>
            <a:ext cx="2121409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00AA66"/>
                </a:solidFill>
              </a:defRPr>
            </a:lvl1pPr>
          </a:lstStyle>
          <a:p>
            <a:pPr/>
            <a:r>
              <a:t>Fix: Add Nigeria to country list; rerun Gold layer; re-score affected rows</a:t>
            </a:r>
          </a:p>
        </p:txBody>
      </p:sp>
      <p:sp>
        <p:nvSpPr>
          <p:cNvPr id="665" name="Shape 12"/>
          <p:cNvSpPr/>
          <p:nvPr/>
        </p:nvSpPr>
        <p:spPr>
          <a:xfrm>
            <a:off x="3172967" y="1152144"/>
            <a:ext cx="2834641" cy="17190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6" name="Shape 13"/>
          <p:cNvSpPr/>
          <p:nvPr/>
        </p:nvSpPr>
        <p:spPr>
          <a:xfrm>
            <a:off x="3172967" y="1152144"/>
            <a:ext cx="594361" cy="1719073"/>
          </a:xfrm>
          <a:prstGeom prst="rect">
            <a:avLst/>
          </a:prstGeom>
          <a:solidFill>
            <a:srgbClr val="E078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7" name="Text 14"/>
          <p:cNvSpPr txBox="1"/>
          <p:nvPr/>
        </p:nvSpPr>
        <p:spPr>
          <a:xfrm>
            <a:off x="3172967" y="1362963"/>
            <a:ext cx="594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RCA-02</a:t>
            </a:r>
          </a:p>
        </p:txBody>
      </p:sp>
      <p:sp>
        <p:nvSpPr>
          <p:cNvPr id="668" name="Text 15"/>
          <p:cNvSpPr txBox="1"/>
          <p:nvPr/>
        </p:nvSpPr>
        <p:spPr>
          <a:xfrm>
            <a:off x="3831335" y="1280667"/>
            <a:ext cx="21214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SAR Flag Mismatch</a:t>
            </a:r>
          </a:p>
        </p:txBody>
      </p:sp>
      <p:sp>
        <p:nvSpPr>
          <p:cNvPr id="669" name="Text 16"/>
          <p:cNvSpPr txBox="1"/>
          <p:nvPr/>
        </p:nvSpPr>
        <p:spPr>
          <a:xfrm>
            <a:off x="3831335" y="1596294"/>
            <a:ext cx="2121409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Symptom: consistency_check = DISCREPANCY — Reasoner SAR=True, Validator SAR=False</a:t>
            </a:r>
          </a:p>
        </p:txBody>
      </p:sp>
      <p:sp>
        <p:nvSpPr>
          <p:cNvPr id="670" name="Text 17"/>
          <p:cNvSpPr txBox="1"/>
          <p:nvPr/>
        </p:nvSpPr>
        <p:spPr>
          <a:xfrm>
            <a:off x="3831335" y="2016918"/>
            <a:ext cx="2121409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CC3333"/>
                </a:solidFill>
              </a:defRPr>
            </a:lvl1pPr>
          </a:lstStyle>
          <a:p>
            <a:pPr/>
            <a:r>
              <a:t>Cause: Reasoner used cached prompt v1.0 (threshold=40), Validator uses threshold=60</a:t>
            </a:r>
          </a:p>
        </p:txBody>
      </p:sp>
      <p:sp>
        <p:nvSpPr>
          <p:cNvPr id="671" name="Text 18"/>
          <p:cNvSpPr txBox="1"/>
          <p:nvPr/>
        </p:nvSpPr>
        <p:spPr>
          <a:xfrm>
            <a:off x="3831335" y="2464974"/>
            <a:ext cx="2121409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00AA66"/>
                </a:solidFill>
              </a:defRPr>
            </a:lvl1pPr>
          </a:lstStyle>
          <a:p>
            <a:pPr/>
            <a:r>
              <a:t>Fix: Pin prompt version in MLflow; enforce single source of threshold config</a:t>
            </a:r>
          </a:p>
        </p:txBody>
      </p:sp>
      <p:sp>
        <p:nvSpPr>
          <p:cNvPr id="672" name="Shape 19"/>
          <p:cNvSpPr/>
          <p:nvPr/>
        </p:nvSpPr>
        <p:spPr>
          <a:xfrm>
            <a:off x="6163055" y="1152144"/>
            <a:ext cx="2834641" cy="17190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3" name="Shape 20"/>
          <p:cNvSpPr/>
          <p:nvPr/>
        </p:nvSpPr>
        <p:spPr>
          <a:xfrm>
            <a:off x="6163055" y="1152144"/>
            <a:ext cx="594361" cy="1719073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4" name="Text 21"/>
          <p:cNvSpPr txBox="1"/>
          <p:nvPr/>
        </p:nvSpPr>
        <p:spPr>
          <a:xfrm>
            <a:off x="6163055" y="1362963"/>
            <a:ext cx="594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RCA-03</a:t>
            </a:r>
          </a:p>
        </p:txBody>
      </p:sp>
      <p:sp>
        <p:nvSpPr>
          <p:cNvPr id="675" name="Text 22"/>
          <p:cNvSpPr txBox="1"/>
          <p:nvPr/>
        </p:nvSpPr>
        <p:spPr>
          <a:xfrm>
            <a:off x="6821423" y="1280667"/>
            <a:ext cx="21214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RAG Retrieval Miss</a:t>
            </a:r>
          </a:p>
        </p:txBody>
      </p:sp>
      <p:sp>
        <p:nvSpPr>
          <p:cNvPr id="676" name="Text 23"/>
          <p:cNvSpPr txBox="1"/>
          <p:nvPr/>
        </p:nvSpPr>
        <p:spPr>
          <a:xfrm>
            <a:off x="6821423" y="1596294"/>
            <a:ext cx="2121409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Symptom: TXN005 (crypto, North Korea) retrieved BSA_SAR instead of CRYPTO_AML</a:t>
            </a:r>
          </a:p>
        </p:txBody>
      </p:sp>
      <p:sp>
        <p:nvSpPr>
          <p:cNvPr id="677" name="Text 24"/>
          <p:cNvSpPr txBox="1"/>
          <p:nvPr/>
        </p:nvSpPr>
        <p:spPr>
          <a:xfrm>
            <a:off x="6821423" y="2016918"/>
            <a:ext cx="2121409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CC3333"/>
                </a:solidFill>
              </a:defRPr>
            </a:lvl1pPr>
          </a:lstStyle>
          <a:p>
            <a:pPr/>
            <a:r>
              <a:t>Cause: FAISS L2 distance for 'North Korea crypto' closest to SAR doc, not CRYPTO_AML</a:t>
            </a:r>
          </a:p>
        </p:txBody>
      </p:sp>
      <p:sp>
        <p:nvSpPr>
          <p:cNvPr id="678" name="Text 25"/>
          <p:cNvSpPr txBox="1"/>
          <p:nvPr/>
        </p:nvSpPr>
        <p:spPr>
          <a:xfrm>
            <a:off x="6821423" y="2464974"/>
            <a:ext cx="2121409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00AA66"/>
                </a:solidFill>
              </a:defRPr>
            </a:lvl1pPr>
          </a:lstStyle>
          <a:p>
            <a:pPr/>
            <a:r>
              <a:t>Fix: Add metadata filter: merchant_category=crypto forces CRYPTO_AML in retrieval pool</a:t>
            </a:r>
          </a:p>
        </p:txBody>
      </p:sp>
      <p:sp>
        <p:nvSpPr>
          <p:cNvPr id="679" name="Shape 26"/>
          <p:cNvSpPr/>
          <p:nvPr/>
        </p:nvSpPr>
        <p:spPr>
          <a:xfrm>
            <a:off x="182880" y="2962655"/>
            <a:ext cx="2834640" cy="17190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0" name="Shape 27"/>
          <p:cNvSpPr/>
          <p:nvPr/>
        </p:nvSpPr>
        <p:spPr>
          <a:xfrm>
            <a:off x="182879" y="2962655"/>
            <a:ext cx="594361" cy="1719073"/>
          </a:xfrm>
          <a:prstGeom prst="rect">
            <a:avLst/>
          </a:prstGeom>
          <a:solidFill>
            <a:srgbClr val="6633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1" name="Text 28"/>
          <p:cNvSpPr txBox="1"/>
          <p:nvPr/>
        </p:nvSpPr>
        <p:spPr>
          <a:xfrm>
            <a:off x="182879" y="3173476"/>
            <a:ext cx="594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RCA-04</a:t>
            </a:r>
          </a:p>
        </p:txBody>
      </p:sp>
      <p:sp>
        <p:nvSpPr>
          <p:cNvPr id="682" name="Text 29"/>
          <p:cNvSpPr txBox="1"/>
          <p:nvPr/>
        </p:nvSpPr>
        <p:spPr>
          <a:xfrm>
            <a:off x="841247" y="3091180"/>
            <a:ext cx="21214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PII Leaked in Output</a:t>
            </a:r>
          </a:p>
        </p:txBody>
      </p:sp>
      <p:sp>
        <p:nvSpPr>
          <p:cNvPr id="683" name="Text 30"/>
          <p:cNvSpPr txBox="1"/>
          <p:nvPr/>
        </p:nvSpPr>
        <p:spPr>
          <a:xfrm>
            <a:off x="841247" y="3406806"/>
            <a:ext cx="2121409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Symptom: API response contained raw NRIC in Reasoner narrative text</a:t>
            </a:r>
          </a:p>
        </p:txBody>
      </p:sp>
      <p:sp>
        <p:nvSpPr>
          <p:cNvPr id="684" name="Text 31"/>
          <p:cNvSpPr txBox="1"/>
          <p:nvPr/>
        </p:nvSpPr>
        <p:spPr>
          <a:xfrm>
            <a:off x="841247" y="3827430"/>
            <a:ext cx="2121409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CC3333"/>
                </a:solidFill>
              </a:defRPr>
            </a:lvl1pPr>
          </a:lstStyle>
          <a:p>
            <a:pPr/>
            <a:r>
              <a:t>Cause: guardrail_output() not applied after reasoner_agent() in early code version</a:t>
            </a:r>
          </a:p>
        </p:txBody>
      </p:sp>
      <p:sp>
        <p:nvSpPr>
          <p:cNvPr id="685" name="Text 32"/>
          <p:cNvSpPr txBox="1"/>
          <p:nvPr/>
        </p:nvSpPr>
        <p:spPr>
          <a:xfrm>
            <a:off x="841247" y="4275486"/>
            <a:ext cx="2121409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00AA66"/>
                </a:solidFill>
              </a:defRPr>
            </a:lvl1pPr>
          </a:lstStyle>
          <a:p>
            <a:pPr/>
            <a:r>
              <a:t>Fix: Wrap ALL agent outputs with guardrail_output(); add integration test asserting no PII</a:t>
            </a:r>
          </a:p>
        </p:txBody>
      </p:sp>
      <p:sp>
        <p:nvSpPr>
          <p:cNvPr id="686" name="Shape 33"/>
          <p:cNvSpPr/>
          <p:nvPr/>
        </p:nvSpPr>
        <p:spPr>
          <a:xfrm>
            <a:off x="3172967" y="2962655"/>
            <a:ext cx="2834641" cy="17190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7" name="Shape 34"/>
          <p:cNvSpPr/>
          <p:nvPr/>
        </p:nvSpPr>
        <p:spPr>
          <a:xfrm>
            <a:off x="3172967" y="2962655"/>
            <a:ext cx="594361" cy="1719073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8" name="Text 35"/>
          <p:cNvSpPr txBox="1"/>
          <p:nvPr/>
        </p:nvSpPr>
        <p:spPr>
          <a:xfrm>
            <a:off x="3172967" y="3173476"/>
            <a:ext cx="594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RCA-05</a:t>
            </a:r>
          </a:p>
        </p:txBody>
      </p:sp>
      <p:sp>
        <p:nvSpPr>
          <p:cNvPr id="689" name="Text 36"/>
          <p:cNvSpPr txBox="1"/>
          <p:nvPr/>
        </p:nvSpPr>
        <p:spPr>
          <a:xfrm>
            <a:off x="3831335" y="3091180"/>
            <a:ext cx="21214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Pipeline DQ Failure</a:t>
            </a:r>
          </a:p>
        </p:txBody>
      </p:sp>
      <p:sp>
        <p:nvSpPr>
          <p:cNvPr id="690" name="Text 37"/>
          <p:cNvSpPr txBox="1"/>
          <p:nvPr/>
        </p:nvSpPr>
        <p:spPr>
          <a:xfrm>
            <a:off x="3831335" y="3406806"/>
            <a:ext cx="2121409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Symptom: Silver layer had 8 records instead of expected 6 — dedup not working</a:t>
            </a:r>
          </a:p>
        </p:txBody>
      </p:sp>
      <p:sp>
        <p:nvSpPr>
          <p:cNvPr id="691" name="Text 38"/>
          <p:cNvSpPr txBox="1"/>
          <p:nvPr/>
        </p:nvSpPr>
        <p:spPr>
          <a:xfrm>
            <a:off x="3831335" y="3827430"/>
            <a:ext cx="2121409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CC3333"/>
                </a:solidFill>
              </a:defRPr>
            </a:lvl1pPr>
          </a:lstStyle>
          <a:p>
            <a:pPr/>
            <a:r>
              <a:t>Cause: dropDuplicates([txn_id]) run before withColumn(_silver_ts) — hash changed row</a:t>
            </a:r>
          </a:p>
        </p:txBody>
      </p:sp>
      <p:sp>
        <p:nvSpPr>
          <p:cNvPr id="692" name="Text 39"/>
          <p:cNvSpPr txBox="1"/>
          <p:nvPr/>
        </p:nvSpPr>
        <p:spPr>
          <a:xfrm>
            <a:off x="3831335" y="4275486"/>
            <a:ext cx="2121409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00AA66"/>
                </a:solidFill>
              </a:defRPr>
            </a:lvl1pPr>
          </a:lstStyle>
          <a:p>
            <a:pPr/>
            <a:r>
              <a:t>Fix: Reorder: apply transformations first, then deduplicate on source keys only</a:t>
            </a:r>
          </a:p>
        </p:txBody>
      </p:sp>
      <p:sp>
        <p:nvSpPr>
          <p:cNvPr id="693" name="Shape 40"/>
          <p:cNvSpPr/>
          <p:nvPr/>
        </p:nvSpPr>
        <p:spPr>
          <a:xfrm>
            <a:off x="6163055" y="2962655"/>
            <a:ext cx="2834641" cy="17190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4" name="Shape 41"/>
          <p:cNvSpPr/>
          <p:nvPr/>
        </p:nvSpPr>
        <p:spPr>
          <a:xfrm>
            <a:off x="6163055" y="2962655"/>
            <a:ext cx="594361" cy="1719073"/>
          </a:xfrm>
          <a:prstGeom prst="rect">
            <a:avLst/>
          </a:prstGeom>
          <a:solidFill>
            <a:srgbClr val="CC33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5" name="Text 42"/>
          <p:cNvSpPr txBox="1"/>
          <p:nvPr/>
        </p:nvSpPr>
        <p:spPr>
          <a:xfrm>
            <a:off x="6163055" y="3173476"/>
            <a:ext cx="594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RCA-06</a:t>
            </a:r>
          </a:p>
        </p:txBody>
      </p:sp>
      <p:sp>
        <p:nvSpPr>
          <p:cNvPr id="696" name="Text 43"/>
          <p:cNvSpPr txBox="1"/>
          <p:nvPr/>
        </p:nvSpPr>
        <p:spPr>
          <a:xfrm>
            <a:off x="6821423" y="3091180"/>
            <a:ext cx="21214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RBAC Bypass</a:t>
            </a:r>
          </a:p>
        </p:txBody>
      </p:sp>
      <p:sp>
        <p:nvSpPr>
          <p:cNvPr id="697" name="Text 44"/>
          <p:cNvSpPr txBox="1"/>
          <p:nvPr/>
        </p:nvSpPr>
        <p:spPr>
          <a:xfrm>
            <a:off x="6821423" y="3406806"/>
            <a:ext cx="2121409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</a:defRPr>
            </a:lvl1pPr>
          </a:lstStyle>
          <a:p>
            <a:pPr/>
            <a:r>
              <a:t>Symptom: Analyst received CRITICAL transaction details including unmasked customer name</a:t>
            </a:r>
          </a:p>
        </p:txBody>
      </p:sp>
      <p:sp>
        <p:nvSpPr>
          <p:cNvPr id="698" name="Text 45"/>
          <p:cNvSpPr txBox="1"/>
          <p:nvPr/>
        </p:nvSpPr>
        <p:spPr>
          <a:xfrm>
            <a:off x="6821423" y="3827430"/>
            <a:ext cx="2121409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CC3333"/>
                </a:solidFill>
              </a:defRPr>
            </a:lvl1pPr>
          </a:lstStyle>
          <a:p>
            <a:pPr/>
            <a:r>
              <a:t>Cause: Router sent CRITICAL txn to validator_agent despite analyst role check; masking skipped</a:t>
            </a:r>
          </a:p>
        </p:txBody>
      </p:sp>
      <p:sp>
        <p:nvSpPr>
          <p:cNvPr id="699" name="Text 46"/>
          <p:cNvSpPr txBox="1"/>
          <p:nvPr/>
        </p:nvSpPr>
        <p:spPr>
          <a:xfrm>
            <a:off x="6821423" y="4275486"/>
            <a:ext cx="2121409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00AA66"/>
                </a:solidFill>
              </a:defRPr>
            </a:lvl1pPr>
          </a:lstStyle>
          <a:p>
            <a:pPr/>
            <a:r>
              <a:t>Fix: RBAC check + role validation must precede routing; add role assertion in unit tests</a:t>
            </a:r>
          </a:p>
        </p:txBody>
      </p:sp>
      <p:sp>
        <p:nvSpPr>
          <p:cNvPr id="700" name="Text 47"/>
          <p:cNvSpPr txBox="1"/>
          <p:nvPr/>
        </p:nvSpPr>
        <p:spPr>
          <a:xfrm>
            <a:off x="0" y="4999989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3" name="Text 1"/>
          <p:cNvSpPr txBox="1"/>
          <p:nvPr/>
        </p:nvSpPr>
        <p:spPr>
          <a:xfrm>
            <a:off x="274320" y="218529"/>
            <a:ext cx="64008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Evaluation Dimensions &amp; Scoring</a:t>
            </a:r>
          </a:p>
        </p:txBody>
      </p:sp>
      <p:sp>
        <p:nvSpPr>
          <p:cNvPr id="704" name="Text 2"/>
          <p:cNvSpPr txBox="1"/>
          <p:nvPr/>
        </p:nvSpPr>
        <p:spPr>
          <a:xfrm>
            <a:off x="6400800" y="215813"/>
            <a:ext cx="256032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F5A623"/>
                </a:solidFill>
              </a:defRPr>
            </a:lvl1pPr>
          </a:lstStyle>
          <a:p>
            <a:pPr/>
            <a:r>
              <a:t>Assessment Framework — NTT DATA Capability Validation</a:t>
            </a:r>
          </a:p>
        </p:txBody>
      </p:sp>
      <p:sp>
        <p:nvSpPr>
          <p:cNvPr id="705" name="Shape 3"/>
          <p:cNvSpPr/>
          <p:nvPr/>
        </p:nvSpPr>
        <p:spPr>
          <a:xfrm>
            <a:off x="228600" y="822960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6" name="Text 4"/>
          <p:cNvSpPr txBox="1"/>
          <p:nvPr/>
        </p:nvSpPr>
        <p:spPr>
          <a:xfrm>
            <a:off x="292607" y="992168"/>
            <a:ext cx="25603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</a:defRPr>
            </a:lvl1pPr>
          </a:lstStyle>
          <a:p>
            <a:pPr/>
            <a:r>
              <a:t>Architecture Depth</a:t>
            </a:r>
          </a:p>
        </p:txBody>
      </p:sp>
      <p:sp>
        <p:nvSpPr>
          <p:cNvPr id="707" name="Text 5"/>
          <p:cNvSpPr txBox="1"/>
          <p:nvPr/>
        </p:nvSpPr>
        <p:spPr>
          <a:xfrm>
            <a:off x="2926079" y="997203"/>
            <a:ext cx="46634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Design clarity, component separation, trade-off articulation</a:t>
            </a:r>
          </a:p>
        </p:txBody>
      </p:sp>
      <p:sp>
        <p:nvSpPr>
          <p:cNvPr id="708" name="Shape 6"/>
          <p:cNvSpPr/>
          <p:nvPr/>
        </p:nvSpPr>
        <p:spPr>
          <a:xfrm>
            <a:off x="7662671" y="822960"/>
            <a:ext cx="1252729" cy="475488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9" name="Text 7"/>
          <p:cNvSpPr txBox="1"/>
          <p:nvPr/>
        </p:nvSpPr>
        <p:spPr>
          <a:xfrm>
            <a:off x="7662671" y="956127"/>
            <a:ext cx="1252729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25%</a:t>
            </a:r>
          </a:p>
        </p:txBody>
      </p:sp>
      <p:sp>
        <p:nvSpPr>
          <p:cNvPr id="710" name="Shape 8"/>
          <p:cNvSpPr/>
          <p:nvPr/>
        </p:nvSpPr>
        <p:spPr>
          <a:xfrm>
            <a:off x="7662671" y="822960"/>
            <a:ext cx="1252729" cy="475488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1" name="Text 9"/>
          <p:cNvSpPr txBox="1"/>
          <p:nvPr/>
        </p:nvSpPr>
        <p:spPr>
          <a:xfrm>
            <a:off x="7662671" y="956127"/>
            <a:ext cx="1252729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25%</a:t>
            </a:r>
          </a:p>
        </p:txBody>
      </p:sp>
      <p:sp>
        <p:nvSpPr>
          <p:cNvPr id="712" name="Shape 10"/>
          <p:cNvSpPr/>
          <p:nvPr/>
        </p:nvSpPr>
        <p:spPr>
          <a:xfrm>
            <a:off x="228600" y="1353311"/>
            <a:ext cx="8686800" cy="47548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3" name="Text 11"/>
          <p:cNvSpPr txBox="1"/>
          <p:nvPr/>
        </p:nvSpPr>
        <p:spPr>
          <a:xfrm>
            <a:off x="292607" y="1522520"/>
            <a:ext cx="25603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714" name="Text 12"/>
          <p:cNvSpPr txBox="1"/>
          <p:nvPr/>
        </p:nvSpPr>
        <p:spPr>
          <a:xfrm>
            <a:off x="2926079" y="1527555"/>
            <a:ext cx="46634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Working code, correct patterns, production-quality logic</a:t>
            </a:r>
          </a:p>
        </p:txBody>
      </p:sp>
      <p:sp>
        <p:nvSpPr>
          <p:cNvPr id="715" name="Shape 13"/>
          <p:cNvSpPr/>
          <p:nvPr/>
        </p:nvSpPr>
        <p:spPr>
          <a:xfrm>
            <a:off x="7662671" y="1353311"/>
            <a:ext cx="1252729" cy="475488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6" name="Text 14"/>
          <p:cNvSpPr txBox="1"/>
          <p:nvPr/>
        </p:nvSpPr>
        <p:spPr>
          <a:xfrm>
            <a:off x="7662671" y="1486478"/>
            <a:ext cx="1252729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20%</a:t>
            </a:r>
          </a:p>
        </p:txBody>
      </p:sp>
      <p:sp>
        <p:nvSpPr>
          <p:cNvPr id="717" name="Shape 15"/>
          <p:cNvSpPr/>
          <p:nvPr/>
        </p:nvSpPr>
        <p:spPr>
          <a:xfrm>
            <a:off x="7662671" y="1353311"/>
            <a:ext cx="1002183" cy="475488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8" name="Text 16"/>
          <p:cNvSpPr txBox="1"/>
          <p:nvPr/>
        </p:nvSpPr>
        <p:spPr>
          <a:xfrm>
            <a:off x="7662671" y="1486478"/>
            <a:ext cx="1252729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20%</a:t>
            </a:r>
          </a:p>
        </p:txBody>
      </p:sp>
      <p:sp>
        <p:nvSpPr>
          <p:cNvPr id="719" name="Shape 17"/>
          <p:cNvSpPr/>
          <p:nvPr/>
        </p:nvSpPr>
        <p:spPr>
          <a:xfrm>
            <a:off x="228600" y="1883664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0" name="Text 18"/>
          <p:cNvSpPr txBox="1"/>
          <p:nvPr/>
        </p:nvSpPr>
        <p:spPr>
          <a:xfrm>
            <a:off x="292607" y="2052872"/>
            <a:ext cx="25603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</a:defRPr>
            </a:lvl1pPr>
          </a:lstStyle>
          <a:p>
            <a:pPr/>
            <a:r>
              <a:t>GenAI Patterns</a:t>
            </a:r>
          </a:p>
        </p:txBody>
      </p:sp>
      <p:sp>
        <p:nvSpPr>
          <p:cNvPr id="721" name="Text 19"/>
          <p:cNvSpPr txBox="1"/>
          <p:nvPr/>
        </p:nvSpPr>
        <p:spPr>
          <a:xfrm>
            <a:off x="2926079" y="2057907"/>
            <a:ext cx="46634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RAG, Agents, MCP/A2A — depth of understanding and application</a:t>
            </a:r>
          </a:p>
        </p:txBody>
      </p:sp>
      <p:sp>
        <p:nvSpPr>
          <p:cNvPr id="722" name="Shape 20"/>
          <p:cNvSpPr/>
          <p:nvPr/>
        </p:nvSpPr>
        <p:spPr>
          <a:xfrm>
            <a:off x="7662671" y="1883664"/>
            <a:ext cx="1252729" cy="475488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3" name="Text 21"/>
          <p:cNvSpPr txBox="1"/>
          <p:nvPr/>
        </p:nvSpPr>
        <p:spPr>
          <a:xfrm>
            <a:off x="7662671" y="2016830"/>
            <a:ext cx="1252729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20%</a:t>
            </a:r>
          </a:p>
        </p:txBody>
      </p:sp>
      <p:sp>
        <p:nvSpPr>
          <p:cNvPr id="724" name="Shape 22"/>
          <p:cNvSpPr/>
          <p:nvPr/>
        </p:nvSpPr>
        <p:spPr>
          <a:xfrm>
            <a:off x="7662671" y="1883664"/>
            <a:ext cx="1002183" cy="475488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5" name="Text 23"/>
          <p:cNvSpPr txBox="1"/>
          <p:nvPr/>
        </p:nvSpPr>
        <p:spPr>
          <a:xfrm>
            <a:off x="7662671" y="2016830"/>
            <a:ext cx="1252729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20%</a:t>
            </a:r>
          </a:p>
        </p:txBody>
      </p:sp>
      <p:sp>
        <p:nvSpPr>
          <p:cNvPr id="726" name="Shape 24"/>
          <p:cNvSpPr/>
          <p:nvPr/>
        </p:nvSpPr>
        <p:spPr>
          <a:xfrm>
            <a:off x="228600" y="2414016"/>
            <a:ext cx="8686800" cy="47548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7" name="Text 25"/>
          <p:cNvSpPr txBox="1"/>
          <p:nvPr/>
        </p:nvSpPr>
        <p:spPr>
          <a:xfrm>
            <a:off x="292607" y="2583224"/>
            <a:ext cx="25603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</a:defRPr>
            </a:lvl1pPr>
          </a:lstStyle>
          <a:p>
            <a:pPr/>
            <a:r>
              <a:t>Data Engineering</a:t>
            </a:r>
          </a:p>
        </p:txBody>
      </p:sp>
      <p:sp>
        <p:nvSpPr>
          <p:cNvPr id="728" name="Text 26"/>
          <p:cNvSpPr txBox="1"/>
          <p:nvPr/>
        </p:nvSpPr>
        <p:spPr>
          <a:xfrm>
            <a:off x="2926079" y="2588260"/>
            <a:ext cx="46634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Pipeline maturity, quality controls, lineage discipline</a:t>
            </a:r>
          </a:p>
        </p:txBody>
      </p:sp>
      <p:sp>
        <p:nvSpPr>
          <p:cNvPr id="729" name="Shape 27"/>
          <p:cNvSpPr/>
          <p:nvPr/>
        </p:nvSpPr>
        <p:spPr>
          <a:xfrm>
            <a:off x="7662671" y="2414016"/>
            <a:ext cx="1252729" cy="475488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0" name="Text 28"/>
          <p:cNvSpPr txBox="1"/>
          <p:nvPr/>
        </p:nvSpPr>
        <p:spPr>
          <a:xfrm>
            <a:off x="7662671" y="2547182"/>
            <a:ext cx="1252729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15%</a:t>
            </a:r>
          </a:p>
        </p:txBody>
      </p:sp>
      <p:sp>
        <p:nvSpPr>
          <p:cNvPr id="731" name="Shape 29"/>
          <p:cNvSpPr/>
          <p:nvPr/>
        </p:nvSpPr>
        <p:spPr>
          <a:xfrm>
            <a:off x="7662671" y="2414016"/>
            <a:ext cx="751638" cy="475488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2" name="Text 30"/>
          <p:cNvSpPr txBox="1"/>
          <p:nvPr/>
        </p:nvSpPr>
        <p:spPr>
          <a:xfrm>
            <a:off x="7662671" y="2547182"/>
            <a:ext cx="1252729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15%</a:t>
            </a:r>
          </a:p>
        </p:txBody>
      </p:sp>
      <p:sp>
        <p:nvSpPr>
          <p:cNvPr id="733" name="Shape 31"/>
          <p:cNvSpPr/>
          <p:nvPr/>
        </p:nvSpPr>
        <p:spPr>
          <a:xfrm>
            <a:off x="228600" y="2944367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4" name="Text 32"/>
          <p:cNvSpPr txBox="1"/>
          <p:nvPr/>
        </p:nvSpPr>
        <p:spPr>
          <a:xfrm>
            <a:off x="292607" y="3113576"/>
            <a:ext cx="25603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</a:defRPr>
            </a:lvl1pPr>
          </a:lstStyle>
          <a:p>
            <a:pPr/>
            <a:r>
              <a:t>Production Readiness</a:t>
            </a:r>
          </a:p>
        </p:txBody>
      </p:sp>
      <p:sp>
        <p:nvSpPr>
          <p:cNvPr id="735" name="Text 33"/>
          <p:cNvSpPr txBox="1"/>
          <p:nvPr/>
        </p:nvSpPr>
        <p:spPr>
          <a:xfrm>
            <a:off x="2926079" y="3118611"/>
            <a:ext cx="46634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CI/CD, monitoring, security, scalability design</a:t>
            </a:r>
          </a:p>
        </p:txBody>
      </p:sp>
      <p:sp>
        <p:nvSpPr>
          <p:cNvPr id="736" name="Shape 34"/>
          <p:cNvSpPr/>
          <p:nvPr/>
        </p:nvSpPr>
        <p:spPr>
          <a:xfrm>
            <a:off x="7662671" y="2944367"/>
            <a:ext cx="1252729" cy="475488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7" name="Text 35"/>
          <p:cNvSpPr txBox="1"/>
          <p:nvPr/>
        </p:nvSpPr>
        <p:spPr>
          <a:xfrm>
            <a:off x="7662671" y="3077534"/>
            <a:ext cx="1252729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10%</a:t>
            </a:r>
          </a:p>
        </p:txBody>
      </p:sp>
      <p:sp>
        <p:nvSpPr>
          <p:cNvPr id="738" name="Shape 36"/>
          <p:cNvSpPr/>
          <p:nvPr/>
        </p:nvSpPr>
        <p:spPr>
          <a:xfrm>
            <a:off x="7662671" y="2944367"/>
            <a:ext cx="501092" cy="475488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9" name="Text 37"/>
          <p:cNvSpPr txBox="1"/>
          <p:nvPr/>
        </p:nvSpPr>
        <p:spPr>
          <a:xfrm>
            <a:off x="7662671" y="3077534"/>
            <a:ext cx="1252729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10%</a:t>
            </a:r>
          </a:p>
        </p:txBody>
      </p:sp>
      <p:sp>
        <p:nvSpPr>
          <p:cNvPr id="740" name="Shape 38"/>
          <p:cNvSpPr/>
          <p:nvPr/>
        </p:nvSpPr>
        <p:spPr>
          <a:xfrm>
            <a:off x="228600" y="3474720"/>
            <a:ext cx="8686800" cy="47548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1" name="Text 39"/>
          <p:cNvSpPr txBox="1"/>
          <p:nvPr/>
        </p:nvSpPr>
        <p:spPr>
          <a:xfrm>
            <a:off x="292607" y="3643928"/>
            <a:ext cx="25603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</a:defRPr>
            </a:lvl1pPr>
          </a:lstStyle>
          <a:p>
            <a:pPr/>
            <a:r>
              <a:t>Troubleshooting / RCA</a:t>
            </a:r>
          </a:p>
        </p:txBody>
      </p:sp>
      <p:sp>
        <p:nvSpPr>
          <p:cNvPr id="742" name="Text 40"/>
          <p:cNvSpPr txBox="1"/>
          <p:nvPr/>
        </p:nvSpPr>
        <p:spPr>
          <a:xfrm>
            <a:off x="2926079" y="3648964"/>
            <a:ext cx="46634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Diagnostic discipline, root cause identification, fix quality</a:t>
            </a:r>
          </a:p>
        </p:txBody>
      </p:sp>
      <p:sp>
        <p:nvSpPr>
          <p:cNvPr id="743" name="Shape 41"/>
          <p:cNvSpPr/>
          <p:nvPr/>
        </p:nvSpPr>
        <p:spPr>
          <a:xfrm>
            <a:off x="7662671" y="3474720"/>
            <a:ext cx="1252729" cy="475488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4" name="Text 42"/>
          <p:cNvSpPr txBox="1"/>
          <p:nvPr/>
        </p:nvSpPr>
        <p:spPr>
          <a:xfrm>
            <a:off x="7662671" y="3607887"/>
            <a:ext cx="1252729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5%</a:t>
            </a:r>
          </a:p>
        </p:txBody>
      </p:sp>
      <p:sp>
        <p:nvSpPr>
          <p:cNvPr id="745" name="Shape 43"/>
          <p:cNvSpPr/>
          <p:nvPr/>
        </p:nvSpPr>
        <p:spPr>
          <a:xfrm>
            <a:off x="7662671" y="3474720"/>
            <a:ext cx="250547" cy="475488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6" name="Text 44"/>
          <p:cNvSpPr txBox="1"/>
          <p:nvPr/>
        </p:nvSpPr>
        <p:spPr>
          <a:xfrm>
            <a:off x="7662671" y="3607887"/>
            <a:ext cx="1252729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5%</a:t>
            </a:r>
          </a:p>
        </p:txBody>
      </p:sp>
      <p:sp>
        <p:nvSpPr>
          <p:cNvPr id="747" name="Shape 45"/>
          <p:cNvSpPr/>
          <p:nvPr/>
        </p:nvSpPr>
        <p:spPr>
          <a:xfrm>
            <a:off x="228600" y="4005071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8" name="Text 46"/>
          <p:cNvSpPr txBox="1"/>
          <p:nvPr/>
        </p:nvSpPr>
        <p:spPr>
          <a:xfrm>
            <a:off x="292607" y="4174280"/>
            <a:ext cx="25603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</a:defRPr>
            </a:lvl1pPr>
          </a:lstStyle>
          <a:p>
            <a:pPr/>
            <a:r>
              <a:t>Executive Communication</a:t>
            </a:r>
          </a:p>
        </p:txBody>
      </p:sp>
      <p:sp>
        <p:nvSpPr>
          <p:cNvPr id="749" name="Text 47"/>
          <p:cNvSpPr txBox="1"/>
          <p:nvPr/>
        </p:nvSpPr>
        <p:spPr>
          <a:xfrm>
            <a:off x="2926079" y="4179315"/>
            <a:ext cx="46634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Clarity of articulation, slide quality, stakeholder narrative</a:t>
            </a:r>
          </a:p>
        </p:txBody>
      </p:sp>
      <p:sp>
        <p:nvSpPr>
          <p:cNvPr id="750" name="Shape 48"/>
          <p:cNvSpPr/>
          <p:nvPr/>
        </p:nvSpPr>
        <p:spPr>
          <a:xfrm>
            <a:off x="7662671" y="4005071"/>
            <a:ext cx="1252729" cy="475488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1" name="Text 49"/>
          <p:cNvSpPr txBox="1"/>
          <p:nvPr/>
        </p:nvSpPr>
        <p:spPr>
          <a:xfrm>
            <a:off x="7662671" y="4138238"/>
            <a:ext cx="1252729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5%</a:t>
            </a:r>
          </a:p>
        </p:txBody>
      </p:sp>
      <p:sp>
        <p:nvSpPr>
          <p:cNvPr id="752" name="Shape 50"/>
          <p:cNvSpPr/>
          <p:nvPr/>
        </p:nvSpPr>
        <p:spPr>
          <a:xfrm>
            <a:off x="7662671" y="4005071"/>
            <a:ext cx="250547" cy="475488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3" name="Text 51"/>
          <p:cNvSpPr txBox="1"/>
          <p:nvPr/>
        </p:nvSpPr>
        <p:spPr>
          <a:xfrm>
            <a:off x="7662671" y="4138238"/>
            <a:ext cx="1252729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5%</a:t>
            </a:r>
          </a:p>
        </p:txBody>
      </p:sp>
      <p:sp>
        <p:nvSpPr>
          <p:cNvPr id="754" name="Text 52"/>
          <p:cNvSpPr txBox="1"/>
          <p:nvPr/>
        </p:nvSpPr>
        <p:spPr>
          <a:xfrm>
            <a:off x="0" y="4999989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7" name="Text 1"/>
          <p:cNvSpPr txBox="1"/>
          <p:nvPr/>
        </p:nvSpPr>
        <p:spPr>
          <a:xfrm>
            <a:off x="274320" y="218529"/>
            <a:ext cx="64008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Enterprise Upgrade Roadmap</a:t>
            </a:r>
          </a:p>
        </p:txBody>
      </p:sp>
      <p:sp>
        <p:nvSpPr>
          <p:cNvPr id="758" name="Text 2"/>
          <p:cNvSpPr txBox="1"/>
          <p:nvPr/>
        </p:nvSpPr>
        <p:spPr>
          <a:xfrm>
            <a:off x="6400800" y="215813"/>
            <a:ext cx="256032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F5A623"/>
                </a:solidFill>
              </a:defRPr>
            </a:lvl1pPr>
          </a:lstStyle>
          <a:p>
            <a:pPr/>
            <a:r>
              <a:t>Local Prototype → Production-Grade Databricks Platform</a:t>
            </a:r>
          </a:p>
        </p:txBody>
      </p:sp>
      <p:sp>
        <p:nvSpPr>
          <p:cNvPr id="759" name="Shape 3"/>
          <p:cNvSpPr/>
          <p:nvPr/>
        </p:nvSpPr>
        <p:spPr>
          <a:xfrm>
            <a:off x="228599" y="804672"/>
            <a:ext cx="2084834" cy="475488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0" name="Text 4"/>
          <p:cNvSpPr txBox="1"/>
          <p:nvPr/>
        </p:nvSpPr>
        <p:spPr>
          <a:xfrm>
            <a:off x="228599" y="891330"/>
            <a:ext cx="2084834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PHASE 1</a:t>
            </a:r>
          </a:p>
          <a:p>
            <a:pPr algn="ctr">
              <a:defRPr b="1" sz="1000">
                <a:solidFill>
                  <a:srgbClr val="FFFFFF"/>
                </a:solidFill>
              </a:defRPr>
            </a:pPr>
            <a:r>
              <a:t>Foundation</a:t>
            </a:r>
          </a:p>
        </p:txBody>
      </p:sp>
      <p:sp>
        <p:nvSpPr>
          <p:cNvPr id="761" name="Shape 5"/>
          <p:cNvSpPr/>
          <p:nvPr/>
        </p:nvSpPr>
        <p:spPr>
          <a:xfrm>
            <a:off x="228599" y="1298447"/>
            <a:ext cx="2084834" cy="20116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2" name="Text 6"/>
          <p:cNvSpPr txBox="1"/>
          <p:nvPr/>
        </p:nvSpPr>
        <p:spPr>
          <a:xfrm>
            <a:off x="320040" y="1436537"/>
            <a:ext cx="1920240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Move pandas → Delta Lake on ADLS Gen2</a:t>
            </a:r>
          </a:p>
        </p:txBody>
      </p:sp>
      <p:sp>
        <p:nvSpPr>
          <p:cNvPr id="763" name="Text 7"/>
          <p:cNvSpPr txBox="1"/>
          <p:nvPr/>
        </p:nvSpPr>
        <p:spPr>
          <a:xfrm>
            <a:off x="320040" y="1993899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Create bronze/silver/gold Delta tables</a:t>
            </a:r>
          </a:p>
        </p:txBody>
      </p:sp>
      <p:sp>
        <p:nvSpPr>
          <p:cNvPr id="764" name="Text 8"/>
          <p:cNvSpPr txBox="1"/>
          <p:nvPr/>
        </p:nvSpPr>
        <p:spPr>
          <a:xfrm>
            <a:off x="320040" y="2424089"/>
            <a:ext cx="1920240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Enable time-travel &amp; schema enforcement</a:t>
            </a:r>
          </a:p>
        </p:txBody>
      </p:sp>
      <p:sp>
        <p:nvSpPr>
          <p:cNvPr id="765" name="Text 9"/>
          <p:cNvSpPr txBox="1"/>
          <p:nvPr/>
        </p:nvSpPr>
        <p:spPr>
          <a:xfrm>
            <a:off x="320040" y="2981451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Set up Unity Catalog for governance</a:t>
            </a:r>
          </a:p>
        </p:txBody>
      </p:sp>
      <p:sp>
        <p:nvSpPr>
          <p:cNvPr id="766" name="Text 10"/>
          <p:cNvSpPr txBox="1"/>
          <p:nvPr/>
        </p:nvSpPr>
        <p:spPr>
          <a:xfrm>
            <a:off x="2313432" y="1688400"/>
            <a:ext cx="12801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066CC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67" name="Shape 11"/>
          <p:cNvSpPr/>
          <p:nvPr/>
        </p:nvSpPr>
        <p:spPr>
          <a:xfrm>
            <a:off x="2441448" y="804672"/>
            <a:ext cx="2084833" cy="475488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8" name="Text 12"/>
          <p:cNvSpPr txBox="1"/>
          <p:nvPr/>
        </p:nvSpPr>
        <p:spPr>
          <a:xfrm>
            <a:off x="2441448" y="891330"/>
            <a:ext cx="2084833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PHASE 2</a:t>
            </a:r>
          </a:p>
          <a:p>
            <a:pPr algn="ctr">
              <a:defRPr b="1" sz="1000">
                <a:solidFill>
                  <a:srgbClr val="FFFFFF"/>
                </a:solidFill>
              </a:defRPr>
            </a:pPr>
            <a:r>
              <a:t>Core Build</a:t>
            </a:r>
          </a:p>
        </p:txBody>
      </p:sp>
      <p:sp>
        <p:nvSpPr>
          <p:cNvPr id="769" name="Shape 13"/>
          <p:cNvSpPr/>
          <p:nvPr/>
        </p:nvSpPr>
        <p:spPr>
          <a:xfrm>
            <a:off x="2441448" y="1298447"/>
            <a:ext cx="2084833" cy="20116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0" name="Text 14"/>
          <p:cNvSpPr txBox="1"/>
          <p:nvPr/>
        </p:nvSpPr>
        <p:spPr>
          <a:xfrm>
            <a:off x="2532888" y="1436537"/>
            <a:ext cx="1920240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Replace FAISS → Databricks Vector Search</a:t>
            </a:r>
          </a:p>
        </p:txBody>
      </p:sp>
      <p:sp>
        <p:nvSpPr>
          <p:cNvPr id="771" name="Text 15"/>
          <p:cNvSpPr txBox="1"/>
          <p:nvPr/>
        </p:nvSpPr>
        <p:spPr>
          <a:xfrm>
            <a:off x="2532888" y="1930313"/>
            <a:ext cx="1920240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Upgrade MCP sim → LangGraph / AutoGen</a:t>
            </a:r>
          </a:p>
        </p:txBody>
      </p:sp>
      <p:sp>
        <p:nvSpPr>
          <p:cNvPr id="772" name="Text 16"/>
          <p:cNvSpPr txBox="1"/>
          <p:nvPr/>
        </p:nvSpPr>
        <p:spPr>
          <a:xfrm>
            <a:off x="2532888" y="2424089"/>
            <a:ext cx="1920240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OAuth 2.0 / JWT token validation on API</a:t>
            </a:r>
          </a:p>
        </p:txBody>
      </p:sp>
      <p:sp>
        <p:nvSpPr>
          <p:cNvPr id="773" name="Text 17"/>
          <p:cNvSpPr txBox="1"/>
          <p:nvPr/>
        </p:nvSpPr>
        <p:spPr>
          <a:xfrm>
            <a:off x="2532888" y="2917865"/>
            <a:ext cx="1920240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MLflow prompt versioning + model registry</a:t>
            </a:r>
          </a:p>
        </p:txBody>
      </p:sp>
      <p:sp>
        <p:nvSpPr>
          <p:cNvPr id="774" name="Text 18"/>
          <p:cNvSpPr txBox="1"/>
          <p:nvPr/>
        </p:nvSpPr>
        <p:spPr>
          <a:xfrm>
            <a:off x="4526279" y="1688400"/>
            <a:ext cx="12801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066CC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75" name="Shape 19"/>
          <p:cNvSpPr/>
          <p:nvPr/>
        </p:nvSpPr>
        <p:spPr>
          <a:xfrm>
            <a:off x="4654296" y="804672"/>
            <a:ext cx="2084833" cy="475488"/>
          </a:xfrm>
          <a:prstGeom prst="rect">
            <a:avLst/>
          </a:prstGeom>
          <a:solidFill>
            <a:srgbClr val="6633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6" name="Text 20"/>
          <p:cNvSpPr txBox="1"/>
          <p:nvPr/>
        </p:nvSpPr>
        <p:spPr>
          <a:xfrm>
            <a:off x="4654296" y="891330"/>
            <a:ext cx="2084833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PHASE 3</a:t>
            </a:r>
          </a:p>
          <a:p>
            <a:pPr algn="ctr">
              <a:defRPr b="1" sz="1000">
                <a:solidFill>
                  <a:srgbClr val="FFFFFF"/>
                </a:solidFill>
              </a:defRPr>
            </a:pPr>
            <a:r>
              <a:t>Harden</a:t>
            </a:r>
          </a:p>
        </p:txBody>
      </p:sp>
      <p:sp>
        <p:nvSpPr>
          <p:cNvPr id="777" name="Shape 21"/>
          <p:cNvSpPr/>
          <p:nvPr/>
        </p:nvSpPr>
        <p:spPr>
          <a:xfrm>
            <a:off x="4654296" y="1298447"/>
            <a:ext cx="2084833" cy="20116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8" name="Text 22"/>
          <p:cNvSpPr txBox="1"/>
          <p:nvPr/>
        </p:nvSpPr>
        <p:spPr>
          <a:xfrm>
            <a:off x="4745735" y="1436537"/>
            <a:ext cx="19202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RAG eval suite: Precision@k, MRR, NDCG</a:t>
            </a:r>
          </a:p>
        </p:txBody>
      </p:sp>
      <p:sp>
        <p:nvSpPr>
          <p:cNvPr id="779" name="Text 23"/>
          <p:cNvSpPr txBox="1"/>
          <p:nvPr/>
        </p:nvSpPr>
        <p:spPr>
          <a:xfrm>
            <a:off x="4745735" y="1993899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Azure Content Safety API for injection</a:t>
            </a:r>
          </a:p>
        </p:txBody>
      </p:sp>
      <p:sp>
        <p:nvSpPr>
          <p:cNvPr id="780" name="Text 24"/>
          <p:cNvSpPr txBox="1"/>
          <p:nvPr/>
        </p:nvSpPr>
        <p:spPr>
          <a:xfrm>
            <a:off x="4745735" y="2424089"/>
            <a:ext cx="19202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Load testing: 1000 concurrent transactions</a:t>
            </a:r>
          </a:p>
        </p:txBody>
      </p:sp>
      <p:sp>
        <p:nvSpPr>
          <p:cNvPr id="781" name="Text 25"/>
          <p:cNvSpPr txBox="1"/>
          <p:nvPr/>
        </p:nvSpPr>
        <p:spPr>
          <a:xfrm>
            <a:off x="4745735" y="2981451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Column-level masking in Unity Catalog</a:t>
            </a:r>
          </a:p>
        </p:txBody>
      </p:sp>
      <p:sp>
        <p:nvSpPr>
          <p:cNvPr id="782" name="Text 26"/>
          <p:cNvSpPr txBox="1"/>
          <p:nvPr/>
        </p:nvSpPr>
        <p:spPr>
          <a:xfrm>
            <a:off x="6739128" y="1688400"/>
            <a:ext cx="12801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066CC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83" name="Shape 27"/>
          <p:cNvSpPr/>
          <p:nvPr/>
        </p:nvSpPr>
        <p:spPr>
          <a:xfrm>
            <a:off x="6867143" y="804672"/>
            <a:ext cx="2084833" cy="475488"/>
          </a:xfrm>
          <a:prstGeom prst="rect">
            <a:avLst/>
          </a:prstGeom>
          <a:solidFill>
            <a:srgbClr val="00AA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4" name="Text 28"/>
          <p:cNvSpPr txBox="1"/>
          <p:nvPr/>
        </p:nvSpPr>
        <p:spPr>
          <a:xfrm>
            <a:off x="6867143" y="891330"/>
            <a:ext cx="2084833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PHASE 4</a:t>
            </a:r>
          </a:p>
          <a:p>
            <a:pPr algn="ctr">
              <a:defRPr b="1" sz="1000">
                <a:solidFill>
                  <a:srgbClr val="FFFFFF"/>
                </a:solidFill>
              </a:defRPr>
            </a:pPr>
            <a:r>
              <a:t>Operationalise</a:t>
            </a:r>
          </a:p>
        </p:txBody>
      </p:sp>
      <p:sp>
        <p:nvSpPr>
          <p:cNvPr id="785" name="Shape 29"/>
          <p:cNvSpPr/>
          <p:nvPr/>
        </p:nvSpPr>
        <p:spPr>
          <a:xfrm>
            <a:off x="6867143" y="1298447"/>
            <a:ext cx="2084833" cy="20116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6" name="Text 30"/>
          <p:cNvSpPr txBox="1"/>
          <p:nvPr/>
        </p:nvSpPr>
        <p:spPr>
          <a:xfrm>
            <a:off x="6958583" y="1436537"/>
            <a:ext cx="19202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GitHub Actions: test → build → deploy CI/CD</a:t>
            </a:r>
          </a:p>
        </p:txBody>
      </p:sp>
      <p:sp>
        <p:nvSpPr>
          <p:cNvPr id="787" name="Text 31"/>
          <p:cNvSpPr txBox="1"/>
          <p:nvPr/>
        </p:nvSpPr>
        <p:spPr>
          <a:xfrm>
            <a:off x="6958583" y="1930313"/>
            <a:ext cx="19202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Blue-green deployment for zero downtime</a:t>
            </a:r>
          </a:p>
        </p:txBody>
      </p:sp>
      <p:sp>
        <p:nvSpPr>
          <p:cNvPr id="788" name="Text 32"/>
          <p:cNvSpPr txBox="1"/>
          <p:nvPr/>
        </p:nvSpPr>
        <p:spPr>
          <a:xfrm>
            <a:off x="6958583" y="2424089"/>
            <a:ext cx="19202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Power BI dashboard: usage, quality, cost</a:t>
            </a:r>
          </a:p>
        </p:txBody>
      </p:sp>
      <p:sp>
        <p:nvSpPr>
          <p:cNvPr id="789" name="Text 33"/>
          <p:cNvSpPr txBox="1"/>
          <p:nvPr/>
        </p:nvSpPr>
        <p:spPr>
          <a:xfrm>
            <a:off x="6958583" y="2917865"/>
            <a:ext cx="192024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</a:defRPr>
            </a:lvl1pPr>
          </a:lstStyle>
          <a:p>
            <a:pPr/>
            <a:r>
              <a:t>• Azure Monitor alerts on latency/quality drift</a:t>
            </a:r>
          </a:p>
        </p:txBody>
      </p:sp>
      <p:sp>
        <p:nvSpPr>
          <p:cNvPr id="790" name="Shape 34"/>
          <p:cNvSpPr/>
          <p:nvPr/>
        </p:nvSpPr>
        <p:spPr>
          <a:xfrm>
            <a:off x="228600" y="3401567"/>
            <a:ext cx="8686800" cy="320041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1" name="Text 35"/>
          <p:cNvSpPr txBox="1"/>
          <p:nvPr/>
        </p:nvSpPr>
        <p:spPr>
          <a:xfrm>
            <a:off x="228600" y="3493052"/>
            <a:ext cx="86868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Expected Outcomes</a:t>
            </a:r>
          </a:p>
        </p:txBody>
      </p:sp>
      <p:sp>
        <p:nvSpPr>
          <p:cNvPr id="792" name="Shape 36"/>
          <p:cNvSpPr/>
          <p:nvPr/>
        </p:nvSpPr>
        <p:spPr>
          <a:xfrm>
            <a:off x="228600" y="3749040"/>
            <a:ext cx="1371600" cy="566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3" name="Text 37"/>
          <p:cNvSpPr txBox="1"/>
          <p:nvPr/>
        </p:nvSpPr>
        <p:spPr>
          <a:xfrm>
            <a:off x="256031" y="3960421"/>
            <a:ext cx="1335026" cy="1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0AA66"/>
                </a:solidFill>
              </a:defRPr>
            </a:lvl1pPr>
          </a:lstStyle>
          <a:p>
            <a:pPr/>
            <a:r>
              <a:t>✓ 10x throughput</a:t>
            </a:r>
          </a:p>
        </p:txBody>
      </p:sp>
      <p:sp>
        <p:nvSpPr>
          <p:cNvPr id="794" name="Shape 38"/>
          <p:cNvSpPr/>
          <p:nvPr/>
        </p:nvSpPr>
        <p:spPr>
          <a:xfrm>
            <a:off x="1673351" y="3749040"/>
            <a:ext cx="1371601" cy="566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5" name="Text 39"/>
          <p:cNvSpPr txBox="1"/>
          <p:nvPr/>
        </p:nvSpPr>
        <p:spPr>
          <a:xfrm>
            <a:off x="1700783" y="3960421"/>
            <a:ext cx="1335026" cy="1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0AA66"/>
                </a:solidFill>
              </a:defRPr>
            </a:lvl1pPr>
          </a:lstStyle>
          <a:p>
            <a:pPr/>
            <a:r>
              <a:t>✓ 99.9% SLA</a:t>
            </a:r>
          </a:p>
        </p:txBody>
      </p:sp>
      <p:sp>
        <p:nvSpPr>
          <p:cNvPr id="796" name="Shape 40"/>
          <p:cNvSpPr/>
          <p:nvPr/>
        </p:nvSpPr>
        <p:spPr>
          <a:xfrm>
            <a:off x="3118104" y="3749040"/>
            <a:ext cx="1371601" cy="566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7" name="Text 41"/>
          <p:cNvSpPr txBox="1"/>
          <p:nvPr/>
        </p:nvSpPr>
        <p:spPr>
          <a:xfrm>
            <a:off x="3145535" y="3960421"/>
            <a:ext cx="1335025" cy="1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0AA66"/>
                </a:solidFill>
              </a:defRPr>
            </a:lvl1pPr>
          </a:lstStyle>
          <a:p>
            <a:pPr/>
            <a:r>
              <a:t>✓ Full audit trail</a:t>
            </a:r>
          </a:p>
        </p:txBody>
      </p:sp>
      <p:sp>
        <p:nvSpPr>
          <p:cNvPr id="798" name="Shape 42"/>
          <p:cNvSpPr/>
          <p:nvPr/>
        </p:nvSpPr>
        <p:spPr>
          <a:xfrm>
            <a:off x="4562855" y="3749040"/>
            <a:ext cx="1371601" cy="566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9" name="Text 43"/>
          <p:cNvSpPr txBox="1"/>
          <p:nvPr/>
        </p:nvSpPr>
        <p:spPr>
          <a:xfrm>
            <a:off x="4590288" y="3960421"/>
            <a:ext cx="1335025" cy="1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0AA66"/>
                </a:solidFill>
              </a:defRPr>
            </a:lvl1pPr>
          </a:lstStyle>
          <a:p>
            <a:pPr/>
            <a:r>
              <a:t>✓ Regulatory compliant</a:t>
            </a:r>
          </a:p>
        </p:txBody>
      </p:sp>
      <p:sp>
        <p:nvSpPr>
          <p:cNvPr id="800" name="Shape 44"/>
          <p:cNvSpPr/>
          <p:nvPr/>
        </p:nvSpPr>
        <p:spPr>
          <a:xfrm>
            <a:off x="6007608" y="3749040"/>
            <a:ext cx="1371601" cy="566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1" name="Text 45"/>
          <p:cNvSpPr txBox="1"/>
          <p:nvPr/>
        </p:nvSpPr>
        <p:spPr>
          <a:xfrm>
            <a:off x="6035040" y="3960421"/>
            <a:ext cx="1335025" cy="1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0AA66"/>
                </a:solidFill>
              </a:defRPr>
            </a:lvl1pPr>
          </a:lstStyle>
          <a:p>
            <a:pPr/>
            <a:r>
              <a:t>✓ CI/CD automated</a:t>
            </a:r>
          </a:p>
        </p:txBody>
      </p:sp>
      <p:sp>
        <p:nvSpPr>
          <p:cNvPr id="802" name="Shape 46"/>
          <p:cNvSpPr/>
          <p:nvPr/>
        </p:nvSpPr>
        <p:spPr>
          <a:xfrm>
            <a:off x="7452359" y="3749040"/>
            <a:ext cx="1371601" cy="566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3" name="Text 47"/>
          <p:cNvSpPr txBox="1"/>
          <p:nvPr/>
        </p:nvSpPr>
        <p:spPr>
          <a:xfrm>
            <a:off x="7479792" y="3890571"/>
            <a:ext cx="1335025" cy="283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0AA66"/>
                </a:solidFill>
              </a:defRPr>
            </a:lvl1pPr>
          </a:lstStyle>
          <a:p>
            <a:pPr/>
            <a:r>
              <a:t>✓ Sub-2s end-to-end latency</a:t>
            </a:r>
          </a:p>
        </p:txBody>
      </p:sp>
      <p:sp>
        <p:nvSpPr>
          <p:cNvPr id="804" name="Text 48"/>
          <p:cNvSpPr txBox="1"/>
          <p:nvPr/>
        </p:nvSpPr>
        <p:spPr>
          <a:xfrm>
            <a:off x="0" y="4999989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7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1F3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8" name="Text 2"/>
          <p:cNvSpPr txBox="1"/>
          <p:nvPr/>
        </p:nvSpPr>
        <p:spPr>
          <a:xfrm>
            <a:off x="320040" y="378767"/>
            <a:ext cx="3657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5A623"/>
                </a:solidFill>
              </a:defRPr>
            </a:lvl1pPr>
          </a:lstStyle>
          <a:p>
            <a:pPr/>
            <a:r>
              <a:t>NTT DATA</a:t>
            </a:r>
          </a:p>
        </p:txBody>
      </p:sp>
      <p:sp>
        <p:nvSpPr>
          <p:cNvPr id="809" name="Text 3"/>
          <p:cNvSpPr txBox="1"/>
          <p:nvPr/>
        </p:nvSpPr>
        <p:spPr>
          <a:xfrm>
            <a:off x="320040" y="825941"/>
            <a:ext cx="6400801" cy="542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200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810" name="Text 4"/>
          <p:cNvSpPr txBox="1"/>
          <p:nvPr/>
        </p:nvSpPr>
        <p:spPr>
          <a:xfrm>
            <a:off x="320040" y="1613207"/>
            <a:ext cx="64008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0099AA"/>
                </a:solidFill>
              </a:defRPr>
            </a:lvl1pPr>
          </a:lstStyle>
          <a:p>
            <a:pPr/>
            <a:r>
              <a:t>Building Enterprise-Grade Data &amp; AI — Not Just Theory, But Execution.</a:t>
            </a:r>
          </a:p>
        </p:txBody>
      </p:sp>
      <p:sp>
        <p:nvSpPr>
          <p:cNvPr id="811" name="Text 5"/>
          <p:cNvSpPr txBox="1"/>
          <p:nvPr/>
        </p:nvSpPr>
        <p:spPr>
          <a:xfrm>
            <a:off x="320040" y="2089448"/>
            <a:ext cx="2011679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5A623"/>
                </a:solidFill>
              </a:defRPr>
            </a:lvl1pPr>
          </a:lstStyle>
          <a:p>
            <a:pPr/>
            <a:r>
              <a:t>What We Demonstrated</a:t>
            </a:r>
          </a:p>
        </p:txBody>
      </p:sp>
      <p:sp>
        <p:nvSpPr>
          <p:cNvPr id="812" name="Text 6"/>
          <p:cNvSpPr txBox="1"/>
          <p:nvPr/>
        </p:nvSpPr>
        <p:spPr>
          <a:xfrm>
            <a:off x="320039" y="2451099"/>
            <a:ext cx="20848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• End-to-end GenAI AML system: design → code</a:t>
            </a:r>
          </a:p>
        </p:txBody>
      </p:sp>
      <p:sp>
        <p:nvSpPr>
          <p:cNvPr id="813" name="Text 7"/>
          <p:cNvSpPr txBox="1"/>
          <p:nvPr/>
        </p:nvSpPr>
        <p:spPr>
          <a:xfrm>
            <a:off x="320039" y="2853435"/>
            <a:ext cx="20848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• RAG + Multi-Agent + MCP orchestration</a:t>
            </a:r>
          </a:p>
        </p:txBody>
      </p:sp>
      <p:sp>
        <p:nvSpPr>
          <p:cNvPr id="814" name="Text 8"/>
          <p:cNvSpPr txBox="1"/>
          <p:nvPr/>
        </p:nvSpPr>
        <p:spPr>
          <a:xfrm>
            <a:off x="320039" y="3255772"/>
            <a:ext cx="20848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• Lakehouse pipeline: Bronze→Silver→Gold</a:t>
            </a:r>
          </a:p>
        </p:txBody>
      </p:sp>
      <p:sp>
        <p:nvSpPr>
          <p:cNvPr id="815" name="Text 9"/>
          <p:cNvSpPr txBox="1"/>
          <p:nvPr/>
        </p:nvSpPr>
        <p:spPr>
          <a:xfrm>
            <a:off x="320039" y="3658108"/>
            <a:ext cx="20848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• FastAPI REST layer with 8 live endpoints</a:t>
            </a:r>
          </a:p>
        </p:txBody>
      </p:sp>
      <p:sp>
        <p:nvSpPr>
          <p:cNvPr id="816" name="Text 10"/>
          <p:cNvSpPr txBox="1"/>
          <p:nvPr/>
        </p:nvSpPr>
        <p:spPr>
          <a:xfrm>
            <a:off x="320039" y="4060444"/>
            <a:ext cx="20848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• Security, LLMOps &amp; observability built-in</a:t>
            </a:r>
          </a:p>
        </p:txBody>
      </p:sp>
      <p:sp>
        <p:nvSpPr>
          <p:cNvPr id="817" name="Text 11"/>
          <p:cNvSpPr txBox="1"/>
          <p:nvPr/>
        </p:nvSpPr>
        <p:spPr>
          <a:xfrm>
            <a:off x="2496311" y="2089448"/>
            <a:ext cx="20116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5A623"/>
                </a:solidFill>
              </a:defRPr>
            </a:lvl1pPr>
          </a:lstStyle>
          <a:p>
            <a:pPr/>
            <a:r>
              <a:t>Enterprise Readiness</a:t>
            </a:r>
          </a:p>
        </p:txBody>
      </p:sp>
      <p:sp>
        <p:nvSpPr>
          <p:cNvPr id="818" name="Text 12"/>
          <p:cNvSpPr txBox="1"/>
          <p:nvPr/>
        </p:nvSpPr>
        <p:spPr>
          <a:xfrm>
            <a:off x="2496311" y="2451099"/>
            <a:ext cx="20848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• Clear upgrade path: prototype → production</a:t>
            </a:r>
          </a:p>
        </p:txBody>
      </p:sp>
      <p:sp>
        <p:nvSpPr>
          <p:cNvPr id="819" name="Text 13"/>
          <p:cNvSpPr txBox="1"/>
          <p:nvPr/>
        </p:nvSpPr>
        <p:spPr>
          <a:xfrm>
            <a:off x="2496311" y="2853435"/>
            <a:ext cx="20848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• Databricks + Azure cloud-native architecture</a:t>
            </a:r>
          </a:p>
        </p:txBody>
      </p:sp>
      <p:sp>
        <p:nvSpPr>
          <p:cNvPr id="820" name="Text 14"/>
          <p:cNvSpPr txBox="1"/>
          <p:nvPr/>
        </p:nvSpPr>
        <p:spPr>
          <a:xfrm>
            <a:off x="2496311" y="3255772"/>
            <a:ext cx="20848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• RBAC, audit trail, regulatory compliance</a:t>
            </a:r>
          </a:p>
        </p:txBody>
      </p:sp>
      <p:sp>
        <p:nvSpPr>
          <p:cNvPr id="821" name="Text 15"/>
          <p:cNvSpPr txBox="1"/>
          <p:nvPr/>
        </p:nvSpPr>
        <p:spPr>
          <a:xfrm>
            <a:off x="2496311" y="3658108"/>
            <a:ext cx="20848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• CI/CD, monitoring and cost tracking framework</a:t>
            </a:r>
          </a:p>
        </p:txBody>
      </p:sp>
      <p:sp>
        <p:nvSpPr>
          <p:cNvPr id="822" name="Text 16"/>
          <p:cNvSpPr txBox="1"/>
          <p:nvPr/>
        </p:nvSpPr>
        <p:spPr>
          <a:xfrm>
            <a:off x="4672584" y="2089448"/>
            <a:ext cx="20116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5A623"/>
                </a:solidFill>
              </a:defRPr>
            </a:lvl1pPr>
          </a:lstStyle>
          <a:p>
            <a:pPr/>
            <a:r>
              <a:t>Next Engagement</a:t>
            </a:r>
          </a:p>
        </p:txBody>
      </p:sp>
      <p:sp>
        <p:nvSpPr>
          <p:cNvPr id="823" name="Text 17"/>
          <p:cNvSpPr txBox="1"/>
          <p:nvPr/>
        </p:nvSpPr>
        <p:spPr>
          <a:xfrm>
            <a:off x="4672584" y="2451099"/>
            <a:ext cx="20848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• Confirm Databricks environment access</a:t>
            </a:r>
          </a:p>
        </p:txBody>
      </p:sp>
      <p:sp>
        <p:nvSpPr>
          <p:cNvPr id="824" name="Text 18"/>
          <p:cNvSpPr txBox="1"/>
          <p:nvPr/>
        </p:nvSpPr>
        <p:spPr>
          <a:xfrm>
            <a:off x="4672584" y="2853435"/>
            <a:ext cx="20848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• Align on 3–5 day execution timeline</a:t>
            </a:r>
          </a:p>
        </p:txBody>
      </p:sp>
      <p:sp>
        <p:nvSpPr>
          <p:cNvPr id="825" name="Text 19"/>
          <p:cNvSpPr txBox="1"/>
          <p:nvPr/>
        </p:nvSpPr>
        <p:spPr>
          <a:xfrm>
            <a:off x="4672584" y="3255772"/>
            <a:ext cx="20848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• Assign track owners (T1–T7)</a:t>
            </a:r>
          </a:p>
        </p:txBody>
      </p:sp>
      <p:sp>
        <p:nvSpPr>
          <p:cNvPr id="826" name="Text 20"/>
          <p:cNvSpPr txBox="1"/>
          <p:nvPr/>
        </p:nvSpPr>
        <p:spPr>
          <a:xfrm>
            <a:off x="4672584" y="3658108"/>
            <a:ext cx="20848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• Schedule final architecture review session</a:t>
            </a:r>
          </a:p>
        </p:txBody>
      </p:sp>
      <p:sp>
        <p:nvSpPr>
          <p:cNvPr id="827" name="Text 21"/>
          <p:cNvSpPr txBox="1"/>
          <p:nvPr/>
        </p:nvSpPr>
        <p:spPr>
          <a:xfrm>
            <a:off x="6949440" y="1750149"/>
            <a:ext cx="196596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Questions?</a:t>
            </a:r>
          </a:p>
        </p:txBody>
      </p:sp>
      <p:sp>
        <p:nvSpPr>
          <p:cNvPr id="828" name="Text 22"/>
          <p:cNvSpPr txBox="1"/>
          <p:nvPr/>
        </p:nvSpPr>
        <p:spPr>
          <a:xfrm>
            <a:off x="6949440" y="2173146"/>
            <a:ext cx="196596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100">
                <a:solidFill>
                  <a:srgbClr val="F5A623"/>
                </a:solidFill>
              </a:defRPr>
            </a:lvl1pPr>
          </a:lstStyle>
          <a:p>
            <a:pPr/>
            <a:r>
              <a:t>Open Discussion</a:t>
            </a:r>
          </a:p>
        </p:txBody>
      </p:sp>
      <p:sp>
        <p:nvSpPr>
          <p:cNvPr id="829" name="Text 23"/>
          <p:cNvSpPr txBox="1"/>
          <p:nvPr/>
        </p:nvSpPr>
        <p:spPr>
          <a:xfrm>
            <a:off x="320040" y="4823967"/>
            <a:ext cx="7132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9BB"/>
                </a:solidFill>
              </a:defRPr>
            </a:lvl1pPr>
          </a:lstStyle>
          <a:p>
            <a:pPr/>
            <a:r>
              <a:t>NTT DATA  |  Data &amp; AI Practice  ·  Technical Capability Workshop 2026  ·  Enterprise Delivery Track</a:t>
            </a:r>
          </a:p>
        </p:txBody>
      </p:sp>
      <p:sp>
        <p:nvSpPr>
          <p:cNvPr id="830" name="Text 24"/>
          <p:cNvSpPr txBox="1"/>
          <p:nvPr/>
        </p:nvSpPr>
        <p:spPr>
          <a:xfrm>
            <a:off x="320040" y="4974844"/>
            <a:ext cx="8503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</a:defRPr>
            </a:lvl1pPr>
          </a:lstStyle>
          <a:p>
            <a:pPr/>
            <a:r>
              <a:t>CONFIDENTIAL  |  NTT DATA SERVICES  |  NOT FOR DISTRIBUTION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